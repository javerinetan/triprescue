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Rescue. When one booking breaks, we fix the whole trip. Two of us, Javerine and Min Xie, Team Peanutss.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cascade. One cancellation, and three of five bookings are broken, two more at risk. Our engine computes this deterministically and the tests pin these exact five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model. You are not approving every transaction, and the agent is not unlimited. You authorise a strategy and its boundaries; inside them the agent 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steps. The important design choice is step four and five: the agent signs but does not submit. The supplier submits, waits for validation, and re-verifies on the ledger before releasing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Safeguards you cannot break on demand are just claims. We ship a fault injector. Break it live: money does not move, nothing is delivered, and the reserved budget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Rescue Pass costs ten to twenty dollars per trip. The stronger route is B2B2C through insurers, card issuers and travel platforms. Now we will show the full recovery in one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640080" y="1481328"/>
            <a:ext cx="182880" cy="182880"/>
          </a:xfrm>
          <a:prstGeom prst="ellipse">
            <a:avLst/>
          </a:prstGeom>
          <a:solidFill>
            <a:srgbClr val="D14B4B"/>
          </a:solidFill>
          <a:ln/>
        </p:spPr>
      </p:sp>
      <p:sp>
        <p:nvSpPr>
          <p:cNvPr id="3" name="Shape 1"/>
          <p:cNvSpPr/>
          <p:nvPr/>
        </p:nvSpPr>
        <p:spPr>
          <a:xfrm>
            <a:off x="822960" y="1572768"/>
            <a:ext cx="237744" cy="0"/>
          </a:xfrm>
          <a:prstGeom prst="line">
            <a:avLst/>
          </a:prstGeom>
          <a:noFill/>
          <a:ln w="19050">
            <a:solidFill>
              <a:srgbClr val="3A4A5F"/>
            </a:solidFill>
            <a:prstDash val="solid"/>
          </a:ln>
        </p:spPr>
      </p:sp>
      <p:sp>
        <p:nvSpPr>
          <p:cNvPr id="4" name="Shape 2"/>
          <p:cNvSpPr/>
          <p:nvPr/>
        </p:nvSpPr>
        <p:spPr>
          <a:xfrm>
            <a:off x="1060704" y="1481328"/>
            <a:ext cx="182880" cy="182880"/>
          </a:xfrm>
          <a:prstGeom prst="ellipse">
            <a:avLst/>
          </a:prstGeom>
          <a:solidFill>
            <a:srgbClr val="D14B4B"/>
          </a:solidFill>
          <a:ln/>
        </p:spPr>
      </p:sp>
      <p:sp>
        <p:nvSpPr>
          <p:cNvPr id="5" name="Shape 3"/>
          <p:cNvSpPr/>
          <p:nvPr/>
        </p:nvSpPr>
        <p:spPr>
          <a:xfrm>
            <a:off x="1243584" y="1572768"/>
            <a:ext cx="237744" cy="0"/>
          </a:xfrm>
          <a:prstGeom prst="line">
            <a:avLst/>
          </a:prstGeom>
          <a:noFill/>
          <a:ln w="19050">
            <a:solidFill>
              <a:srgbClr val="3A4A5F"/>
            </a:solidFill>
            <a:prstDash val="solid"/>
          </a:ln>
        </p:spPr>
      </p:sp>
      <p:sp>
        <p:nvSpPr>
          <p:cNvPr id="6" name="Shape 4"/>
          <p:cNvSpPr/>
          <p:nvPr/>
        </p:nvSpPr>
        <p:spPr>
          <a:xfrm>
            <a:off x="1481328" y="1481328"/>
            <a:ext cx="182880" cy="182880"/>
          </a:xfrm>
          <a:prstGeom prst="ellipse">
            <a:avLst/>
          </a:prstGeom>
          <a:solidFill>
            <a:srgbClr val="D99A2B"/>
          </a:solidFill>
          <a:ln/>
        </p:spPr>
      </p:sp>
      <p:sp>
        <p:nvSpPr>
          <p:cNvPr id="7" name="Shape 5"/>
          <p:cNvSpPr/>
          <p:nvPr/>
        </p:nvSpPr>
        <p:spPr>
          <a:xfrm>
            <a:off x="1664208" y="1572768"/>
            <a:ext cx="237744" cy="0"/>
          </a:xfrm>
          <a:prstGeom prst="line">
            <a:avLst/>
          </a:prstGeom>
          <a:noFill/>
          <a:ln w="19050">
            <a:solidFill>
              <a:srgbClr val="3A4A5F"/>
            </a:solidFill>
            <a:prstDash val="solid"/>
          </a:ln>
        </p:spPr>
      </p:sp>
      <p:sp>
        <p:nvSpPr>
          <p:cNvPr id="8" name="Shape 6"/>
          <p:cNvSpPr/>
          <p:nvPr/>
        </p:nvSpPr>
        <p:spPr>
          <a:xfrm>
            <a:off x="1901952" y="1481328"/>
            <a:ext cx="182880" cy="182880"/>
          </a:xfrm>
          <a:prstGeom prst="ellipse">
            <a:avLst/>
          </a:prstGeom>
          <a:solidFill>
            <a:srgbClr val="D99A2B"/>
          </a:solidFill>
          <a:ln/>
        </p:spPr>
      </p:sp>
      <p:sp>
        <p:nvSpPr>
          <p:cNvPr id="9" name="Shape 7"/>
          <p:cNvSpPr/>
          <p:nvPr/>
        </p:nvSpPr>
        <p:spPr>
          <a:xfrm>
            <a:off x="2084832" y="1572768"/>
            <a:ext cx="237744" cy="0"/>
          </a:xfrm>
          <a:prstGeom prst="line">
            <a:avLst/>
          </a:prstGeom>
          <a:noFill/>
          <a:ln w="19050">
            <a:solidFill>
              <a:srgbClr val="3A4A5F"/>
            </a:solidFill>
            <a:prstDash val="solid"/>
          </a:ln>
        </p:spPr>
      </p:sp>
      <p:sp>
        <p:nvSpPr>
          <p:cNvPr id="10" name="Shape 8"/>
          <p:cNvSpPr/>
          <p:nvPr/>
        </p:nvSpPr>
        <p:spPr>
          <a:xfrm>
            <a:off x="2322576" y="1481328"/>
            <a:ext cx="182880" cy="182880"/>
          </a:xfrm>
          <a:prstGeom prst="ellipse">
            <a:avLst/>
          </a:prstGeom>
          <a:solidFill>
            <a:srgbClr val="D14B4B"/>
          </a:solidFill>
          <a:ln/>
        </p:spPr>
      </p:sp>
      <p:sp>
        <p:nvSpPr>
          <p:cNvPr id="11" name="Text 9"/>
          <p:cNvSpPr txBox="1"/>
          <p:nvPr/>
        </p:nvSpPr>
        <p:spPr>
          <a:xfrm>
            <a:off x="640080" y="1965960"/>
            <a:ext cx="10881360" cy="1234440"/>
          </a:xfrm>
          <a:prstGeom prst="rect">
            <a:avLst/>
          </a:prstGeom>
          <a:noFill/>
          <a:ln/>
        </p:spPr>
        <p:txBody>
          <a:bodyPr wrap="square" lIns="0" tIns="0" rIns="0" bIns="0" rtlCol="0" anchor="ctr"/>
          <a:lstStyle/>
          <a:p>
            <a:pPr indent="0" marL="0">
              <a:buNone/>
            </a:pPr>
            <a:r>
              <a:rPr lang="en-US" sz="6800" b="1" dirty="0">
                <a:solidFill>
                  <a:srgbClr val="FFFFFF"/>
                </a:solidFill>
                <a:latin typeface="Cambria" pitchFamily="34" charset="0"/>
                <a:ea typeface="Cambria" pitchFamily="34" charset="-122"/>
                <a:cs typeface="Cambria" pitchFamily="34" charset="-120"/>
              </a:rPr>
              <a:t>Trip Rescue</a:t>
            </a:r>
            <a:endParaRPr lang="en-US" sz="6800" dirty="0"/>
          </a:p>
        </p:txBody>
      </p:sp>
      <p:sp>
        <p:nvSpPr>
          <p:cNvPr id="12" name="Text 10"/>
          <p:cNvSpPr txBox="1"/>
          <p:nvPr/>
        </p:nvSpPr>
        <p:spPr>
          <a:xfrm>
            <a:off x="640080" y="3200400"/>
            <a:ext cx="10881360" cy="548640"/>
          </a:xfrm>
          <a:prstGeom prst="rect">
            <a:avLst/>
          </a:prstGeom>
          <a:noFill/>
          <a:ln/>
        </p:spPr>
        <p:txBody>
          <a:bodyPr wrap="square" lIns="0" tIns="0" rIns="0" bIns="0" rtlCol="0" anchor="ctr"/>
          <a:lstStyle/>
          <a:p>
            <a:pPr indent="0" marL="0">
              <a:buNone/>
            </a:pPr>
            <a:r>
              <a:rPr lang="en-US" sz="2500" dirty="0">
                <a:solidFill>
                  <a:srgbClr val="C6D4E6"/>
                </a:solidFill>
                <a:latin typeface="Calibri" pitchFamily="34" charset="0"/>
                <a:ea typeface="Calibri" pitchFamily="34" charset="-122"/>
                <a:cs typeface="Calibri" pitchFamily="34" charset="-120"/>
              </a:rPr>
              <a:t>When one booking breaks, fix the whole trip.</a:t>
            </a:r>
            <a:endParaRPr lang="en-US" sz="2500" dirty="0"/>
          </a:p>
        </p:txBody>
      </p:sp>
      <p:sp>
        <p:nvSpPr>
          <p:cNvPr id="13" name="Text 11"/>
          <p:cNvSpPr txBox="1"/>
          <p:nvPr/>
        </p:nvSpPr>
        <p:spPr>
          <a:xfrm>
            <a:off x="640080" y="3794760"/>
            <a:ext cx="9144000" cy="411480"/>
          </a:xfrm>
          <a:prstGeom prst="rect">
            <a:avLst/>
          </a:prstGeom>
          <a:noFill/>
          <a:ln/>
        </p:spPr>
        <p:txBody>
          <a:bodyPr wrap="square" lIns="0" tIns="0" rIns="0" bIns="0" rtlCol="0" anchor="ctr"/>
          <a:lstStyle/>
          <a:p>
            <a:pPr indent="0" marL="0">
              <a:buNone/>
            </a:pPr>
            <a:r>
              <a:rPr lang="en-US" sz="1500" i="1" dirty="0">
                <a:solidFill>
                  <a:srgbClr val="5D6B7C"/>
                </a:solidFill>
                <a:latin typeface="Calibri" pitchFamily="34" charset="0"/>
                <a:ea typeface="Calibri" pitchFamily="34" charset="-122"/>
                <a:cs typeface="Calibri" pitchFamily="34" charset="-120"/>
              </a:rPr>
              <a:t>Travel providers understand their booking. Trip Rescue understands your trip.</a:t>
            </a:r>
            <a:endParaRPr lang="en-US" sz="1500" dirty="0"/>
          </a:p>
        </p:txBody>
      </p:sp>
      <p:sp>
        <p:nvSpPr>
          <p:cNvPr id="14" name="Shape 12"/>
          <p:cNvSpPr/>
          <p:nvPr/>
        </p:nvSpPr>
        <p:spPr>
          <a:xfrm>
            <a:off x="640080" y="4937760"/>
            <a:ext cx="2926080" cy="0"/>
          </a:xfrm>
          <a:prstGeom prst="line">
            <a:avLst/>
          </a:prstGeom>
          <a:noFill/>
          <a:ln w="12700">
            <a:solidFill>
              <a:srgbClr val="31415A"/>
            </a:solidFill>
            <a:prstDash val="solid"/>
          </a:ln>
        </p:spPr>
      </p:sp>
      <p:sp>
        <p:nvSpPr>
          <p:cNvPr id="15" name="Text 13"/>
          <p:cNvSpPr txBox="1"/>
          <p:nvPr/>
        </p:nvSpPr>
        <p:spPr>
          <a:xfrm>
            <a:off x="640080" y="5120640"/>
            <a:ext cx="73152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Peanutss   ·   Javerine Tan   ·   Min Xie</a:t>
            </a:r>
            <a:endParaRPr lang="en-US" sz="1500" dirty="0"/>
          </a:p>
        </p:txBody>
      </p:sp>
      <p:sp>
        <p:nvSpPr>
          <p:cNvPr id="16" name="Text 14"/>
          <p:cNvSpPr txBox="1"/>
          <p:nvPr/>
        </p:nvSpPr>
        <p:spPr>
          <a:xfrm>
            <a:off x="640080" y="5468112"/>
            <a:ext cx="9144000" cy="3200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SingHacks 2026   ·   Ripple Challenge   ·   AI-native business on the XRP Ledger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WHAT ACTUALLY HAPPENS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One cancellation. And it knows where to stop.</a:t>
            </a:r>
            <a:endParaRPr lang="en-US" sz="3400" dirty="0"/>
          </a:p>
        </p:txBody>
      </p:sp>
      <p:sp>
        <p:nvSpPr>
          <p:cNvPr id="4" name="Shape 2"/>
          <p:cNvSpPr/>
          <p:nvPr/>
        </p:nvSpPr>
        <p:spPr>
          <a:xfrm>
            <a:off x="740664" y="1883664"/>
            <a:ext cx="0" cy="3291840"/>
          </a:xfrm>
          <a:prstGeom prst="line">
            <a:avLst/>
          </a:prstGeom>
          <a:noFill/>
          <a:ln w="12700">
            <a:solidFill>
              <a:srgbClr val="DCE3EA"/>
            </a:solidFill>
            <a:prstDash val="solid"/>
          </a:ln>
        </p:spPr>
      </p:sp>
      <p:sp>
        <p:nvSpPr>
          <p:cNvPr id="5" name="Shape 3"/>
          <p:cNvSpPr/>
          <p:nvPr/>
        </p:nvSpPr>
        <p:spPr>
          <a:xfrm>
            <a:off x="658368" y="1856232"/>
            <a:ext cx="164592" cy="164592"/>
          </a:xfrm>
          <a:prstGeom prst="ellipse">
            <a:avLst/>
          </a:prstGeom>
          <a:solidFill>
            <a:srgbClr val="D14B4B"/>
          </a:solidFill>
          <a:ln/>
        </p:spPr>
      </p:sp>
      <p:sp>
        <p:nvSpPr>
          <p:cNvPr id="6" name="Text 4"/>
          <p:cNvSpPr txBox="1"/>
          <p:nvPr/>
        </p:nvSpPr>
        <p:spPr>
          <a:xfrm>
            <a:off x="1024128" y="173736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Singapore → Narita flight</a:t>
            </a:r>
            <a:endParaRPr lang="en-US" sz="1400" dirty="0"/>
          </a:p>
        </p:txBody>
      </p:sp>
      <p:sp>
        <p:nvSpPr>
          <p:cNvPr id="7" name="Text 5"/>
          <p:cNvSpPr txBox="1"/>
          <p:nvPr/>
        </p:nvSpPr>
        <p:spPr>
          <a:xfrm>
            <a:off x="4937760" y="176479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8" name="Text 6"/>
          <p:cNvSpPr txBox="1"/>
          <p:nvPr/>
        </p:nvSpPr>
        <p:spPr>
          <a:xfrm>
            <a:off x="5989320" y="173736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Service cancelled</a:t>
            </a:r>
            <a:endParaRPr lang="en-US" sz="1250" dirty="0"/>
          </a:p>
        </p:txBody>
      </p:sp>
      <p:sp>
        <p:nvSpPr>
          <p:cNvPr id="9" name="Shape 7"/>
          <p:cNvSpPr/>
          <p:nvPr/>
        </p:nvSpPr>
        <p:spPr>
          <a:xfrm>
            <a:off x="658368" y="2404872"/>
            <a:ext cx="164592" cy="164592"/>
          </a:xfrm>
          <a:prstGeom prst="ellipse">
            <a:avLst/>
          </a:prstGeom>
          <a:solidFill>
            <a:srgbClr val="D14B4B"/>
          </a:solidFill>
          <a:ln/>
        </p:spPr>
      </p:sp>
      <p:sp>
        <p:nvSpPr>
          <p:cNvPr id="10" name="Text 8"/>
          <p:cNvSpPr txBox="1"/>
          <p:nvPr/>
        </p:nvSpPr>
        <p:spPr>
          <a:xfrm>
            <a:off x="1024128" y="228600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Narita → Hakone bus</a:t>
            </a:r>
            <a:endParaRPr lang="en-US" sz="1400" dirty="0"/>
          </a:p>
        </p:txBody>
      </p:sp>
      <p:sp>
        <p:nvSpPr>
          <p:cNvPr id="11" name="Text 9"/>
          <p:cNvSpPr txBox="1"/>
          <p:nvPr/>
        </p:nvSpPr>
        <p:spPr>
          <a:xfrm>
            <a:off x="4937760" y="231343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12" name="Text 10"/>
          <p:cNvSpPr txBox="1"/>
          <p:nvPr/>
        </p:nvSpPr>
        <p:spPr>
          <a:xfrm>
            <a:off x="5989320" y="228600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Departs before the replacement lands</a:t>
            </a:r>
            <a:endParaRPr lang="en-US" sz="1250" dirty="0"/>
          </a:p>
        </p:txBody>
      </p:sp>
      <p:sp>
        <p:nvSpPr>
          <p:cNvPr id="13" name="Shape 11"/>
          <p:cNvSpPr/>
          <p:nvPr/>
        </p:nvSpPr>
        <p:spPr>
          <a:xfrm>
            <a:off x="658368" y="2953512"/>
            <a:ext cx="164592" cy="164592"/>
          </a:xfrm>
          <a:prstGeom prst="ellipse">
            <a:avLst/>
          </a:prstGeom>
          <a:solidFill>
            <a:srgbClr val="D99A2B"/>
          </a:solidFill>
          <a:ln/>
        </p:spPr>
      </p:sp>
      <p:sp>
        <p:nvSpPr>
          <p:cNvPr id="14" name="Text 12"/>
          <p:cNvSpPr txBox="1"/>
          <p:nvPr/>
        </p:nvSpPr>
        <p:spPr>
          <a:xfrm>
            <a:off x="1024128" y="283464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Hakone hotel</a:t>
            </a:r>
            <a:endParaRPr lang="en-US" sz="1400" dirty="0"/>
          </a:p>
        </p:txBody>
      </p:sp>
      <p:sp>
        <p:nvSpPr>
          <p:cNvPr id="15" name="Text 13"/>
          <p:cNvSpPr txBox="1"/>
          <p:nvPr/>
        </p:nvSpPr>
        <p:spPr>
          <a:xfrm>
            <a:off x="4937760" y="2862072"/>
            <a:ext cx="914400" cy="237744"/>
          </a:xfrm>
          <a:prstGeom prst="rect">
            <a:avLst/>
          </a:prstGeom>
          <a:noFill/>
          <a:ln/>
        </p:spPr>
        <p:txBody>
          <a:bodyPr wrap="square" lIns="0" tIns="0" rIns="0" bIns="0" rtlCol="0" anchor="ctr"/>
          <a:lstStyle/>
          <a:p>
            <a:pPr indent="0" marL="0">
              <a:buNone/>
            </a:pPr>
            <a:r>
              <a:rPr lang="en-US" sz="1000" b="1" spc="100" kern="0" dirty="0">
                <a:solidFill>
                  <a:srgbClr val="D99A2B"/>
                </a:solidFill>
                <a:latin typeface="Calibri" pitchFamily="34" charset="0"/>
                <a:ea typeface="Calibri" pitchFamily="34" charset="-122"/>
                <a:cs typeface="Calibri" pitchFamily="34" charset="-120"/>
              </a:rPr>
              <a:t>AT RISK</a:t>
            </a:r>
            <a:endParaRPr lang="en-US" sz="1000" dirty="0"/>
          </a:p>
        </p:txBody>
      </p:sp>
      <p:sp>
        <p:nvSpPr>
          <p:cNvPr id="16" name="Text 14"/>
          <p:cNvSpPr txBox="1"/>
          <p:nvPr/>
        </p:nvSpPr>
        <p:spPr>
          <a:xfrm>
            <a:off x="5989320" y="283464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No-show risk on a non-refundable night</a:t>
            </a:r>
            <a:endParaRPr lang="en-US" sz="1250" dirty="0"/>
          </a:p>
        </p:txBody>
      </p:sp>
      <p:sp>
        <p:nvSpPr>
          <p:cNvPr id="17" name="Shape 15"/>
          <p:cNvSpPr/>
          <p:nvPr/>
        </p:nvSpPr>
        <p:spPr>
          <a:xfrm>
            <a:off x="658368" y="3502152"/>
            <a:ext cx="164592" cy="164592"/>
          </a:xfrm>
          <a:prstGeom prst="ellipse">
            <a:avLst/>
          </a:prstGeom>
          <a:solidFill>
            <a:srgbClr val="D99A2B"/>
          </a:solidFill>
          <a:ln/>
        </p:spPr>
      </p:sp>
      <p:sp>
        <p:nvSpPr>
          <p:cNvPr id="18" name="Text 16"/>
          <p:cNvSpPr txBox="1"/>
          <p:nvPr/>
        </p:nvSpPr>
        <p:spPr>
          <a:xfrm>
            <a:off x="1024128" y="338328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Rental car pickup</a:t>
            </a:r>
            <a:endParaRPr lang="en-US" sz="1400" dirty="0"/>
          </a:p>
        </p:txBody>
      </p:sp>
      <p:sp>
        <p:nvSpPr>
          <p:cNvPr id="19" name="Text 17"/>
          <p:cNvSpPr txBox="1"/>
          <p:nvPr/>
        </p:nvSpPr>
        <p:spPr>
          <a:xfrm>
            <a:off x="4937760" y="3410712"/>
            <a:ext cx="914400" cy="237744"/>
          </a:xfrm>
          <a:prstGeom prst="rect">
            <a:avLst/>
          </a:prstGeom>
          <a:noFill/>
          <a:ln/>
        </p:spPr>
        <p:txBody>
          <a:bodyPr wrap="square" lIns="0" tIns="0" rIns="0" bIns="0" rtlCol="0" anchor="ctr"/>
          <a:lstStyle/>
          <a:p>
            <a:pPr indent="0" marL="0">
              <a:buNone/>
            </a:pPr>
            <a:r>
              <a:rPr lang="en-US" sz="1000" b="1" spc="100" kern="0" dirty="0">
                <a:solidFill>
                  <a:srgbClr val="D99A2B"/>
                </a:solidFill>
                <a:latin typeface="Calibri" pitchFamily="34" charset="0"/>
                <a:ea typeface="Calibri" pitchFamily="34" charset="-122"/>
                <a:cs typeface="Calibri" pitchFamily="34" charset="-120"/>
              </a:rPr>
              <a:t>AT RISK</a:t>
            </a:r>
            <a:endParaRPr lang="en-US" sz="1000" dirty="0"/>
          </a:p>
        </p:txBody>
      </p:sp>
      <p:sp>
        <p:nvSpPr>
          <p:cNvPr id="20" name="Text 18"/>
          <p:cNvSpPr txBox="1"/>
          <p:nvPr/>
        </p:nvSpPr>
        <p:spPr>
          <a:xfrm>
            <a:off x="5989320" y="338328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Pickup window passes before arrival</a:t>
            </a:r>
            <a:endParaRPr lang="en-US" sz="1250" dirty="0"/>
          </a:p>
        </p:txBody>
      </p:sp>
      <p:sp>
        <p:nvSpPr>
          <p:cNvPr id="21" name="Shape 19"/>
          <p:cNvSpPr/>
          <p:nvPr/>
        </p:nvSpPr>
        <p:spPr>
          <a:xfrm>
            <a:off x="658368" y="4050792"/>
            <a:ext cx="164592" cy="164592"/>
          </a:xfrm>
          <a:prstGeom prst="ellipse">
            <a:avLst/>
          </a:prstGeom>
          <a:solidFill>
            <a:srgbClr val="D14B4B"/>
          </a:solidFill>
          <a:ln/>
        </p:spPr>
      </p:sp>
      <p:sp>
        <p:nvSpPr>
          <p:cNvPr id="22" name="Text 20"/>
          <p:cNvSpPr txBox="1"/>
          <p:nvPr/>
        </p:nvSpPr>
        <p:spPr>
          <a:xfrm>
            <a:off x="1024128" y="393192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Mount Fuji activity</a:t>
            </a:r>
            <a:endParaRPr lang="en-US" sz="1400" dirty="0"/>
          </a:p>
        </p:txBody>
      </p:sp>
      <p:sp>
        <p:nvSpPr>
          <p:cNvPr id="23" name="Text 21"/>
          <p:cNvSpPr txBox="1"/>
          <p:nvPr/>
        </p:nvSpPr>
        <p:spPr>
          <a:xfrm>
            <a:off x="4937760" y="3959352"/>
            <a:ext cx="914400" cy="237744"/>
          </a:xfrm>
          <a:prstGeom prst="rect">
            <a:avLst/>
          </a:prstGeom>
          <a:noFill/>
          <a:ln/>
        </p:spPr>
        <p:txBody>
          <a:bodyPr wrap="square" lIns="0" tIns="0" rIns="0" bIns="0" rtlCol="0" anchor="ctr"/>
          <a:lstStyle/>
          <a:p>
            <a:pPr indent="0" marL="0">
              <a:buNone/>
            </a:pPr>
            <a:r>
              <a:rPr lang="en-US" sz="1000" b="1" spc="100" kern="0" dirty="0">
                <a:solidFill>
                  <a:srgbClr val="D14B4B"/>
                </a:solidFill>
                <a:latin typeface="Calibri" pitchFamily="34" charset="0"/>
                <a:ea typeface="Calibri" pitchFamily="34" charset="-122"/>
                <a:cs typeface="Calibri" pitchFamily="34" charset="-120"/>
              </a:rPr>
              <a:t>BROKEN</a:t>
            </a:r>
            <a:endParaRPr lang="en-US" sz="1000" dirty="0"/>
          </a:p>
        </p:txBody>
      </p:sp>
      <p:sp>
        <p:nvSpPr>
          <p:cNvPr id="24" name="Text 22"/>
          <p:cNvSpPr txBox="1"/>
          <p:nvPr/>
        </p:nvSpPr>
        <p:spPr>
          <a:xfrm>
            <a:off x="5989320" y="393192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Prerequisites can no longer be met</a:t>
            </a:r>
            <a:endParaRPr lang="en-US" sz="1250" dirty="0"/>
          </a:p>
        </p:txBody>
      </p:sp>
      <p:sp>
        <p:nvSpPr>
          <p:cNvPr id="25" name="Shape 23"/>
          <p:cNvSpPr/>
          <p:nvPr/>
        </p:nvSpPr>
        <p:spPr>
          <a:xfrm>
            <a:off x="658368" y="4599432"/>
            <a:ext cx="164592" cy="164592"/>
          </a:xfrm>
          <a:prstGeom prst="ellipse">
            <a:avLst/>
          </a:prstGeom>
          <a:solidFill>
            <a:srgbClr val="1E9E63"/>
          </a:solidFill>
          <a:ln/>
        </p:spPr>
      </p:sp>
      <p:sp>
        <p:nvSpPr>
          <p:cNvPr id="26" name="Text 24"/>
          <p:cNvSpPr txBox="1"/>
          <p:nvPr/>
        </p:nvSpPr>
        <p:spPr>
          <a:xfrm>
            <a:off x="1024128" y="448056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Hakone to Narita transfer</a:t>
            </a:r>
            <a:endParaRPr lang="en-US" sz="1400" dirty="0"/>
          </a:p>
        </p:txBody>
      </p:sp>
      <p:sp>
        <p:nvSpPr>
          <p:cNvPr id="27" name="Text 25"/>
          <p:cNvSpPr txBox="1"/>
          <p:nvPr/>
        </p:nvSpPr>
        <p:spPr>
          <a:xfrm>
            <a:off x="4937760" y="4507992"/>
            <a:ext cx="914400" cy="237744"/>
          </a:xfrm>
          <a:prstGeom prst="rect">
            <a:avLst/>
          </a:prstGeom>
          <a:noFill/>
          <a:ln/>
        </p:spPr>
        <p:txBody>
          <a:bodyPr wrap="square" lIns="0" tIns="0" rIns="0" bIns="0" rtlCol="0" anchor="ctr"/>
          <a:lstStyle/>
          <a:p>
            <a:pPr indent="0" marL="0">
              <a:buNone/>
            </a:pPr>
            <a:r>
              <a:rPr lang="en-US" sz="1000" b="1" spc="100" kern="0" dirty="0">
                <a:solidFill>
                  <a:srgbClr val="1E9E63"/>
                </a:solidFill>
                <a:latin typeface="Calibri" pitchFamily="34" charset="0"/>
                <a:ea typeface="Calibri" pitchFamily="34" charset="-122"/>
                <a:cs typeface="Calibri" pitchFamily="34" charset="-120"/>
              </a:rPr>
              <a:t>SAFE</a:t>
            </a:r>
            <a:endParaRPr lang="en-US" sz="1000" dirty="0"/>
          </a:p>
        </p:txBody>
      </p:sp>
      <p:sp>
        <p:nvSpPr>
          <p:cNvPr id="28" name="Text 26"/>
          <p:cNvSpPr txBox="1"/>
          <p:nvPr/>
        </p:nvSpPr>
        <p:spPr>
          <a:xfrm>
            <a:off x="5989320" y="448056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Four days later, still feasible</a:t>
            </a:r>
            <a:endParaRPr lang="en-US" sz="1250" dirty="0"/>
          </a:p>
        </p:txBody>
      </p:sp>
      <p:sp>
        <p:nvSpPr>
          <p:cNvPr id="29" name="Shape 27"/>
          <p:cNvSpPr/>
          <p:nvPr/>
        </p:nvSpPr>
        <p:spPr>
          <a:xfrm>
            <a:off x="658368" y="5148072"/>
            <a:ext cx="164592" cy="164592"/>
          </a:xfrm>
          <a:prstGeom prst="ellipse">
            <a:avLst/>
          </a:prstGeom>
          <a:solidFill>
            <a:srgbClr val="1E9E63"/>
          </a:solidFill>
          <a:ln/>
        </p:spPr>
      </p:sp>
      <p:sp>
        <p:nvSpPr>
          <p:cNvPr id="30" name="Text 28"/>
          <p:cNvSpPr txBox="1"/>
          <p:nvPr/>
        </p:nvSpPr>
        <p:spPr>
          <a:xfrm>
            <a:off x="1024128" y="5029200"/>
            <a:ext cx="3840480" cy="274320"/>
          </a:xfrm>
          <a:prstGeom prst="rect">
            <a:avLst/>
          </a:prstGeom>
          <a:noFill/>
          <a:ln/>
        </p:spPr>
        <p:txBody>
          <a:bodyPr wrap="square" lIns="0" tIns="0" rIns="0" bIns="0" rtlCol="0" anchor="ctr"/>
          <a:lstStyle/>
          <a:p>
            <a:pPr indent="0" marL="0">
              <a:buNone/>
            </a:pPr>
            <a:r>
              <a:rPr lang="en-US" sz="1400" b="1" dirty="0">
                <a:solidFill>
                  <a:srgbClr val="141A1F"/>
                </a:solidFill>
                <a:latin typeface="Calibri" pitchFamily="34" charset="0"/>
                <a:ea typeface="Calibri" pitchFamily="34" charset="-122"/>
                <a:cs typeface="Calibri" pitchFamily="34" charset="-120"/>
              </a:rPr>
              <a:t>Narita to Singapore flight</a:t>
            </a:r>
            <a:endParaRPr lang="en-US" sz="1400" dirty="0"/>
          </a:p>
        </p:txBody>
      </p:sp>
      <p:sp>
        <p:nvSpPr>
          <p:cNvPr id="31" name="Text 29"/>
          <p:cNvSpPr txBox="1"/>
          <p:nvPr/>
        </p:nvSpPr>
        <p:spPr>
          <a:xfrm>
            <a:off x="4937760" y="5056632"/>
            <a:ext cx="914400" cy="237744"/>
          </a:xfrm>
          <a:prstGeom prst="rect">
            <a:avLst/>
          </a:prstGeom>
          <a:noFill/>
          <a:ln/>
        </p:spPr>
        <p:txBody>
          <a:bodyPr wrap="square" lIns="0" tIns="0" rIns="0" bIns="0" rtlCol="0" anchor="ctr"/>
          <a:lstStyle/>
          <a:p>
            <a:pPr indent="0" marL="0">
              <a:buNone/>
            </a:pPr>
            <a:r>
              <a:rPr lang="en-US" sz="1000" b="1" spc="100" kern="0" dirty="0">
                <a:solidFill>
                  <a:srgbClr val="1E9E63"/>
                </a:solidFill>
                <a:latin typeface="Calibri" pitchFamily="34" charset="0"/>
                <a:ea typeface="Calibri" pitchFamily="34" charset="-122"/>
                <a:cs typeface="Calibri" pitchFamily="34" charset="-120"/>
              </a:rPr>
              <a:t>SAFE</a:t>
            </a:r>
            <a:endParaRPr lang="en-US" sz="1000" dirty="0"/>
          </a:p>
        </p:txBody>
      </p:sp>
      <p:sp>
        <p:nvSpPr>
          <p:cNvPr id="32" name="Text 30"/>
          <p:cNvSpPr txBox="1"/>
          <p:nvPr/>
        </p:nvSpPr>
        <p:spPr>
          <a:xfrm>
            <a:off x="5989320" y="5029200"/>
            <a:ext cx="4114800" cy="292608"/>
          </a:xfrm>
          <a:prstGeom prst="rect">
            <a:avLst/>
          </a:prstGeom>
          <a:noFill/>
          <a:ln/>
        </p:spPr>
        <p:txBody>
          <a:bodyPr wrap="square" lIns="0" tIns="0" rIns="0" bIns="0" rtlCol="0" anchor="ctr"/>
          <a:lstStyle/>
          <a:p>
            <a:pPr indent="0" marL="0">
              <a:buNone/>
            </a:pPr>
            <a:r>
              <a:rPr lang="en-US" sz="1250" dirty="0">
                <a:solidFill>
                  <a:srgbClr val="5D6B7C"/>
                </a:solidFill>
                <a:latin typeface="Calibri" pitchFamily="34" charset="0"/>
                <a:ea typeface="Calibri" pitchFamily="34" charset="-122"/>
                <a:cs typeface="Calibri" pitchFamily="34" charset="-120"/>
              </a:rPr>
              <a:t>The journey home is untouched</a:t>
            </a:r>
            <a:endParaRPr lang="en-US" sz="1250" dirty="0"/>
          </a:p>
        </p:txBody>
      </p:sp>
      <p:sp>
        <p:nvSpPr>
          <p:cNvPr id="33" name="Shape 31"/>
          <p:cNvSpPr/>
          <p:nvPr/>
        </p:nvSpPr>
        <p:spPr>
          <a:xfrm>
            <a:off x="9829800" y="1691640"/>
            <a:ext cx="1719072" cy="4160520"/>
          </a:xfrm>
          <a:prstGeom prst="roundRect">
            <a:avLst>
              <a:gd name="adj" fmla="val 3191"/>
            </a:avLst>
          </a:prstGeom>
          <a:solidFill>
            <a:srgbClr val="0E1A2B"/>
          </a:solidFill>
          <a:ln w="12700">
            <a:solidFill>
              <a:srgbClr val="DCE3EA"/>
            </a:solidFill>
            <a:prstDash val="solid"/>
          </a:ln>
        </p:spPr>
      </p:sp>
      <p:sp>
        <p:nvSpPr>
          <p:cNvPr id="34" name="Text 32"/>
          <p:cNvSpPr txBox="1"/>
          <p:nvPr/>
        </p:nvSpPr>
        <p:spPr>
          <a:xfrm>
            <a:off x="9966960" y="1965960"/>
            <a:ext cx="1463040" cy="685800"/>
          </a:xfrm>
          <a:prstGeom prst="rect">
            <a:avLst/>
          </a:prstGeom>
          <a:noFill/>
          <a:ln/>
        </p:spPr>
        <p:txBody>
          <a:bodyPr wrap="square" lIns="0" tIns="0" rIns="0" bIns="0" rtlCol="0" anchor="ctr"/>
          <a:lstStyle/>
          <a:p>
            <a:pPr algn="ctr" indent="0" marL="0">
              <a:buNone/>
            </a:pPr>
            <a:r>
              <a:rPr lang="en-US" sz="5200" b="1" dirty="0">
                <a:solidFill>
                  <a:srgbClr val="D14B4B"/>
                </a:solidFill>
                <a:latin typeface="Cambria" pitchFamily="34" charset="0"/>
                <a:ea typeface="Cambria" pitchFamily="34" charset="-122"/>
                <a:cs typeface="Cambria" pitchFamily="34" charset="-120"/>
              </a:rPr>
              <a:t>3</a:t>
            </a:r>
            <a:endParaRPr lang="en-US" sz="5200" dirty="0"/>
          </a:p>
        </p:txBody>
      </p:sp>
      <p:sp>
        <p:nvSpPr>
          <p:cNvPr id="35" name="Text 33"/>
          <p:cNvSpPr txBox="1"/>
          <p:nvPr/>
        </p:nvSpPr>
        <p:spPr>
          <a:xfrm>
            <a:off x="9966960" y="2633472"/>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broken</a:t>
            </a:r>
            <a:endParaRPr lang="en-US" sz="1300" dirty="0"/>
          </a:p>
        </p:txBody>
      </p:sp>
      <p:sp>
        <p:nvSpPr>
          <p:cNvPr id="36" name="Text 34"/>
          <p:cNvSpPr txBox="1"/>
          <p:nvPr/>
        </p:nvSpPr>
        <p:spPr>
          <a:xfrm>
            <a:off x="9966960" y="3291840"/>
            <a:ext cx="1463040" cy="685800"/>
          </a:xfrm>
          <a:prstGeom prst="rect">
            <a:avLst/>
          </a:prstGeom>
          <a:noFill/>
          <a:ln/>
        </p:spPr>
        <p:txBody>
          <a:bodyPr wrap="square" lIns="0" tIns="0" rIns="0" bIns="0" rtlCol="0" anchor="ctr"/>
          <a:lstStyle/>
          <a:p>
            <a:pPr algn="ctr" indent="0" marL="0">
              <a:buNone/>
            </a:pPr>
            <a:r>
              <a:rPr lang="en-US" sz="5200" b="1" dirty="0">
                <a:solidFill>
                  <a:srgbClr val="D99A2B"/>
                </a:solidFill>
                <a:latin typeface="Cambria" pitchFamily="34" charset="0"/>
                <a:ea typeface="Cambria" pitchFamily="34" charset="-122"/>
                <a:cs typeface="Cambria" pitchFamily="34" charset="-120"/>
              </a:rPr>
              <a:t>2</a:t>
            </a:r>
            <a:endParaRPr lang="en-US" sz="5200" dirty="0"/>
          </a:p>
        </p:txBody>
      </p:sp>
      <p:sp>
        <p:nvSpPr>
          <p:cNvPr id="37" name="Text 35"/>
          <p:cNvSpPr txBox="1"/>
          <p:nvPr/>
        </p:nvSpPr>
        <p:spPr>
          <a:xfrm>
            <a:off x="9966960" y="3959352"/>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at risk</a:t>
            </a:r>
            <a:endParaRPr lang="en-US" sz="1300" dirty="0"/>
          </a:p>
        </p:txBody>
      </p:sp>
      <p:sp>
        <p:nvSpPr>
          <p:cNvPr id="38" name="Text 36"/>
          <p:cNvSpPr txBox="1"/>
          <p:nvPr/>
        </p:nvSpPr>
        <p:spPr>
          <a:xfrm>
            <a:off x="9966960" y="4590288"/>
            <a:ext cx="1463040" cy="685800"/>
          </a:xfrm>
          <a:prstGeom prst="rect">
            <a:avLst/>
          </a:prstGeom>
          <a:noFill/>
          <a:ln/>
        </p:spPr>
        <p:txBody>
          <a:bodyPr wrap="square" lIns="0" tIns="0" rIns="0" bIns="0" rtlCol="0" anchor="ctr"/>
          <a:lstStyle/>
          <a:p>
            <a:pPr algn="ctr" indent="0" marL="0">
              <a:buNone/>
            </a:pPr>
            <a:r>
              <a:rPr lang="en-US" sz="5200" b="1" dirty="0">
                <a:solidFill>
                  <a:srgbClr val="1E9E63"/>
                </a:solidFill>
                <a:latin typeface="Cambria" pitchFamily="34" charset="0"/>
                <a:ea typeface="Cambria" pitchFamily="34" charset="-122"/>
                <a:cs typeface="Cambria" pitchFamily="34" charset="-120"/>
              </a:rPr>
              <a:t>2</a:t>
            </a:r>
            <a:endParaRPr lang="en-US" sz="5200" dirty="0"/>
          </a:p>
        </p:txBody>
      </p:sp>
      <p:sp>
        <p:nvSpPr>
          <p:cNvPr id="39" name="Text 37"/>
          <p:cNvSpPr txBox="1"/>
          <p:nvPr/>
        </p:nvSpPr>
        <p:spPr>
          <a:xfrm>
            <a:off x="9966960" y="5257800"/>
            <a:ext cx="1463040" cy="274320"/>
          </a:xfrm>
          <a:prstGeom prst="rect">
            <a:avLst/>
          </a:prstGeom>
          <a:noFill/>
          <a:ln/>
        </p:spPr>
        <p:txBody>
          <a:bodyPr wrap="square" lIns="0" tIns="0" rIns="0" bIns="0" rtlCol="0" anchor="ctr"/>
          <a:lstStyle/>
          <a:p>
            <a:pPr algn="ctr" indent="0" marL="0">
              <a:buNone/>
            </a:pPr>
            <a:r>
              <a:rPr lang="en-US" sz="1300" dirty="0">
                <a:solidFill>
                  <a:srgbClr val="C6D4E6"/>
                </a:solidFill>
                <a:latin typeface="Calibri" pitchFamily="34" charset="0"/>
                <a:ea typeface="Calibri" pitchFamily="34" charset="-122"/>
                <a:cs typeface="Calibri" pitchFamily="34" charset="-120"/>
              </a:rPr>
              <a:t>untouched</a:t>
            </a:r>
            <a:endParaRPr lang="en-US" sz="1300" dirty="0"/>
          </a:p>
        </p:txBody>
      </p:sp>
      <p:sp>
        <p:nvSpPr>
          <p:cNvPr id="40" name="Text 38"/>
          <p:cNvSpPr txBox="1"/>
          <p:nvPr/>
        </p:nvSpPr>
        <p:spPr>
          <a:xfrm>
            <a:off x="640080" y="6035040"/>
            <a:ext cx="9601200" cy="457200"/>
          </a:xfrm>
          <a:prstGeom prst="rect">
            <a:avLst/>
          </a:prstGeom>
          <a:noFill/>
          <a:ln/>
        </p:spPr>
        <p:txBody>
          <a:bodyPr wrap="square" lIns="0" tIns="0" rIns="0" bIns="0" rtlCol="0" anchor="ctr"/>
          <a:lstStyle/>
          <a:p>
            <a:pPr indent="0" marL="0">
              <a:buNone/>
            </a:pPr>
            <a:r>
              <a:rPr lang="en-US" sz="1600" i="1" dirty="0">
                <a:solidFill>
                  <a:srgbClr val="141A1F"/>
                </a:solidFill>
                <a:latin typeface="Calibri" pitchFamily="34" charset="0"/>
                <a:ea typeface="Calibri" pitchFamily="34" charset="-122"/>
                <a:cs typeface="Calibri" pitchFamily="34" charset="-120"/>
              </a:rPr>
              <a:t>Knowing what is still fine matters as much as knowing what broke. The return home is never touched.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THE PRODUCT</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You make one decision. The agent does the rest — inside limits you set.</a:t>
            </a:r>
            <a:endParaRPr lang="en-US" sz="3400" dirty="0"/>
          </a:p>
        </p:txBody>
      </p:sp>
      <p:sp>
        <p:nvSpPr>
          <p:cNvPr id="4" name="Shape 2"/>
          <p:cNvSpPr/>
          <p:nvPr/>
        </p:nvSpPr>
        <p:spPr>
          <a:xfrm>
            <a:off x="640080" y="1783080"/>
            <a:ext cx="420624" cy="420624"/>
          </a:xfrm>
          <a:prstGeom prst="ellipse">
            <a:avLst/>
          </a:prstGeom>
          <a:solidFill>
            <a:srgbClr val="0067E5"/>
          </a:solidFill>
          <a:ln/>
        </p:spPr>
      </p:sp>
      <p:sp>
        <p:nvSpPr>
          <p:cNvPr id="5" name="Text 3"/>
          <p:cNvSpPr txBox="1"/>
          <p:nvPr/>
        </p:nvSpPr>
        <p:spPr>
          <a:xfrm>
            <a:off x="640080" y="1828800"/>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261872" y="1764792"/>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We model the trip</a:t>
            </a:r>
            <a:endParaRPr lang="en-US" sz="1600" dirty="0"/>
          </a:p>
        </p:txBody>
      </p:sp>
      <p:sp>
        <p:nvSpPr>
          <p:cNvPr id="7" name="Text 5"/>
          <p:cNvSpPr txBox="1"/>
          <p:nvPr/>
        </p:nvSpPr>
        <p:spPr>
          <a:xfrm>
            <a:off x="1261872" y="2075688"/>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Bookings plus the dependencies between them, not a flat list.</a:t>
            </a:r>
            <a:endParaRPr lang="en-US" sz="1300" dirty="0"/>
          </a:p>
        </p:txBody>
      </p:sp>
      <p:sp>
        <p:nvSpPr>
          <p:cNvPr id="8" name="Shape 6"/>
          <p:cNvSpPr/>
          <p:nvPr/>
        </p:nvSpPr>
        <p:spPr>
          <a:xfrm>
            <a:off x="640080" y="2715768"/>
            <a:ext cx="420624" cy="420624"/>
          </a:xfrm>
          <a:prstGeom prst="ellipse">
            <a:avLst/>
          </a:prstGeom>
          <a:solidFill>
            <a:srgbClr val="0067E5"/>
          </a:solidFill>
          <a:ln/>
        </p:spPr>
      </p:sp>
      <p:sp>
        <p:nvSpPr>
          <p:cNvPr id="9" name="Text 7"/>
          <p:cNvSpPr txBox="1"/>
          <p:nvPr/>
        </p:nvSpPr>
        <p:spPr>
          <a:xfrm>
            <a:off x="640080" y="2761488"/>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261872" y="2697480"/>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We compute the cascade</a:t>
            </a:r>
            <a:endParaRPr lang="en-US" sz="1600" dirty="0"/>
          </a:p>
        </p:txBody>
      </p:sp>
      <p:sp>
        <p:nvSpPr>
          <p:cNvPr id="11" name="Text 9"/>
          <p:cNvSpPr txBox="1"/>
          <p:nvPr/>
        </p:nvSpPr>
        <p:spPr>
          <a:xfrm>
            <a:off x="1261872" y="3008376"/>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What is broken, what is merely at risk, and why.</a:t>
            </a:r>
            <a:endParaRPr lang="en-US" sz="1300" dirty="0"/>
          </a:p>
        </p:txBody>
      </p:sp>
      <p:sp>
        <p:nvSpPr>
          <p:cNvPr id="12" name="Shape 10"/>
          <p:cNvSpPr/>
          <p:nvPr/>
        </p:nvSpPr>
        <p:spPr>
          <a:xfrm>
            <a:off x="640080" y="3648456"/>
            <a:ext cx="420624" cy="420624"/>
          </a:xfrm>
          <a:prstGeom prst="ellipse">
            <a:avLst/>
          </a:prstGeom>
          <a:solidFill>
            <a:srgbClr val="0067E5"/>
          </a:solidFill>
          <a:ln/>
        </p:spPr>
      </p:sp>
      <p:sp>
        <p:nvSpPr>
          <p:cNvPr id="13" name="Text 11"/>
          <p:cNvSpPr txBox="1"/>
          <p:nvPr/>
        </p:nvSpPr>
        <p:spPr>
          <a:xfrm>
            <a:off x="640080" y="3694176"/>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261872" y="3630168"/>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You pick a strategy</a:t>
            </a:r>
            <a:endParaRPr lang="en-US" sz="1600" dirty="0"/>
          </a:p>
        </p:txBody>
      </p:sp>
      <p:sp>
        <p:nvSpPr>
          <p:cNvPr id="15" name="Text 13"/>
          <p:cNvSpPr txBox="1"/>
          <p:nvPr/>
        </p:nvSpPr>
        <p:spPr>
          <a:xfrm>
            <a:off x="1261872" y="3941064"/>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Three complete whole-trip recoveries, with their trade-offs shown.</a:t>
            </a:r>
            <a:endParaRPr lang="en-US" sz="1300" dirty="0"/>
          </a:p>
        </p:txBody>
      </p:sp>
      <p:sp>
        <p:nvSpPr>
          <p:cNvPr id="16" name="Shape 14"/>
          <p:cNvSpPr/>
          <p:nvPr/>
        </p:nvSpPr>
        <p:spPr>
          <a:xfrm>
            <a:off x="640080" y="4581144"/>
            <a:ext cx="420624" cy="420624"/>
          </a:xfrm>
          <a:prstGeom prst="ellipse">
            <a:avLst/>
          </a:prstGeom>
          <a:solidFill>
            <a:srgbClr val="0067E5"/>
          </a:solidFill>
          <a:ln/>
        </p:spPr>
      </p:sp>
      <p:sp>
        <p:nvSpPr>
          <p:cNvPr id="17" name="Text 15"/>
          <p:cNvSpPr txBox="1"/>
          <p:nvPr/>
        </p:nvSpPr>
        <p:spPr>
          <a:xfrm>
            <a:off x="640080" y="4626864"/>
            <a:ext cx="420624" cy="31089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61872" y="4562856"/>
            <a:ext cx="585216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The agent executes</a:t>
            </a:r>
            <a:endParaRPr lang="en-US" sz="1600" dirty="0"/>
          </a:p>
        </p:txBody>
      </p:sp>
      <p:sp>
        <p:nvSpPr>
          <p:cNvPr id="19" name="Text 17"/>
          <p:cNvSpPr txBox="1"/>
          <p:nvPr/>
        </p:nvSpPr>
        <p:spPr>
          <a:xfrm>
            <a:off x="1261872" y="4873752"/>
            <a:ext cx="5852160" cy="41148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Discovers suppliers, decides, pays, and verifies — within your mandate.</a:t>
            </a:r>
            <a:endParaRPr lang="en-US" sz="1300" dirty="0"/>
          </a:p>
        </p:txBody>
      </p:sp>
      <p:sp>
        <p:nvSpPr>
          <p:cNvPr id="20" name="Shape 18"/>
          <p:cNvSpPr/>
          <p:nvPr/>
        </p:nvSpPr>
        <p:spPr>
          <a:xfrm>
            <a:off x="7452360" y="1737360"/>
            <a:ext cx="4114800" cy="3977640"/>
          </a:xfrm>
          <a:prstGeom prst="roundRect">
            <a:avLst>
              <a:gd name="adj" fmla="val 1379"/>
            </a:avLst>
          </a:prstGeom>
          <a:solidFill>
            <a:srgbClr val="0E1A2B"/>
          </a:solidFill>
          <a:ln w="12700">
            <a:solidFill>
              <a:srgbClr val="DCE3EA"/>
            </a:solidFill>
            <a:prstDash val="solid"/>
          </a:ln>
        </p:spPr>
      </p:sp>
      <p:sp>
        <p:nvSpPr>
          <p:cNvPr id="21" name="Text 19"/>
          <p:cNvSpPr txBox="1"/>
          <p:nvPr/>
        </p:nvSpPr>
        <p:spPr>
          <a:xfrm>
            <a:off x="7726680" y="1938528"/>
            <a:ext cx="3566160" cy="256032"/>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RESCUE MANDATE</a:t>
            </a:r>
            <a:endParaRPr lang="en-US" sz="1100" dirty="0"/>
          </a:p>
        </p:txBody>
      </p:sp>
      <p:sp>
        <p:nvSpPr>
          <p:cNvPr id="22" name="Text 20"/>
          <p:cNvSpPr txBox="1"/>
          <p:nvPr/>
        </p:nvSpPr>
        <p:spPr>
          <a:xfrm>
            <a:off x="7726680" y="2212848"/>
            <a:ext cx="356616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What you authorise</a:t>
            </a:r>
            <a:endParaRPr lang="en-US" sz="1700" dirty="0"/>
          </a:p>
        </p:txBody>
      </p:sp>
      <p:sp>
        <p:nvSpPr>
          <p:cNvPr id="23" name="Text 21"/>
          <p:cNvSpPr txBox="1"/>
          <p:nvPr/>
        </p:nvSpPr>
        <p:spPr>
          <a:xfrm>
            <a:off x="7726680" y="2697480"/>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Budget</a:t>
            </a:r>
            <a:endParaRPr lang="en-US" sz="1200" dirty="0"/>
          </a:p>
        </p:txBody>
      </p:sp>
      <p:sp>
        <p:nvSpPr>
          <p:cNvPr id="24" name="Text 22"/>
          <p:cNvSpPr txBox="1"/>
          <p:nvPr/>
        </p:nvSpPr>
        <p:spPr>
          <a:xfrm>
            <a:off x="9052560" y="2697480"/>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up to S$300 extra</a:t>
            </a:r>
            <a:endParaRPr lang="en-US" sz="1200" dirty="0"/>
          </a:p>
        </p:txBody>
      </p:sp>
      <p:sp>
        <p:nvSpPr>
          <p:cNvPr id="25" name="Text 23"/>
          <p:cNvSpPr txBox="1"/>
          <p:nvPr/>
        </p:nvSpPr>
        <p:spPr>
          <a:xfrm>
            <a:off x="7726680" y="3118104"/>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Deadline</a:t>
            </a:r>
            <a:endParaRPr lang="en-US" sz="1200" dirty="0"/>
          </a:p>
        </p:txBody>
      </p:sp>
      <p:sp>
        <p:nvSpPr>
          <p:cNvPr id="26" name="Text 24"/>
          <p:cNvSpPr txBox="1"/>
          <p:nvPr/>
        </p:nvSpPr>
        <p:spPr>
          <a:xfrm>
            <a:off x="9052560" y="3118104"/>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arrive before 12:00</a:t>
            </a:r>
            <a:endParaRPr lang="en-US" sz="1200" dirty="0"/>
          </a:p>
        </p:txBody>
      </p:sp>
      <p:sp>
        <p:nvSpPr>
          <p:cNvPr id="27" name="Text 25"/>
          <p:cNvSpPr txBox="1"/>
          <p:nvPr/>
        </p:nvSpPr>
        <p:spPr>
          <a:xfrm>
            <a:off x="7726680" y="3538728"/>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Preserve</a:t>
            </a:r>
            <a:endParaRPr lang="en-US" sz="1200" dirty="0"/>
          </a:p>
        </p:txBody>
      </p:sp>
      <p:sp>
        <p:nvSpPr>
          <p:cNvPr id="28" name="Text 26"/>
          <p:cNvSpPr txBox="1"/>
          <p:nvPr/>
        </p:nvSpPr>
        <p:spPr>
          <a:xfrm>
            <a:off x="9052560" y="3538728"/>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Fuji activity</a:t>
            </a:r>
            <a:endParaRPr lang="en-US" sz="1200" dirty="0"/>
          </a:p>
        </p:txBody>
      </p:sp>
      <p:sp>
        <p:nvSpPr>
          <p:cNvPr id="29" name="Text 27"/>
          <p:cNvSpPr txBox="1"/>
          <p:nvPr/>
        </p:nvSpPr>
        <p:spPr>
          <a:xfrm>
            <a:off x="7726680" y="3959352"/>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Suppliers</a:t>
            </a:r>
            <a:endParaRPr lang="en-US" sz="1200" dirty="0"/>
          </a:p>
        </p:txBody>
      </p:sp>
      <p:sp>
        <p:nvSpPr>
          <p:cNvPr id="30" name="Text 28"/>
          <p:cNvSpPr txBox="1"/>
          <p:nvPr/>
        </p:nvSpPr>
        <p:spPr>
          <a:xfrm>
            <a:off x="9052560" y="3959352"/>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allow-listed only</a:t>
            </a:r>
            <a:endParaRPr lang="en-US" sz="1200" dirty="0"/>
          </a:p>
        </p:txBody>
      </p:sp>
      <p:sp>
        <p:nvSpPr>
          <p:cNvPr id="31" name="Text 29"/>
          <p:cNvSpPr txBox="1"/>
          <p:nvPr/>
        </p:nvSpPr>
        <p:spPr>
          <a:xfrm>
            <a:off x="7726680" y="4379976"/>
            <a:ext cx="1325880" cy="274320"/>
          </a:xfrm>
          <a:prstGeom prst="rect">
            <a:avLst/>
          </a:prstGeom>
          <a:noFill/>
          <a:ln/>
        </p:spPr>
        <p:txBody>
          <a:bodyPr wrap="square" lIns="0" tIns="0" rIns="0" bIns="0" rtlCol="0" anchor="ctr"/>
          <a:lstStyle/>
          <a:p>
            <a:pPr indent="0" marL="0">
              <a:buNone/>
            </a:pPr>
            <a:r>
              <a:rPr lang="en-US" sz="1200" dirty="0">
                <a:solidFill>
                  <a:srgbClr val="5D6B7C"/>
                </a:solidFill>
                <a:latin typeface="Calibri" pitchFamily="34" charset="0"/>
                <a:ea typeface="Calibri" pitchFamily="34" charset="-122"/>
                <a:cs typeface="Calibri" pitchFamily="34" charset="-120"/>
              </a:rPr>
              <a:t>Network</a:t>
            </a:r>
            <a:endParaRPr lang="en-US" sz="1200" dirty="0"/>
          </a:p>
        </p:txBody>
      </p:sp>
      <p:sp>
        <p:nvSpPr>
          <p:cNvPr id="32" name="Text 30"/>
          <p:cNvSpPr txBox="1"/>
          <p:nvPr/>
        </p:nvSpPr>
        <p:spPr>
          <a:xfrm>
            <a:off x="9052560" y="4379976"/>
            <a:ext cx="22402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XRPL Testnet</a:t>
            </a:r>
            <a:endParaRPr lang="en-US" sz="1200" dirty="0"/>
          </a:p>
        </p:txBody>
      </p:sp>
      <p:sp>
        <p:nvSpPr>
          <p:cNvPr id="33" name="Text 31"/>
          <p:cNvSpPr txBox="1"/>
          <p:nvPr/>
        </p:nvSpPr>
        <p:spPr>
          <a:xfrm>
            <a:off x="7726680" y="4937760"/>
            <a:ext cx="3566160" cy="640080"/>
          </a:xfrm>
          <a:prstGeom prst="rect">
            <a:avLst/>
          </a:prstGeom>
          <a:noFill/>
          <a:ln/>
        </p:spPr>
        <p:txBody>
          <a:bodyPr wrap="square" lIns="0" tIns="0" rIns="0" bIns="0" rtlCol="0" anchor="ctr"/>
          <a:lstStyle/>
          <a:p>
            <a:pPr indent="0" marL="0">
              <a:buNone/>
            </a:pPr>
            <a:r>
              <a:rPr lang="en-US" sz="1200" i="1" dirty="0">
                <a:solidFill>
                  <a:srgbClr val="C6D4E6"/>
                </a:solidFill>
                <a:latin typeface="Calibri" pitchFamily="34" charset="0"/>
                <a:ea typeface="Calibri" pitchFamily="34" charset="-122"/>
                <a:cs typeface="Calibri" pitchFamily="34" charset="-120"/>
              </a:rPr>
              <a:t>Exceed any of these and the agent stops and comes back to you.</a:t>
            </a:r>
            <a:endParaRPr lang="en-US" sz="1200" dirty="0"/>
          </a:p>
        </p:txBody>
      </p:sp>
      <p:sp>
        <p:nvSpPr>
          <p:cNvPr id="34" name="Text 32"/>
          <p:cNvSpPr txBox="1"/>
          <p:nvPr/>
        </p:nvSpPr>
        <p:spPr>
          <a:xfrm>
            <a:off x="640080" y="5577840"/>
            <a:ext cx="6583680" cy="365760"/>
          </a:xfrm>
          <a:prstGeom prst="rect">
            <a:avLst/>
          </a:prstGeom>
          <a:noFill/>
          <a:ln/>
        </p:spPr>
        <p:txBody>
          <a:bodyPr wrap="square" lIns="0" tIns="0" rIns="0" bIns="0" rtlCol="0" anchor="ctr"/>
          <a:lstStyle/>
          <a:p>
            <a:pPr indent="0" marL="0">
              <a:buNone/>
            </a:pPr>
            <a:r>
              <a:rPr lang="en-US" sz="1900" b="1" dirty="0">
                <a:solidFill>
                  <a:srgbClr val="141A1F"/>
                </a:solidFill>
                <a:latin typeface="Cambria" pitchFamily="34" charset="0"/>
                <a:ea typeface="Cambria" pitchFamily="34" charset="-122"/>
                <a:cs typeface="Cambria" pitchFamily="34" charset="-120"/>
              </a:rPr>
              <a:t>Strategic human control. Tactical agent autonomy.</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Need, discovery, decision, payment, delivery — in one uninterrupted loop.</a:t>
            </a:r>
            <a:endParaRPr lang="en-US" sz="3400" dirty="0"/>
          </a:p>
        </p:txBody>
      </p:sp>
      <p:sp>
        <p:nvSpPr>
          <p:cNvPr id="4" name="Shape 2"/>
          <p:cNvSpPr/>
          <p:nvPr/>
        </p:nvSpPr>
        <p:spPr>
          <a:xfrm>
            <a:off x="640080" y="1874520"/>
            <a:ext cx="2578608" cy="1572768"/>
          </a:xfrm>
          <a:prstGeom prst="roundRect">
            <a:avLst>
              <a:gd name="adj" fmla="val 3488"/>
            </a:avLst>
          </a:prstGeom>
          <a:solidFill>
            <a:srgbClr val="F2F5F8"/>
          </a:solidFill>
          <a:ln w="12700">
            <a:solidFill>
              <a:srgbClr val="DCE3EA"/>
            </a:solidFill>
            <a:prstDash val="solid"/>
          </a:ln>
        </p:spPr>
      </p:sp>
      <p:sp>
        <p:nvSpPr>
          <p:cNvPr id="5" name="Text 3"/>
          <p:cNvSpPr txBox="1"/>
          <p:nvPr/>
        </p:nvSpPr>
        <p:spPr>
          <a:xfrm>
            <a:off x="859536"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859536"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Discover</a:t>
            </a:r>
            <a:endParaRPr lang="en-US" sz="1600" dirty="0"/>
          </a:p>
        </p:txBody>
      </p:sp>
      <p:sp>
        <p:nvSpPr>
          <p:cNvPr id="7" name="Text 5"/>
          <p:cNvSpPr txBox="1"/>
          <p:nvPr/>
        </p:nvSpPr>
        <p:spPr>
          <a:xfrm>
            <a:off x="859536"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Agent reads the supplier registry at runtime</a:t>
            </a:r>
            <a:endParaRPr lang="en-US" sz="1150" dirty="0"/>
          </a:p>
        </p:txBody>
      </p:sp>
      <p:sp>
        <p:nvSpPr>
          <p:cNvPr id="8" name="Shape 6"/>
          <p:cNvSpPr/>
          <p:nvPr/>
        </p:nvSpPr>
        <p:spPr>
          <a:xfrm>
            <a:off x="3438144" y="1874520"/>
            <a:ext cx="2578608" cy="1572768"/>
          </a:xfrm>
          <a:prstGeom prst="roundRect">
            <a:avLst>
              <a:gd name="adj" fmla="val 3488"/>
            </a:avLst>
          </a:prstGeom>
          <a:solidFill>
            <a:srgbClr val="F2F5F8"/>
          </a:solidFill>
          <a:ln w="12700">
            <a:solidFill>
              <a:srgbClr val="DCE3EA"/>
            </a:solidFill>
            <a:prstDash val="solid"/>
          </a:ln>
        </p:spPr>
      </p:sp>
      <p:sp>
        <p:nvSpPr>
          <p:cNvPr id="9" name="Text 7"/>
          <p:cNvSpPr txBox="1"/>
          <p:nvPr/>
        </p:nvSpPr>
        <p:spPr>
          <a:xfrm>
            <a:off x="3657600"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3657600"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Challenge</a:t>
            </a:r>
            <a:endParaRPr lang="en-US" sz="1600" dirty="0"/>
          </a:p>
        </p:txBody>
      </p:sp>
      <p:sp>
        <p:nvSpPr>
          <p:cNvPr id="11" name="Text 9"/>
          <p:cNvSpPr txBox="1"/>
          <p:nvPr/>
        </p:nvSpPr>
        <p:spPr>
          <a:xfrm>
            <a:off x="3657600"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answers 402 with PAYMENT-REQUIRED</a:t>
            </a:r>
            <a:endParaRPr lang="en-US" sz="1150" dirty="0"/>
          </a:p>
        </p:txBody>
      </p:sp>
      <p:sp>
        <p:nvSpPr>
          <p:cNvPr id="12" name="Shape 10"/>
          <p:cNvSpPr/>
          <p:nvPr/>
        </p:nvSpPr>
        <p:spPr>
          <a:xfrm>
            <a:off x="6236208" y="1874520"/>
            <a:ext cx="2578608" cy="1572768"/>
          </a:xfrm>
          <a:prstGeom prst="roundRect">
            <a:avLst>
              <a:gd name="adj" fmla="val 3488"/>
            </a:avLst>
          </a:prstGeom>
          <a:solidFill>
            <a:srgbClr val="F2F5F8"/>
          </a:solidFill>
          <a:ln w="12700">
            <a:solidFill>
              <a:srgbClr val="DCE3EA"/>
            </a:solidFill>
            <a:prstDash val="solid"/>
          </a:ln>
        </p:spPr>
      </p:sp>
      <p:sp>
        <p:nvSpPr>
          <p:cNvPr id="13" name="Text 11"/>
          <p:cNvSpPr txBox="1"/>
          <p:nvPr/>
        </p:nvSpPr>
        <p:spPr>
          <a:xfrm>
            <a:off x="6455664"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6455664"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Decide</a:t>
            </a:r>
            <a:endParaRPr lang="en-US" sz="1600" dirty="0"/>
          </a:p>
        </p:txBody>
      </p:sp>
      <p:sp>
        <p:nvSpPr>
          <p:cNvPr id="15" name="Text 13"/>
          <p:cNvSpPr txBox="1"/>
          <p:nvPr/>
        </p:nvSpPr>
        <p:spPr>
          <a:xfrm>
            <a:off x="6455664"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Mandate re-checked: budget, allow-list, deadline</a:t>
            </a:r>
            <a:endParaRPr lang="en-US" sz="1150" dirty="0"/>
          </a:p>
        </p:txBody>
      </p:sp>
      <p:sp>
        <p:nvSpPr>
          <p:cNvPr id="16" name="Shape 14"/>
          <p:cNvSpPr/>
          <p:nvPr/>
        </p:nvSpPr>
        <p:spPr>
          <a:xfrm>
            <a:off x="9034272" y="1874520"/>
            <a:ext cx="2578608" cy="1572768"/>
          </a:xfrm>
          <a:prstGeom prst="roundRect">
            <a:avLst>
              <a:gd name="adj" fmla="val 3488"/>
            </a:avLst>
          </a:prstGeom>
          <a:solidFill>
            <a:srgbClr val="F2F5F8"/>
          </a:solidFill>
          <a:ln w="12700">
            <a:solidFill>
              <a:srgbClr val="DCE3EA"/>
            </a:solidFill>
            <a:prstDash val="solid"/>
          </a:ln>
        </p:spPr>
      </p:sp>
      <p:sp>
        <p:nvSpPr>
          <p:cNvPr id="17" name="Text 15"/>
          <p:cNvSpPr txBox="1"/>
          <p:nvPr/>
        </p:nvSpPr>
        <p:spPr>
          <a:xfrm>
            <a:off x="9253728" y="203911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04</a:t>
            </a:r>
            <a:endParaRPr lang="en-US" sz="1200" dirty="0"/>
          </a:p>
        </p:txBody>
      </p:sp>
      <p:sp>
        <p:nvSpPr>
          <p:cNvPr id="18" name="Text 16"/>
          <p:cNvSpPr txBox="1"/>
          <p:nvPr/>
        </p:nvSpPr>
        <p:spPr>
          <a:xfrm>
            <a:off x="9253728" y="233172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Sign</a:t>
            </a:r>
            <a:endParaRPr lang="en-US" sz="1600" dirty="0"/>
          </a:p>
        </p:txBody>
      </p:sp>
      <p:sp>
        <p:nvSpPr>
          <p:cNvPr id="19" name="Text 17"/>
          <p:cNvSpPr txBox="1"/>
          <p:nvPr/>
        </p:nvSpPr>
        <p:spPr>
          <a:xfrm>
            <a:off x="9253728" y="266090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Agent signs the payment intent — but does not submit</a:t>
            </a:r>
            <a:endParaRPr lang="en-US" sz="1150" dirty="0"/>
          </a:p>
        </p:txBody>
      </p:sp>
      <p:sp>
        <p:nvSpPr>
          <p:cNvPr id="20" name="Shape 18"/>
          <p:cNvSpPr/>
          <p:nvPr/>
        </p:nvSpPr>
        <p:spPr>
          <a:xfrm>
            <a:off x="640080" y="3749040"/>
            <a:ext cx="2578608" cy="1572768"/>
          </a:xfrm>
          <a:prstGeom prst="roundRect">
            <a:avLst>
              <a:gd name="adj" fmla="val 3488"/>
            </a:avLst>
          </a:prstGeom>
          <a:solidFill>
            <a:srgbClr val="F2F5F8"/>
          </a:solidFill>
          <a:ln w="12700">
            <a:solidFill>
              <a:srgbClr val="DCE3EA"/>
            </a:solidFill>
            <a:prstDash val="solid"/>
          </a:ln>
        </p:spPr>
      </p:sp>
      <p:sp>
        <p:nvSpPr>
          <p:cNvPr id="21" name="Text 19"/>
          <p:cNvSpPr txBox="1"/>
          <p:nvPr/>
        </p:nvSpPr>
        <p:spPr>
          <a:xfrm>
            <a:off x="859536"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05</a:t>
            </a:r>
            <a:endParaRPr lang="en-US" sz="1200" dirty="0"/>
          </a:p>
        </p:txBody>
      </p:sp>
      <p:sp>
        <p:nvSpPr>
          <p:cNvPr id="22" name="Text 20"/>
          <p:cNvSpPr txBox="1"/>
          <p:nvPr/>
        </p:nvSpPr>
        <p:spPr>
          <a:xfrm>
            <a:off x="859536"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Settle</a:t>
            </a:r>
            <a:endParaRPr lang="en-US" sz="1600" dirty="0"/>
          </a:p>
        </p:txBody>
      </p:sp>
      <p:sp>
        <p:nvSpPr>
          <p:cNvPr id="23" name="Text 21"/>
          <p:cNvSpPr txBox="1"/>
          <p:nvPr/>
        </p:nvSpPr>
        <p:spPr>
          <a:xfrm>
            <a:off x="859536"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submits and waits for XRPL validation</a:t>
            </a:r>
            <a:endParaRPr lang="en-US" sz="1150" dirty="0"/>
          </a:p>
        </p:txBody>
      </p:sp>
      <p:sp>
        <p:nvSpPr>
          <p:cNvPr id="24" name="Shape 22"/>
          <p:cNvSpPr/>
          <p:nvPr/>
        </p:nvSpPr>
        <p:spPr>
          <a:xfrm>
            <a:off x="3438144" y="3749040"/>
            <a:ext cx="2578608" cy="1572768"/>
          </a:xfrm>
          <a:prstGeom prst="roundRect">
            <a:avLst>
              <a:gd name="adj" fmla="val 3488"/>
            </a:avLst>
          </a:prstGeom>
          <a:solidFill>
            <a:srgbClr val="F2F5F8"/>
          </a:solidFill>
          <a:ln w="12700">
            <a:solidFill>
              <a:srgbClr val="DCE3EA"/>
            </a:solidFill>
            <a:prstDash val="solid"/>
          </a:ln>
        </p:spPr>
      </p:sp>
      <p:sp>
        <p:nvSpPr>
          <p:cNvPr id="25" name="Text 23"/>
          <p:cNvSpPr txBox="1"/>
          <p:nvPr/>
        </p:nvSpPr>
        <p:spPr>
          <a:xfrm>
            <a:off x="3657600"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06</a:t>
            </a:r>
            <a:endParaRPr lang="en-US" sz="1200" dirty="0"/>
          </a:p>
        </p:txBody>
      </p:sp>
      <p:sp>
        <p:nvSpPr>
          <p:cNvPr id="26" name="Text 24"/>
          <p:cNvSpPr txBox="1"/>
          <p:nvPr/>
        </p:nvSpPr>
        <p:spPr>
          <a:xfrm>
            <a:off x="3657600"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Verify</a:t>
            </a:r>
            <a:endParaRPr lang="en-US" sz="1600" dirty="0"/>
          </a:p>
        </p:txBody>
      </p:sp>
      <p:sp>
        <p:nvSpPr>
          <p:cNvPr id="27" name="Text 25"/>
          <p:cNvSpPr txBox="1"/>
          <p:nvPr/>
        </p:nvSpPr>
        <p:spPr>
          <a:xfrm>
            <a:off x="3657600"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Supplier re-reads the ledger independently</a:t>
            </a:r>
            <a:endParaRPr lang="en-US" sz="1150" dirty="0"/>
          </a:p>
        </p:txBody>
      </p:sp>
      <p:sp>
        <p:nvSpPr>
          <p:cNvPr id="28" name="Shape 26"/>
          <p:cNvSpPr/>
          <p:nvPr/>
        </p:nvSpPr>
        <p:spPr>
          <a:xfrm>
            <a:off x="6236208" y="3749040"/>
            <a:ext cx="2578608" cy="1572768"/>
          </a:xfrm>
          <a:prstGeom prst="roundRect">
            <a:avLst>
              <a:gd name="adj" fmla="val 3488"/>
            </a:avLst>
          </a:prstGeom>
          <a:solidFill>
            <a:srgbClr val="F2F5F8"/>
          </a:solidFill>
          <a:ln w="12700">
            <a:solidFill>
              <a:srgbClr val="DCE3EA"/>
            </a:solidFill>
            <a:prstDash val="solid"/>
          </a:ln>
        </p:spPr>
      </p:sp>
      <p:sp>
        <p:nvSpPr>
          <p:cNvPr id="29" name="Text 27"/>
          <p:cNvSpPr txBox="1"/>
          <p:nvPr/>
        </p:nvSpPr>
        <p:spPr>
          <a:xfrm>
            <a:off x="6455664"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07</a:t>
            </a:r>
            <a:endParaRPr lang="en-US" sz="1200" dirty="0"/>
          </a:p>
        </p:txBody>
      </p:sp>
      <p:sp>
        <p:nvSpPr>
          <p:cNvPr id="30" name="Text 28"/>
          <p:cNvSpPr txBox="1"/>
          <p:nvPr/>
        </p:nvSpPr>
        <p:spPr>
          <a:xfrm>
            <a:off x="6455664"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Deliver</a:t>
            </a:r>
            <a:endParaRPr lang="en-US" sz="1600" dirty="0"/>
          </a:p>
        </p:txBody>
      </p:sp>
      <p:sp>
        <p:nvSpPr>
          <p:cNvPr id="31" name="Text 29"/>
          <p:cNvSpPr txBox="1"/>
          <p:nvPr/>
        </p:nvSpPr>
        <p:spPr>
          <a:xfrm>
            <a:off x="6455664"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Reservation hold released to the agent</a:t>
            </a:r>
            <a:endParaRPr lang="en-US" sz="1150" dirty="0"/>
          </a:p>
        </p:txBody>
      </p:sp>
      <p:sp>
        <p:nvSpPr>
          <p:cNvPr id="32" name="Shape 30"/>
          <p:cNvSpPr/>
          <p:nvPr/>
        </p:nvSpPr>
        <p:spPr>
          <a:xfrm>
            <a:off x="9034272" y="3749040"/>
            <a:ext cx="2578608" cy="1572768"/>
          </a:xfrm>
          <a:prstGeom prst="roundRect">
            <a:avLst>
              <a:gd name="adj" fmla="val 3488"/>
            </a:avLst>
          </a:prstGeom>
          <a:solidFill>
            <a:srgbClr val="F2F5F8"/>
          </a:solidFill>
          <a:ln w="12700">
            <a:solidFill>
              <a:srgbClr val="DCE3EA"/>
            </a:solidFill>
            <a:prstDash val="solid"/>
          </a:ln>
        </p:spPr>
      </p:sp>
      <p:sp>
        <p:nvSpPr>
          <p:cNvPr id="33" name="Text 31"/>
          <p:cNvSpPr txBox="1"/>
          <p:nvPr/>
        </p:nvSpPr>
        <p:spPr>
          <a:xfrm>
            <a:off x="9253728" y="3913632"/>
            <a:ext cx="914400" cy="274320"/>
          </a:xfrm>
          <a:prstGeom prst="rect">
            <a:avLst/>
          </a:prstGeom>
          <a:noFill/>
          <a:ln/>
        </p:spPr>
        <p:txBody>
          <a:bodyPr wrap="square" lIns="0" tIns="0" rIns="0" bIns="0" rtlCol="0" anchor="ctr"/>
          <a:lstStyle/>
          <a:p>
            <a:pPr indent="0" marL="0">
              <a:buNone/>
            </a:pPr>
            <a:r>
              <a:rPr lang="en-US" sz="1200" b="1" dirty="0">
                <a:solidFill>
                  <a:srgbClr val="0067E5"/>
                </a:solidFill>
                <a:latin typeface="Calibri" pitchFamily="34" charset="0"/>
                <a:ea typeface="Calibri" pitchFamily="34" charset="-122"/>
                <a:cs typeface="Calibri" pitchFamily="34" charset="-120"/>
              </a:rPr>
              <a:t>08</a:t>
            </a:r>
            <a:endParaRPr lang="en-US" sz="1200" dirty="0"/>
          </a:p>
        </p:txBody>
      </p:sp>
      <p:sp>
        <p:nvSpPr>
          <p:cNvPr id="34" name="Text 32"/>
          <p:cNvSpPr txBox="1"/>
          <p:nvPr/>
        </p:nvSpPr>
        <p:spPr>
          <a:xfrm>
            <a:off x="9253728" y="4206240"/>
            <a:ext cx="2148840" cy="292608"/>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Recover</a:t>
            </a:r>
            <a:endParaRPr lang="en-US" sz="1600" dirty="0"/>
          </a:p>
        </p:txBody>
      </p:sp>
      <p:sp>
        <p:nvSpPr>
          <p:cNvPr id="35" name="Text 33"/>
          <p:cNvSpPr txBox="1"/>
          <p:nvPr/>
        </p:nvSpPr>
        <p:spPr>
          <a:xfrm>
            <a:off x="9253728" y="4535424"/>
            <a:ext cx="2148840" cy="685800"/>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Itinerary restored, receipt inspectable</a:t>
            </a:r>
            <a:endParaRPr lang="en-US" sz="1150" dirty="0"/>
          </a:p>
        </p:txBody>
      </p:sp>
      <p:sp>
        <p:nvSpPr>
          <p:cNvPr id="36" name="Shape 34"/>
          <p:cNvSpPr/>
          <p:nvPr/>
        </p:nvSpPr>
        <p:spPr>
          <a:xfrm>
            <a:off x="640080" y="5687568"/>
            <a:ext cx="10908792" cy="713232"/>
          </a:xfrm>
          <a:prstGeom prst="roundRect">
            <a:avLst>
              <a:gd name="adj" fmla="val 7692"/>
            </a:avLst>
          </a:prstGeom>
          <a:solidFill>
            <a:srgbClr val="0E1A2B"/>
          </a:solidFill>
          <a:ln w="12700">
            <a:solidFill>
              <a:srgbClr val="DCE3EA"/>
            </a:solidFill>
            <a:prstDash val="solid"/>
          </a:ln>
        </p:spPr>
      </p:sp>
      <p:sp>
        <p:nvSpPr>
          <p:cNvPr id="37" name="Text 35"/>
          <p:cNvSpPr txBox="1"/>
          <p:nvPr/>
        </p:nvSpPr>
        <p:spPr>
          <a:xfrm>
            <a:off x="1005840" y="5852160"/>
            <a:ext cx="10149840" cy="4114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agent signs; the supplier settles and verifies. Delivery before payment is structurally impossible, not merely forbidden.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TRUST AND FAILURE HANDLING</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We can break it on stage — and nothing moves.</a:t>
            </a:r>
            <a:endParaRPr lang="en-US" sz="3400" dirty="0"/>
          </a:p>
        </p:txBody>
      </p:sp>
      <p:sp>
        <p:nvSpPr>
          <p:cNvPr id="4" name="Shape 2"/>
          <p:cNvSpPr/>
          <p:nvPr/>
        </p:nvSpPr>
        <p:spPr>
          <a:xfrm>
            <a:off x="640080" y="1828800"/>
            <a:ext cx="3456432" cy="2377440"/>
          </a:xfrm>
          <a:prstGeom prst="roundRect">
            <a:avLst>
              <a:gd name="adj" fmla="val 2308"/>
            </a:avLst>
          </a:prstGeom>
          <a:solidFill>
            <a:srgbClr val="F2F5F8"/>
          </a:solidFill>
          <a:ln w="12700">
            <a:solidFill>
              <a:srgbClr val="DCE3EA"/>
            </a:solidFill>
            <a:prstDash val="solid"/>
          </a:ln>
        </p:spPr>
      </p:sp>
      <p:sp>
        <p:nvSpPr>
          <p:cNvPr id="5" name="Shape 3"/>
          <p:cNvSpPr/>
          <p:nvPr/>
        </p:nvSpPr>
        <p:spPr>
          <a:xfrm>
            <a:off x="896112" y="2084832"/>
            <a:ext cx="146304" cy="146304"/>
          </a:xfrm>
          <a:prstGeom prst="ellipse">
            <a:avLst/>
          </a:prstGeom>
          <a:solidFill>
            <a:srgbClr val="D99A2B"/>
          </a:solidFill>
          <a:ln/>
        </p:spPr>
      </p:sp>
      <p:sp>
        <p:nvSpPr>
          <p:cNvPr id="6" name="Text 4"/>
          <p:cNvSpPr txBox="1"/>
          <p:nvPr/>
        </p:nvSpPr>
        <p:spPr>
          <a:xfrm>
            <a:off x="1152144"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Supplier goes offline</a:t>
            </a:r>
            <a:endParaRPr lang="en-US" sz="1500" dirty="0"/>
          </a:p>
        </p:txBody>
      </p:sp>
      <p:sp>
        <p:nvSpPr>
          <p:cNvPr id="7" name="Text 5"/>
          <p:cNvSpPr txBox="1"/>
          <p:nvPr/>
        </p:nvSpPr>
        <p:spPr>
          <a:xfrm>
            <a:off x="896112"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Refused at the challenge, before any payment is attempted</a:t>
            </a:r>
            <a:endParaRPr lang="en-US" sz="1300" dirty="0"/>
          </a:p>
        </p:txBody>
      </p:sp>
      <p:sp>
        <p:nvSpPr>
          <p:cNvPr id="8" name="Text 6"/>
          <p:cNvSpPr txBox="1"/>
          <p:nvPr/>
        </p:nvSpPr>
        <p:spPr>
          <a:xfrm>
            <a:off x="896112"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Budget untouched</a:t>
            </a:r>
            <a:endParaRPr lang="en-US" sz="1400" dirty="0"/>
          </a:p>
        </p:txBody>
      </p:sp>
      <p:sp>
        <p:nvSpPr>
          <p:cNvPr id="9" name="Shape 7"/>
          <p:cNvSpPr/>
          <p:nvPr/>
        </p:nvSpPr>
        <p:spPr>
          <a:xfrm>
            <a:off x="4352544" y="1828800"/>
            <a:ext cx="3456432" cy="2377440"/>
          </a:xfrm>
          <a:prstGeom prst="roundRect">
            <a:avLst>
              <a:gd name="adj" fmla="val 2308"/>
            </a:avLst>
          </a:prstGeom>
          <a:solidFill>
            <a:srgbClr val="F2F5F8"/>
          </a:solidFill>
          <a:ln w="12700">
            <a:solidFill>
              <a:srgbClr val="DCE3EA"/>
            </a:solidFill>
            <a:prstDash val="solid"/>
          </a:ln>
        </p:spPr>
      </p:sp>
      <p:sp>
        <p:nvSpPr>
          <p:cNvPr id="10" name="Shape 8"/>
          <p:cNvSpPr/>
          <p:nvPr/>
        </p:nvSpPr>
        <p:spPr>
          <a:xfrm>
            <a:off x="4608576" y="2084832"/>
            <a:ext cx="146304" cy="146304"/>
          </a:xfrm>
          <a:prstGeom prst="ellipse">
            <a:avLst/>
          </a:prstGeom>
          <a:solidFill>
            <a:srgbClr val="D14B4B"/>
          </a:solidFill>
          <a:ln/>
        </p:spPr>
      </p:sp>
      <p:sp>
        <p:nvSpPr>
          <p:cNvPr id="11" name="Text 9"/>
          <p:cNvSpPr txBox="1"/>
          <p:nvPr/>
        </p:nvSpPr>
        <p:spPr>
          <a:xfrm>
            <a:off x="4864608"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Settlement rejected</a:t>
            </a:r>
            <a:endParaRPr lang="en-US" sz="1500" dirty="0"/>
          </a:p>
        </p:txBody>
      </p:sp>
      <p:sp>
        <p:nvSpPr>
          <p:cNvPr id="12" name="Text 10"/>
          <p:cNvSpPr txBox="1"/>
          <p:nvPr/>
        </p:nvSpPr>
        <p:spPr>
          <a:xfrm>
            <a:off x="4608576"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Execution fails, nothing is delivered, reserved budget released</a:t>
            </a:r>
            <a:endParaRPr lang="en-US" sz="1300" dirty="0"/>
          </a:p>
        </p:txBody>
      </p:sp>
      <p:sp>
        <p:nvSpPr>
          <p:cNvPr id="13" name="Text 11"/>
          <p:cNvSpPr txBox="1"/>
          <p:nvPr/>
        </p:nvSpPr>
        <p:spPr>
          <a:xfrm>
            <a:off x="4608576"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No money stranded</a:t>
            </a:r>
            <a:endParaRPr lang="en-US" sz="1400" dirty="0"/>
          </a:p>
        </p:txBody>
      </p:sp>
      <p:sp>
        <p:nvSpPr>
          <p:cNvPr id="14" name="Shape 12"/>
          <p:cNvSpPr/>
          <p:nvPr/>
        </p:nvSpPr>
        <p:spPr>
          <a:xfrm>
            <a:off x="8065008" y="1828800"/>
            <a:ext cx="3456432" cy="2377440"/>
          </a:xfrm>
          <a:prstGeom prst="roundRect">
            <a:avLst>
              <a:gd name="adj" fmla="val 2308"/>
            </a:avLst>
          </a:prstGeom>
          <a:solidFill>
            <a:srgbClr val="F2F5F8"/>
          </a:solidFill>
          <a:ln w="12700">
            <a:solidFill>
              <a:srgbClr val="DCE3EA"/>
            </a:solidFill>
            <a:prstDash val="solid"/>
          </a:ln>
        </p:spPr>
      </p:sp>
      <p:sp>
        <p:nvSpPr>
          <p:cNvPr id="15" name="Shape 13"/>
          <p:cNvSpPr/>
          <p:nvPr/>
        </p:nvSpPr>
        <p:spPr>
          <a:xfrm>
            <a:off x="8321040" y="2084832"/>
            <a:ext cx="146304" cy="146304"/>
          </a:xfrm>
          <a:prstGeom prst="ellipse">
            <a:avLst/>
          </a:prstGeom>
          <a:solidFill>
            <a:srgbClr val="D99A2B"/>
          </a:solidFill>
          <a:ln/>
        </p:spPr>
      </p:sp>
      <p:sp>
        <p:nvSpPr>
          <p:cNvPr id="16" name="Text 14"/>
          <p:cNvSpPr txBox="1"/>
          <p:nvPr/>
        </p:nvSpPr>
        <p:spPr>
          <a:xfrm>
            <a:off x="8577072" y="1993392"/>
            <a:ext cx="2743200" cy="320040"/>
          </a:xfrm>
          <a:prstGeom prst="rect">
            <a:avLst/>
          </a:prstGeom>
          <a:noFill/>
          <a:ln/>
        </p:spPr>
        <p:txBody>
          <a:bodyPr wrap="square" lIns="0" tIns="0" rIns="0" bIns="0" rtlCol="0" anchor="ctr"/>
          <a:lstStyle/>
          <a:p>
            <a:pPr indent="0" marL="0">
              <a:buNone/>
            </a:pPr>
            <a:r>
              <a:rPr lang="en-US" sz="1500" b="1" dirty="0">
                <a:solidFill>
                  <a:srgbClr val="141A1F"/>
                </a:solidFill>
                <a:latin typeface="Calibri" pitchFamily="34" charset="0"/>
                <a:ea typeface="Calibri" pitchFamily="34" charset="-122"/>
                <a:cs typeface="Calibri" pitchFamily="34" charset="-120"/>
              </a:rPr>
              <a:t>Budget exhausted</a:t>
            </a:r>
            <a:endParaRPr lang="en-US" sz="1500" dirty="0"/>
          </a:p>
        </p:txBody>
      </p:sp>
      <p:sp>
        <p:nvSpPr>
          <p:cNvPr id="17" name="Text 15"/>
          <p:cNvSpPr txBox="1"/>
          <p:nvPr/>
        </p:nvSpPr>
        <p:spPr>
          <a:xfrm>
            <a:off x="8321040" y="2450592"/>
            <a:ext cx="2944368" cy="96012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Agent halts and returns to the traveller for re-authorisation</a:t>
            </a:r>
            <a:endParaRPr lang="en-US" sz="1300" dirty="0"/>
          </a:p>
        </p:txBody>
      </p:sp>
      <p:sp>
        <p:nvSpPr>
          <p:cNvPr id="18" name="Text 16"/>
          <p:cNvSpPr txBox="1"/>
          <p:nvPr/>
        </p:nvSpPr>
        <p:spPr>
          <a:xfrm>
            <a:off x="8321040" y="3584448"/>
            <a:ext cx="2944368" cy="320040"/>
          </a:xfrm>
          <a:prstGeom prst="rect">
            <a:avLst/>
          </a:prstGeom>
          <a:noFill/>
          <a:ln/>
        </p:spPr>
        <p:txBody>
          <a:bodyPr wrap="square" lIns="0" tIns="0" rIns="0" bIns="0" rtlCol="0" anchor="ctr"/>
          <a:lstStyle/>
          <a:p>
            <a:pPr indent="0" marL="0">
              <a:buNone/>
            </a:pPr>
            <a:r>
              <a:rPr lang="en-US" sz="1400" b="1" dirty="0">
                <a:solidFill>
                  <a:srgbClr val="1E9E63"/>
                </a:solidFill>
                <a:latin typeface="Calibri" pitchFamily="34" charset="0"/>
                <a:ea typeface="Calibri" pitchFamily="34" charset="-122"/>
                <a:cs typeface="Calibri" pitchFamily="34" charset="-120"/>
              </a:rPr>
              <a:t>No payment made</a:t>
            </a:r>
            <a:endParaRPr lang="en-US" sz="1400" dirty="0"/>
          </a:p>
        </p:txBody>
      </p:sp>
      <p:sp>
        <p:nvSpPr>
          <p:cNvPr id="19" name="Text 17"/>
          <p:cNvSpPr txBox="1"/>
          <p:nvPr/>
        </p:nvSpPr>
        <p:spPr>
          <a:xfrm>
            <a:off x="640080" y="4434840"/>
            <a:ext cx="10881360" cy="320040"/>
          </a:xfrm>
          <a:prstGeom prst="rect">
            <a:avLst/>
          </a:prstGeom>
          <a:noFill/>
          <a:ln/>
        </p:spPr>
        <p:txBody>
          <a:bodyPr wrap="square" lIns="0" tIns="0" rIns="0" bIns="0" rtlCol="0" anchor="ctr"/>
          <a:lstStyle/>
          <a:p>
            <a:pPr indent="0" marL="0">
              <a:buNone/>
            </a:pPr>
            <a:r>
              <a:rPr lang="en-US" sz="1600" b="1" dirty="0">
                <a:solidFill>
                  <a:srgbClr val="141A1F"/>
                </a:solidFill>
                <a:latin typeface="Calibri" pitchFamily="34" charset="0"/>
                <a:ea typeface="Calibri" pitchFamily="34" charset="-122"/>
                <a:cs typeface="Calibri" pitchFamily="34" charset="-120"/>
              </a:rPr>
              <a:t>Seven release-blocking invariants, each covered by tests</a:t>
            </a:r>
            <a:endParaRPr lang="en-US" sz="1600" dirty="0"/>
          </a:p>
        </p:txBody>
      </p:sp>
      <p:sp>
        <p:nvSpPr>
          <p:cNvPr id="20" name="Shape 18"/>
          <p:cNvSpPr/>
          <p:nvPr/>
        </p:nvSpPr>
        <p:spPr>
          <a:xfrm>
            <a:off x="640080" y="4919472"/>
            <a:ext cx="118872" cy="118872"/>
          </a:xfrm>
          <a:prstGeom prst="ellipse">
            <a:avLst/>
          </a:prstGeom>
          <a:solidFill>
            <a:srgbClr val="1E9E63"/>
          </a:solidFill>
          <a:ln/>
        </p:spPr>
      </p:sp>
      <p:sp>
        <p:nvSpPr>
          <p:cNvPr id="21" name="Text 19"/>
          <p:cNvSpPr txBox="1"/>
          <p:nvPr/>
        </p:nvSpPr>
        <p:spPr>
          <a:xfrm>
            <a:off x="841248"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The agent cannot exceed the mandate</a:t>
            </a:r>
            <a:endParaRPr lang="en-US" sz="1150" dirty="0"/>
          </a:p>
        </p:txBody>
      </p:sp>
      <p:sp>
        <p:nvSpPr>
          <p:cNvPr id="22" name="Shape 20"/>
          <p:cNvSpPr/>
          <p:nvPr/>
        </p:nvSpPr>
        <p:spPr>
          <a:xfrm>
            <a:off x="3401568" y="4919472"/>
            <a:ext cx="118872" cy="118872"/>
          </a:xfrm>
          <a:prstGeom prst="ellipse">
            <a:avLst/>
          </a:prstGeom>
          <a:solidFill>
            <a:srgbClr val="1E9E63"/>
          </a:solidFill>
          <a:ln/>
        </p:spPr>
      </p:sp>
      <p:sp>
        <p:nvSpPr>
          <p:cNvPr id="23" name="Text 21"/>
          <p:cNvSpPr txBox="1"/>
          <p:nvPr/>
        </p:nvSpPr>
        <p:spPr>
          <a:xfrm>
            <a:off x="3602736"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No delivery before verified settlement</a:t>
            </a:r>
            <a:endParaRPr lang="en-US" sz="1150" dirty="0"/>
          </a:p>
        </p:txBody>
      </p:sp>
      <p:sp>
        <p:nvSpPr>
          <p:cNvPr id="24" name="Shape 22"/>
          <p:cNvSpPr/>
          <p:nvPr/>
        </p:nvSpPr>
        <p:spPr>
          <a:xfrm>
            <a:off x="6163056" y="4919472"/>
            <a:ext cx="118872" cy="118872"/>
          </a:xfrm>
          <a:prstGeom prst="ellipse">
            <a:avLst/>
          </a:prstGeom>
          <a:solidFill>
            <a:srgbClr val="1E9E63"/>
          </a:solidFill>
          <a:ln/>
        </p:spPr>
      </p:sp>
      <p:sp>
        <p:nvSpPr>
          <p:cNvPr id="25" name="Text 23"/>
          <p:cNvSpPr txBox="1"/>
          <p:nvPr/>
        </p:nvSpPr>
        <p:spPr>
          <a:xfrm>
            <a:off x="6364224"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Retries cannot double-spend</a:t>
            </a:r>
            <a:endParaRPr lang="en-US" sz="1150" dirty="0"/>
          </a:p>
        </p:txBody>
      </p:sp>
      <p:sp>
        <p:nvSpPr>
          <p:cNvPr id="26" name="Shape 24"/>
          <p:cNvSpPr/>
          <p:nvPr/>
        </p:nvSpPr>
        <p:spPr>
          <a:xfrm>
            <a:off x="8924544" y="4919472"/>
            <a:ext cx="118872" cy="118872"/>
          </a:xfrm>
          <a:prstGeom prst="ellipse">
            <a:avLst/>
          </a:prstGeom>
          <a:solidFill>
            <a:srgbClr val="1E9E63"/>
          </a:solidFill>
          <a:ln/>
        </p:spPr>
      </p:sp>
      <p:sp>
        <p:nvSpPr>
          <p:cNvPr id="27" name="Text 25"/>
          <p:cNvSpPr txBox="1"/>
          <p:nvPr/>
        </p:nvSpPr>
        <p:spPr>
          <a:xfrm>
            <a:off x="9125712" y="4864608"/>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Mismatched payments unlock nothing</a:t>
            </a:r>
            <a:endParaRPr lang="en-US" sz="1150" dirty="0"/>
          </a:p>
        </p:txBody>
      </p:sp>
      <p:sp>
        <p:nvSpPr>
          <p:cNvPr id="28" name="Shape 26"/>
          <p:cNvSpPr/>
          <p:nvPr/>
        </p:nvSpPr>
        <p:spPr>
          <a:xfrm>
            <a:off x="640080" y="5394960"/>
            <a:ext cx="118872" cy="118872"/>
          </a:xfrm>
          <a:prstGeom prst="ellipse">
            <a:avLst/>
          </a:prstGeom>
          <a:solidFill>
            <a:srgbClr val="1E9E63"/>
          </a:solidFill>
          <a:ln/>
        </p:spPr>
      </p:sp>
      <p:sp>
        <p:nvSpPr>
          <p:cNvPr id="29" name="Text 27"/>
          <p:cNvSpPr txBox="1"/>
          <p:nvPr/>
        </p:nvSpPr>
        <p:spPr>
          <a:xfrm>
            <a:off x="841248"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Server state beats client input</a:t>
            </a:r>
            <a:endParaRPr lang="en-US" sz="1150" dirty="0"/>
          </a:p>
        </p:txBody>
      </p:sp>
      <p:sp>
        <p:nvSpPr>
          <p:cNvPr id="30" name="Shape 28"/>
          <p:cNvSpPr/>
          <p:nvPr/>
        </p:nvSpPr>
        <p:spPr>
          <a:xfrm>
            <a:off x="3401568" y="5394960"/>
            <a:ext cx="118872" cy="118872"/>
          </a:xfrm>
          <a:prstGeom prst="ellipse">
            <a:avLst/>
          </a:prstGeom>
          <a:solidFill>
            <a:srgbClr val="1E9E63"/>
          </a:solidFill>
          <a:ln/>
        </p:spPr>
      </p:sp>
      <p:sp>
        <p:nvSpPr>
          <p:cNvPr id="31" name="Text 29"/>
          <p:cNvSpPr txBox="1"/>
          <p:nvPr/>
        </p:nvSpPr>
        <p:spPr>
          <a:xfrm>
            <a:off x="3602736"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Seeds never leave the server</a:t>
            </a:r>
            <a:endParaRPr lang="en-US" sz="1150" dirty="0"/>
          </a:p>
        </p:txBody>
      </p:sp>
      <p:sp>
        <p:nvSpPr>
          <p:cNvPr id="32" name="Shape 30"/>
          <p:cNvSpPr/>
          <p:nvPr/>
        </p:nvSpPr>
        <p:spPr>
          <a:xfrm>
            <a:off x="6163056" y="5394960"/>
            <a:ext cx="118872" cy="118872"/>
          </a:xfrm>
          <a:prstGeom prst="ellipse">
            <a:avLst/>
          </a:prstGeom>
          <a:solidFill>
            <a:srgbClr val="1E9E63"/>
          </a:solidFill>
          <a:ln/>
        </p:spPr>
      </p:sp>
      <p:sp>
        <p:nvSpPr>
          <p:cNvPr id="33" name="Text 31"/>
          <p:cNvSpPr txBox="1"/>
          <p:nvPr/>
        </p:nvSpPr>
        <p:spPr>
          <a:xfrm>
            <a:off x="6364224" y="5340096"/>
            <a:ext cx="2487168" cy="384048"/>
          </a:xfrm>
          <a:prstGeom prst="rect">
            <a:avLst/>
          </a:prstGeom>
          <a:noFill/>
          <a:ln/>
        </p:spPr>
        <p:txBody>
          <a:bodyPr wrap="square" lIns="0" tIns="0" rIns="0" bIns="0" rtlCol="0" anchor="ctr"/>
          <a:lstStyle/>
          <a:p>
            <a:pPr indent="0" marL="0">
              <a:buNone/>
            </a:pPr>
            <a:r>
              <a:rPr lang="en-US" sz="1150" dirty="0">
                <a:solidFill>
                  <a:srgbClr val="5D6B7C"/>
                </a:solidFill>
                <a:latin typeface="Calibri" pitchFamily="34" charset="0"/>
                <a:ea typeface="Calibri" pitchFamily="34" charset="-122"/>
                <a:cs typeface="Calibri" pitchFamily="34" charset="-120"/>
              </a:rPr>
              <a:t>Every decision carries its reason</a:t>
            </a:r>
            <a:endParaRPr lang="en-US" sz="1150" dirty="0"/>
          </a:p>
        </p:txBody>
      </p:sp>
      <p:sp>
        <p:nvSpPr>
          <p:cNvPr id="34" name="Text 32"/>
          <p:cNvSpPr txBox="1"/>
          <p:nvPr/>
        </p:nvSpPr>
        <p:spPr>
          <a:xfrm>
            <a:off x="640080" y="5943600"/>
            <a:ext cx="10881360" cy="320040"/>
          </a:xfrm>
          <a:prstGeom prst="rect">
            <a:avLst/>
          </a:prstGeom>
          <a:noFill/>
          <a:ln/>
        </p:spPr>
        <p:txBody>
          <a:bodyPr wrap="square" lIns="0" tIns="0" rIns="0" bIns="0" rtlCol="0" anchor="ctr"/>
          <a:lstStyle/>
          <a:p>
            <a:pPr indent="0" marL="0">
              <a:buNone/>
            </a:pPr>
            <a:r>
              <a:rPr lang="en-US" sz="1300" i="1" dirty="0">
                <a:solidFill>
                  <a:srgbClr val="5D6B7C"/>
                </a:solidFill>
                <a:latin typeface="Calibri" pitchFamily="34" charset="0"/>
                <a:ea typeface="Calibri" pitchFamily="34" charset="-122"/>
                <a:cs typeface="Calibri" pitchFamily="34" charset="-120"/>
              </a:rPr>
              <a:t>93 automated tests · deterministic policy · full decision trace in the UI</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881360" cy="237744"/>
          </a:xfrm>
          <a:prstGeom prst="rect">
            <a:avLst/>
          </a:prstGeom>
          <a:noFill/>
          <a:ln/>
        </p:spPr>
        <p:txBody>
          <a:bodyPr wrap="square" lIns="0" tIns="0" rIns="0" bIns="0" rtlCol="0" anchor="ctr"/>
          <a:lstStyle/>
          <a:p>
            <a:pPr indent="0" marL="0">
              <a:buNone/>
            </a:pPr>
            <a:r>
              <a:rPr lang="en-US" sz="1100" b="1" spc="200" kern="0" dirty="0">
                <a:solidFill>
                  <a:srgbClr val="0067E5"/>
                </a:solidFill>
                <a:latin typeface="Calibri" pitchFamily="34" charset="0"/>
                <a:ea typeface="Calibri" pitchFamily="34" charset="-122"/>
                <a:cs typeface="Calibri" pitchFamily="34" charset="-120"/>
              </a:rPr>
              <a:t>THE BUSINESS</a:t>
            </a:r>
            <a:endParaRPr lang="en-US" sz="1100" dirty="0"/>
          </a:p>
        </p:txBody>
      </p:sp>
      <p:sp>
        <p:nvSpPr>
          <p:cNvPr id="3" name="Text 1"/>
          <p:cNvSpPr txBox="1"/>
          <p:nvPr/>
        </p:nvSpPr>
        <p:spPr>
          <a:xfrm>
            <a:off x="640080" y="658368"/>
            <a:ext cx="10881360" cy="777240"/>
          </a:xfrm>
          <a:prstGeom prst="rect">
            <a:avLst/>
          </a:prstGeom>
          <a:noFill/>
          <a:ln/>
        </p:spPr>
        <p:txBody>
          <a:bodyPr wrap="square" lIns="0" tIns="0" rIns="0" bIns="0" rtlCol="0" anchor="ctr"/>
          <a:lstStyle/>
          <a:p>
            <a:pPr indent="0" marL="0">
              <a:buNone/>
            </a:pPr>
            <a:r>
              <a:rPr lang="en-US" sz="3400" b="1" dirty="0">
                <a:solidFill>
                  <a:srgbClr val="141A1F"/>
                </a:solidFill>
                <a:latin typeface="Cambria" pitchFamily="34" charset="0"/>
                <a:ea typeface="Cambria" pitchFamily="34" charset="-122"/>
                <a:cs typeface="Cambria" pitchFamily="34" charset="-120"/>
              </a:rPr>
              <a:t>The people who lose most when a trip breaks are not only the traveller.</a:t>
            </a:r>
            <a:endParaRPr lang="en-US" sz="3400" dirty="0"/>
          </a:p>
        </p:txBody>
      </p:sp>
      <p:sp>
        <p:nvSpPr>
          <p:cNvPr id="4" name="Shape 2"/>
          <p:cNvSpPr/>
          <p:nvPr/>
        </p:nvSpPr>
        <p:spPr>
          <a:xfrm>
            <a:off x="640080" y="1828800"/>
            <a:ext cx="3456432" cy="3063240"/>
          </a:xfrm>
          <a:prstGeom prst="roundRect">
            <a:avLst>
              <a:gd name="adj" fmla="val 1791"/>
            </a:avLst>
          </a:prstGeom>
          <a:solidFill>
            <a:srgbClr val="F2F5F8"/>
          </a:solidFill>
          <a:ln w="12700">
            <a:solidFill>
              <a:srgbClr val="DCE3EA"/>
            </a:solidFill>
            <a:prstDash val="solid"/>
          </a:ln>
        </p:spPr>
      </p:sp>
      <p:sp>
        <p:nvSpPr>
          <p:cNvPr id="5" name="Text 3"/>
          <p:cNvSpPr txBox="1"/>
          <p:nvPr/>
        </p:nvSpPr>
        <p:spPr>
          <a:xfrm>
            <a:off x="896112" y="2029968"/>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Trip Guardian</a:t>
            </a:r>
            <a:endParaRPr lang="en-US" sz="1800" dirty="0"/>
          </a:p>
        </p:txBody>
      </p:sp>
      <p:sp>
        <p:nvSpPr>
          <p:cNvPr id="6" name="Text 4"/>
          <p:cNvSpPr txBox="1"/>
          <p:nvPr/>
        </p:nvSpPr>
        <p:spPr>
          <a:xfrm>
            <a:off x="896112" y="2395728"/>
            <a:ext cx="2944368" cy="365760"/>
          </a:xfrm>
          <a:prstGeom prst="rect">
            <a:avLst/>
          </a:prstGeom>
          <a:noFill/>
          <a:ln/>
        </p:spPr>
        <p:txBody>
          <a:bodyPr wrap="square" lIns="0" tIns="0" rIns="0" bIns="0" rtlCol="0" anchor="ctr"/>
          <a:lstStyle/>
          <a:p>
            <a:pPr indent="0" marL="0">
              <a:buNone/>
            </a:pPr>
            <a:r>
              <a:rPr lang="en-US" sz="2100" b="1" dirty="0">
                <a:solidFill>
                  <a:srgbClr val="5D6B7C"/>
                </a:solidFill>
                <a:latin typeface="Cambria" pitchFamily="34" charset="0"/>
                <a:ea typeface="Cambria" pitchFamily="34" charset="-122"/>
                <a:cs typeface="Cambria" pitchFamily="34" charset="-120"/>
              </a:rPr>
              <a:t>Free</a:t>
            </a:r>
            <a:endParaRPr lang="en-US" sz="2100" dirty="0"/>
          </a:p>
        </p:txBody>
      </p:sp>
      <p:sp>
        <p:nvSpPr>
          <p:cNvPr id="7" name="Text 5"/>
          <p:cNvSpPr txBox="1"/>
          <p:nvPr/>
        </p:nvSpPr>
        <p:spPr>
          <a:xfrm>
            <a:off x="896112" y="2871216"/>
            <a:ext cx="2944368" cy="10058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Import bookings, dependency graph, disruption alerts.</a:t>
            </a:r>
            <a:endParaRPr lang="en-US" sz="1300" dirty="0"/>
          </a:p>
        </p:txBody>
      </p:sp>
      <p:sp>
        <p:nvSpPr>
          <p:cNvPr id="8" name="Text 6"/>
          <p:cNvSpPr txBox="1"/>
          <p:nvPr/>
        </p:nvSpPr>
        <p:spPr>
          <a:xfrm>
            <a:off x="896112" y="4005072"/>
            <a:ext cx="2944368" cy="731520"/>
          </a:xfrm>
          <a:prstGeom prst="rect">
            <a:avLst/>
          </a:prstGeom>
          <a:noFill/>
          <a:ln/>
        </p:spPr>
        <p:txBody>
          <a:bodyPr wrap="square" lIns="0" tIns="0" rIns="0" bIns="0" rtlCol="0" anchor="ctr"/>
          <a:lstStyle/>
          <a:p>
            <a:pPr indent="0" marL="0">
              <a:buNone/>
            </a:pPr>
            <a:r>
              <a:rPr lang="en-US" sz="1250" b="1" i="1" dirty="0">
                <a:solidFill>
                  <a:srgbClr val="141A1F"/>
                </a:solidFill>
                <a:latin typeface="Calibri" pitchFamily="34" charset="0"/>
                <a:ea typeface="Calibri" pitchFamily="34" charset="-122"/>
                <a:cs typeface="Calibri" pitchFamily="34" charset="-120"/>
              </a:rPr>
              <a:t>Acquisition and the trip graph itself.</a:t>
            </a:r>
            <a:endParaRPr lang="en-US" sz="1250" dirty="0"/>
          </a:p>
        </p:txBody>
      </p:sp>
      <p:sp>
        <p:nvSpPr>
          <p:cNvPr id="9" name="Shape 7"/>
          <p:cNvSpPr/>
          <p:nvPr/>
        </p:nvSpPr>
        <p:spPr>
          <a:xfrm>
            <a:off x="4352544" y="1828800"/>
            <a:ext cx="3456432" cy="3063240"/>
          </a:xfrm>
          <a:prstGeom prst="roundRect">
            <a:avLst>
              <a:gd name="adj" fmla="val 1791"/>
            </a:avLst>
          </a:prstGeom>
          <a:solidFill>
            <a:srgbClr val="0E1A2B"/>
          </a:solidFill>
          <a:ln w="12700">
            <a:solidFill>
              <a:srgbClr val="DCE3EA"/>
            </a:solidFill>
            <a:prstDash val="solid"/>
          </a:ln>
        </p:spPr>
      </p:sp>
      <p:sp>
        <p:nvSpPr>
          <p:cNvPr id="10" name="Text 8"/>
          <p:cNvSpPr txBox="1"/>
          <p:nvPr/>
        </p:nvSpPr>
        <p:spPr>
          <a:xfrm>
            <a:off x="4608576" y="2029968"/>
            <a:ext cx="2944368" cy="3200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Rescue Pass</a:t>
            </a:r>
            <a:endParaRPr lang="en-US" sz="1800" dirty="0"/>
          </a:p>
        </p:txBody>
      </p:sp>
      <p:sp>
        <p:nvSpPr>
          <p:cNvPr id="11" name="Text 9"/>
          <p:cNvSpPr txBox="1"/>
          <p:nvPr/>
        </p:nvSpPr>
        <p:spPr>
          <a:xfrm>
            <a:off x="4608576" y="2395728"/>
            <a:ext cx="2944368" cy="365760"/>
          </a:xfrm>
          <a:prstGeom prst="rect">
            <a:avLst/>
          </a:prstGeom>
          <a:noFill/>
          <a:ln/>
        </p:spPr>
        <p:txBody>
          <a:bodyPr wrap="square" lIns="0" tIns="0" rIns="0" bIns="0" rtlCol="0" anchor="ctr"/>
          <a:lstStyle/>
          <a:p>
            <a:pPr indent="0" marL="0">
              <a:buNone/>
            </a:pPr>
            <a:r>
              <a:rPr lang="en-US" sz="2100" b="1" dirty="0">
                <a:solidFill>
                  <a:srgbClr val="6FA8FF"/>
                </a:solidFill>
                <a:latin typeface="Cambria" pitchFamily="34" charset="0"/>
                <a:ea typeface="Cambria" pitchFamily="34" charset="-122"/>
                <a:cs typeface="Cambria" pitchFamily="34" charset="-120"/>
              </a:rPr>
              <a:t>S$10-20 per trip</a:t>
            </a:r>
            <a:endParaRPr lang="en-US" sz="2100" dirty="0"/>
          </a:p>
        </p:txBody>
      </p:sp>
      <p:sp>
        <p:nvSpPr>
          <p:cNvPr id="12" name="Text 10"/>
          <p:cNvSpPr txBox="1"/>
          <p:nvPr/>
        </p:nvSpPr>
        <p:spPr>
          <a:xfrm>
            <a:off x="4608576" y="2871216"/>
            <a:ext cx="2944368" cy="1005840"/>
          </a:xfrm>
          <a:prstGeom prst="rect">
            <a:avLst/>
          </a:prstGeom>
          <a:noFill/>
          <a:ln/>
        </p:spPr>
        <p:txBody>
          <a:bodyPr wrap="square" lIns="0" tIns="0" rIns="0" bIns="0" rtlCol="0" anchor="ctr"/>
          <a:lstStyle/>
          <a:p>
            <a:pPr indent="0" marL="0">
              <a:buNone/>
            </a:pPr>
            <a:r>
              <a:rPr lang="en-US" sz="1300" dirty="0">
                <a:solidFill>
                  <a:srgbClr val="C6D4E6"/>
                </a:solidFill>
                <a:latin typeface="Calibri" pitchFamily="34" charset="0"/>
                <a:ea typeface="Calibri" pitchFamily="34" charset="-122"/>
                <a:cs typeface="Calibri" pitchFamily="34" charset="-120"/>
              </a:rPr>
              <a:t>Whole-trip recovery, three strategies, bounded autonomous execution.</a:t>
            </a:r>
            <a:endParaRPr lang="en-US" sz="1300" dirty="0"/>
          </a:p>
        </p:txBody>
      </p:sp>
      <p:sp>
        <p:nvSpPr>
          <p:cNvPr id="13" name="Text 11"/>
          <p:cNvSpPr txBox="1"/>
          <p:nvPr/>
        </p:nvSpPr>
        <p:spPr>
          <a:xfrm>
            <a:off x="4608576" y="4005072"/>
            <a:ext cx="2944368" cy="731520"/>
          </a:xfrm>
          <a:prstGeom prst="rect">
            <a:avLst/>
          </a:prstGeom>
          <a:noFill/>
          <a:ln/>
        </p:spPr>
        <p:txBody>
          <a:bodyPr wrap="square" lIns="0" tIns="0" rIns="0" bIns="0" rtlCol="0" anchor="ctr"/>
          <a:lstStyle/>
          <a:p>
            <a:pPr indent="0" marL="0">
              <a:buNone/>
            </a:pPr>
            <a:r>
              <a:rPr lang="en-US" sz="1250" b="1" i="1" dirty="0">
                <a:solidFill>
                  <a:srgbClr val="FFFFFF"/>
                </a:solidFill>
                <a:latin typeface="Calibri" pitchFamily="34" charset="0"/>
                <a:ea typeface="Calibri" pitchFamily="34" charset="-122"/>
                <a:cs typeface="Calibri" pitchFamily="34" charset="-120"/>
              </a:rPr>
              <a:t>Bought at the moment of booking a complex trip.</a:t>
            </a:r>
            <a:endParaRPr lang="en-US" sz="1250" dirty="0"/>
          </a:p>
        </p:txBody>
      </p:sp>
      <p:sp>
        <p:nvSpPr>
          <p:cNvPr id="14" name="Shape 12"/>
          <p:cNvSpPr/>
          <p:nvPr/>
        </p:nvSpPr>
        <p:spPr>
          <a:xfrm>
            <a:off x="8065008" y="1828800"/>
            <a:ext cx="3456432" cy="3063240"/>
          </a:xfrm>
          <a:prstGeom prst="roundRect">
            <a:avLst>
              <a:gd name="adj" fmla="val 1791"/>
            </a:avLst>
          </a:prstGeom>
          <a:solidFill>
            <a:srgbClr val="F2F5F8"/>
          </a:solidFill>
          <a:ln w="12700">
            <a:solidFill>
              <a:srgbClr val="DCE3EA"/>
            </a:solidFill>
            <a:prstDash val="solid"/>
          </a:ln>
        </p:spPr>
      </p:sp>
      <p:sp>
        <p:nvSpPr>
          <p:cNvPr id="15" name="Text 13"/>
          <p:cNvSpPr txBox="1"/>
          <p:nvPr/>
        </p:nvSpPr>
        <p:spPr>
          <a:xfrm>
            <a:off x="8321040" y="2029968"/>
            <a:ext cx="2944368" cy="320040"/>
          </a:xfrm>
          <a:prstGeom prst="rect">
            <a:avLst/>
          </a:prstGeom>
          <a:noFill/>
          <a:ln/>
        </p:spPr>
        <p:txBody>
          <a:bodyPr wrap="square" lIns="0" tIns="0" rIns="0" bIns="0" rtlCol="0" anchor="ctr"/>
          <a:lstStyle/>
          <a:p>
            <a:pPr indent="0" marL="0">
              <a:buNone/>
            </a:pPr>
            <a:r>
              <a:rPr lang="en-US" sz="1800" b="1" dirty="0">
                <a:solidFill>
                  <a:srgbClr val="141A1F"/>
                </a:solidFill>
                <a:latin typeface="Calibri" pitchFamily="34" charset="0"/>
                <a:ea typeface="Calibri" pitchFamily="34" charset="-122"/>
                <a:cs typeface="Calibri" pitchFamily="34" charset="-120"/>
              </a:rPr>
              <a:t>Distribution</a:t>
            </a:r>
            <a:endParaRPr lang="en-US" sz="1800" dirty="0"/>
          </a:p>
        </p:txBody>
      </p:sp>
      <p:sp>
        <p:nvSpPr>
          <p:cNvPr id="16" name="Text 14"/>
          <p:cNvSpPr txBox="1"/>
          <p:nvPr/>
        </p:nvSpPr>
        <p:spPr>
          <a:xfrm>
            <a:off x="8321040" y="2395728"/>
            <a:ext cx="2944368" cy="365760"/>
          </a:xfrm>
          <a:prstGeom prst="rect">
            <a:avLst/>
          </a:prstGeom>
          <a:noFill/>
          <a:ln/>
        </p:spPr>
        <p:txBody>
          <a:bodyPr wrap="square" lIns="0" tIns="0" rIns="0" bIns="0" rtlCol="0" anchor="ctr"/>
          <a:lstStyle/>
          <a:p>
            <a:pPr indent="0" marL="0">
              <a:buNone/>
            </a:pPr>
            <a:r>
              <a:rPr lang="en-US" sz="2100" b="1" dirty="0">
                <a:solidFill>
                  <a:srgbClr val="1E9E63"/>
                </a:solidFill>
                <a:latin typeface="Cambria" pitchFamily="34" charset="0"/>
                <a:ea typeface="Cambria" pitchFamily="34" charset="-122"/>
                <a:cs typeface="Cambria" pitchFamily="34" charset="-120"/>
              </a:rPr>
              <a:t>B2B2C</a:t>
            </a:r>
            <a:endParaRPr lang="en-US" sz="2100" dirty="0"/>
          </a:p>
        </p:txBody>
      </p:sp>
      <p:sp>
        <p:nvSpPr>
          <p:cNvPr id="17" name="Text 15"/>
          <p:cNvSpPr txBox="1"/>
          <p:nvPr/>
        </p:nvSpPr>
        <p:spPr>
          <a:xfrm>
            <a:off x="8321040" y="2871216"/>
            <a:ext cx="2944368" cy="1005840"/>
          </a:xfrm>
          <a:prstGeom prst="rect">
            <a:avLst/>
          </a:prstGeom>
          <a:noFill/>
          <a:ln/>
        </p:spPr>
        <p:txBody>
          <a:bodyPr wrap="square" lIns="0" tIns="0" rIns="0" bIns="0" rtlCol="0" anchor="ctr"/>
          <a:lstStyle/>
          <a:p>
            <a:pPr indent="0" marL="0">
              <a:buNone/>
            </a:pPr>
            <a:r>
              <a:rPr lang="en-US" sz="1300" dirty="0">
                <a:solidFill>
                  <a:srgbClr val="5D6B7C"/>
                </a:solidFill>
                <a:latin typeface="Calibri" pitchFamily="34" charset="0"/>
                <a:ea typeface="Calibri" pitchFamily="34" charset="-122"/>
                <a:cs typeface="Calibri" pitchFamily="34" charset="-120"/>
              </a:rPr>
              <a:t>Insurers, card issuers, OTAs and corporate travel embed Trip Rescue.</a:t>
            </a:r>
            <a:endParaRPr lang="en-US" sz="1300" dirty="0"/>
          </a:p>
        </p:txBody>
      </p:sp>
      <p:sp>
        <p:nvSpPr>
          <p:cNvPr id="18" name="Text 16"/>
          <p:cNvSpPr txBox="1"/>
          <p:nvPr/>
        </p:nvSpPr>
        <p:spPr>
          <a:xfrm>
            <a:off x="8321040" y="4005072"/>
            <a:ext cx="2944368" cy="731520"/>
          </a:xfrm>
          <a:prstGeom prst="rect">
            <a:avLst/>
          </a:prstGeom>
          <a:noFill/>
          <a:ln/>
        </p:spPr>
        <p:txBody>
          <a:bodyPr wrap="square" lIns="0" tIns="0" rIns="0" bIns="0" rtlCol="0" anchor="ctr"/>
          <a:lstStyle/>
          <a:p>
            <a:pPr indent="0" marL="0">
              <a:buNone/>
            </a:pPr>
            <a:r>
              <a:rPr lang="en-US" sz="1250" b="1" i="1" dirty="0">
                <a:solidFill>
                  <a:srgbClr val="141A1F"/>
                </a:solidFill>
                <a:latin typeface="Calibri" pitchFamily="34" charset="0"/>
                <a:ea typeface="Calibri" pitchFamily="34" charset="-122"/>
                <a:cs typeface="Calibri" pitchFamily="34" charset="-120"/>
              </a:rPr>
              <a:t>They already pay for disruption — in claims and in churn.</a:t>
            </a:r>
            <a:endParaRPr lang="en-US" sz="1250" dirty="0"/>
          </a:p>
        </p:txBody>
      </p:sp>
      <p:sp>
        <p:nvSpPr>
          <p:cNvPr id="19" name="Shape 17"/>
          <p:cNvSpPr/>
          <p:nvPr/>
        </p:nvSpPr>
        <p:spPr>
          <a:xfrm>
            <a:off x="640080" y="5138928"/>
            <a:ext cx="10908792" cy="1143000"/>
          </a:xfrm>
          <a:prstGeom prst="roundRect">
            <a:avLst>
              <a:gd name="adj" fmla="val 4800"/>
            </a:avLst>
          </a:prstGeom>
          <a:solidFill>
            <a:srgbClr val="0E1A2B"/>
          </a:solidFill>
          <a:ln w="12700">
            <a:solidFill>
              <a:srgbClr val="DCE3EA"/>
            </a:solidFill>
            <a:prstDash val="solid"/>
          </a:ln>
        </p:spPr>
      </p:sp>
      <p:sp>
        <p:nvSpPr>
          <p:cNvPr id="20" name="Text 18"/>
          <p:cNvSpPr txBox="1"/>
          <p:nvPr/>
        </p:nvSpPr>
        <p:spPr>
          <a:xfrm>
            <a:off x="1005840" y="5303520"/>
            <a:ext cx="3657600" cy="292608"/>
          </a:xfrm>
          <a:prstGeom prst="rect">
            <a:avLst/>
          </a:prstGeom>
          <a:noFill/>
          <a:ln/>
        </p:spPr>
        <p:txBody>
          <a:bodyPr wrap="square" lIns="0" tIns="0" rIns="0" bIns="0" rtlCol="0" anchor="ctr"/>
          <a:lstStyle/>
          <a:p>
            <a:pPr indent="0" marL="0">
              <a:buNone/>
            </a:pPr>
            <a:r>
              <a:rPr lang="en-US" sz="1400" b="1" dirty="0">
                <a:solidFill>
                  <a:srgbClr val="0067E5"/>
                </a:solidFill>
                <a:latin typeface="Calibri" pitchFamily="34" charset="0"/>
                <a:ea typeface="Calibri" pitchFamily="34" charset="-122"/>
                <a:cs typeface="Calibri" pitchFamily="34" charset="-120"/>
              </a:rPr>
              <a:t>Next: one minute live</a:t>
            </a:r>
            <a:endParaRPr lang="en-US" sz="1400" dirty="0"/>
          </a:p>
        </p:txBody>
      </p:sp>
      <p:sp>
        <p:nvSpPr>
          <p:cNvPr id="21" name="Text 19"/>
          <p:cNvSpPr txBox="1"/>
          <p:nvPr/>
        </p:nvSpPr>
        <p:spPr>
          <a:xfrm>
            <a:off x="1005840" y="5596128"/>
            <a:ext cx="10149840" cy="548640"/>
          </a:xfrm>
          <a:prstGeom prst="rect">
            <a:avLst/>
          </a:prstGeom>
          <a:noFill/>
          <a:ln/>
        </p:spPr>
        <p:txBody>
          <a:bodyPr wrap="square" lIns="0" tIns="0" rIns="0" bIns="0" rtlCol="0" anchor="ctr"/>
          <a:lstStyle/>
          <a:p>
            <a:pPr indent="0" marL="0">
              <a:buNone/>
            </a:pPr>
            <a:r>
              <a:rPr lang="en-US" sz="1350" dirty="0">
                <a:solidFill>
                  <a:srgbClr val="C6D4E6"/>
                </a:solidFill>
                <a:latin typeface="Calibri" pitchFamily="34" charset="0"/>
                <a:ea typeface="Calibri" pitchFamily="34" charset="-122"/>
                <a:cs typeface="Calibri" pitchFamily="34" charset="-120"/>
              </a:rPr>
              <a:t>Watch the agent reconsider a cheaper strategy, meet an unknown supplier, settle on XRPL Testnet, and return a booking confirmation.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Trip Rescue</dc:title>
  <dc:subject>PptxGenJS Presentation</dc:subject>
  <dc:creator>Team Peanutss</dc:creator>
  <cp:lastModifiedBy>Team Peanutss</cp:lastModifiedBy>
  <cp:revision>1</cp:revision>
  <dcterms:created xsi:type="dcterms:W3CDTF">2026-09-05T08:26:31Z</dcterms:created>
  <dcterms:modified xsi:type="dcterms:W3CDTF">2026-09-05T08:26:31Z</dcterms:modified>
</cp:coreProperties>
</file>