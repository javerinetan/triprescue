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 Rescue. When one booking breaks, we fix the whole trip. Two of us, Javerine and Min Xie, Team Peanutss.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travellers assemble a trip from unrelated providers. Each provider only understands its own booking. When something breaks, the traveller has to do the integration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cascade. One cancellation, and three of five bookings are broken, two more at risk. Our engine computes this deterministically and the tests pin these exact five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claiming nobody solves flight disruption. Freebird did it and was acquired. Navan does it for corporate. The gap is that all of them stop at one provider's booking. Nobody reasons across independently booked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trust model. You are not approving every transaction, and the agent is not unlimited. You authorise a strategy and its boundaries; inside them the agent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differentiator and the live moment in the demo. Same disruption, change one input, and the agent reaches a different economic decision and pays a different supplier on-chain.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not Stripe. The point is not that blockchain is cheaper. It is that no account, no key and no checkout exist between our agent and a supplier it just discovered.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steps. The important design choice is step four and five: the agent signs but does not submit. The supplier submits, waits for validation, and re-verifies on the ledger before releasing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Safeguards you cannot break on demand are just claims. We ship a fault injector. Break it live: money does not move, nothing is delivered, and the reserved budget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Testnet transactions, all validated. Note the third: the business priority run settles a different amount to a different supplier, because the agent reached a different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B2C alone is weak because disruption is infrequent. The stronger route is B2B2C. Insurers pay claims, card issuers compete on travel benefits, OTAs lose customers to a ruined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north star. Remove the agent, or remove autonomous payment, and this product stops working. That is the test the challenge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640080" y="1481328"/>
            <a:ext cx="182880" cy="182880"/>
          </a:xfrm>
          <a:prstGeom prst="ellipse">
            <a:avLst/>
          </a:prstGeom>
          <a:solidFill>
            <a:srgbClr val="D14B4B"/>
          </a:solidFill>
          <a:ln/>
        </p:spPr>
      </p:sp>
      <p:sp>
        <p:nvSpPr>
          <p:cNvPr id="3" name="Shape 1"/>
          <p:cNvSpPr/>
          <p:nvPr/>
        </p:nvSpPr>
        <p:spPr>
          <a:xfrm>
            <a:off x="822960" y="1572768"/>
            <a:ext cx="237744" cy="0"/>
          </a:xfrm>
          <a:prstGeom prst="line">
            <a:avLst/>
          </a:prstGeom>
          <a:noFill/>
          <a:ln w="19050">
            <a:solidFill>
              <a:srgbClr val="3A4A5F"/>
            </a:solidFill>
            <a:prstDash val="solid"/>
          </a:ln>
        </p:spPr>
      </p:sp>
      <p:sp>
        <p:nvSpPr>
          <p:cNvPr id="4" name="Shape 2"/>
          <p:cNvSpPr/>
          <p:nvPr/>
        </p:nvSpPr>
        <p:spPr>
          <a:xfrm>
            <a:off x="1060704" y="1481328"/>
            <a:ext cx="182880" cy="182880"/>
          </a:xfrm>
          <a:prstGeom prst="ellipse">
            <a:avLst/>
          </a:prstGeom>
          <a:solidFill>
            <a:srgbClr val="D14B4B"/>
          </a:solidFill>
          <a:ln/>
        </p:spPr>
      </p:sp>
      <p:sp>
        <p:nvSpPr>
          <p:cNvPr id="5" name="Shape 3"/>
          <p:cNvSpPr/>
          <p:nvPr/>
        </p:nvSpPr>
        <p:spPr>
          <a:xfrm>
            <a:off x="1243584" y="1572768"/>
            <a:ext cx="237744" cy="0"/>
          </a:xfrm>
          <a:prstGeom prst="line">
            <a:avLst/>
          </a:prstGeom>
          <a:noFill/>
          <a:ln w="19050">
            <a:solidFill>
              <a:srgbClr val="3A4A5F"/>
            </a:solidFill>
            <a:prstDash val="solid"/>
          </a:ln>
        </p:spPr>
      </p:sp>
      <p:sp>
        <p:nvSpPr>
          <p:cNvPr id="6" name="Shape 4"/>
          <p:cNvSpPr/>
          <p:nvPr/>
        </p:nvSpPr>
        <p:spPr>
          <a:xfrm>
            <a:off x="1481328" y="1481328"/>
            <a:ext cx="182880" cy="182880"/>
          </a:xfrm>
          <a:prstGeom prst="ellipse">
            <a:avLst/>
          </a:prstGeom>
          <a:solidFill>
            <a:srgbClr val="D99A2B"/>
          </a:solidFill>
          <a:ln/>
        </p:spPr>
      </p:sp>
      <p:sp>
        <p:nvSpPr>
          <p:cNvPr id="7" name="Shape 5"/>
          <p:cNvSpPr/>
          <p:nvPr/>
        </p:nvSpPr>
        <p:spPr>
          <a:xfrm>
            <a:off x="1664208" y="1572768"/>
            <a:ext cx="237744" cy="0"/>
          </a:xfrm>
          <a:prstGeom prst="line">
            <a:avLst/>
          </a:prstGeom>
          <a:noFill/>
          <a:ln w="19050">
            <a:solidFill>
              <a:srgbClr val="3A4A5F"/>
            </a:solidFill>
            <a:prstDash val="solid"/>
          </a:ln>
        </p:spPr>
      </p:sp>
      <p:sp>
        <p:nvSpPr>
          <p:cNvPr id="8" name="Shape 6"/>
          <p:cNvSpPr/>
          <p:nvPr/>
        </p:nvSpPr>
        <p:spPr>
          <a:xfrm>
            <a:off x="1901952" y="1481328"/>
            <a:ext cx="182880" cy="182880"/>
          </a:xfrm>
          <a:prstGeom prst="ellipse">
            <a:avLst/>
          </a:prstGeom>
          <a:solidFill>
            <a:srgbClr val="D99A2B"/>
          </a:solidFill>
          <a:ln/>
        </p:spPr>
      </p:sp>
      <p:sp>
        <p:nvSpPr>
          <p:cNvPr id="9" name="Shape 7"/>
          <p:cNvSpPr/>
          <p:nvPr/>
        </p:nvSpPr>
        <p:spPr>
          <a:xfrm>
            <a:off x="2084832" y="1572768"/>
            <a:ext cx="237744" cy="0"/>
          </a:xfrm>
          <a:prstGeom prst="line">
            <a:avLst/>
          </a:prstGeom>
          <a:noFill/>
          <a:ln w="19050">
            <a:solidFill>
              <a:srgbClr val="3A4A5F"/>
            </a:solidFill>
            <a:prstDash val="solid"/>
          </a:ln>
        </p:spPr>
      </p:sp>
      <p:sp>
        <p:nvSpPr>
          <p:cNvPr id="10" name="Shape 8"/>
          <p:cNvSpPr/>
          <p:nvPr/>
        </p:nvSpPr>
        <p:spPr>
          <a:xfrm>
            <a:off x="2322576" y="1481328"/>
            <a:ext cx="182880" cy="182880"/>
          </a:xfrm>
          <a:prstGeom prst="ellipse">
            <a:avLst/>
          </a:prstGeom>
          <a:solidFill>
            <a:srgbClr val="D14B4B"/>
          </a:solidFill>
          <a:ln/>
        </p:spPr>
      </p:sp>
      <p:sp>
        <p:nvSpPr>
          <p:cNvPr id="11" name="Text 9"/>
          <p:cNvSpPr txBox="1"/>
          <p:nvPr/>
        </p:nvSpPr>
        <p:spPr>
          <a:xfrm>
            <a:off x="640080" y="1965960"/>
            <a:ext cx="10881360" cy="123444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Trip Rescue</a:t>
            </a:r>
            <a:endParaRPr lang="en-US" sz="6800" dirty="0"/>
          </a:p>
        </p:txBody>
      </p:sp>
      <p:sp>
        <p:nvSpPr>
          <p:cNvPr id="12" name="Text 10"/>
          <p:cNvSpPr txBox="1"/>
          <p:nvPr/>
        </p:nvSpPr>
        <p:spPr>
          <a:xfrm>
            <a:off x="640080" y="3200400"/>
            <a:ext cx="10881360" cy="548640"/>
          </a:xfrm>
          <a:prstGeom prst="rect">
            <a:avLst/>
          </a:prstGeom>
          <a:noFill/>
          <a:ln/>
        </p:spPr>
        <p:txBody>
          <a:bodyPr wrap="square" lIns="0" tIns="0" rIns="0" bIns="0" rtlCol="0" anchor="ctr"/>
          <a:lstStyle/>
          <a:p>
            <a:pPr indent="0" marL="0">
              <a:buNone/>
            </a:pPr>
            <a:r>
              <a:rPr lang="en-US" sz="2500" dirty="0">
                <a:solidFill>
                  <a:srgbClr val="C6D4E6"/>
                </a:solidFill>
                <a:latin typeface="Calibri" pitchFamily="34" charset="0"/>
                <a:ea typeface="Calibri" pitchFamily="34" charset="-122"/>
                <a:cs typeface="Calibri" pitchFamily="34" charset="-120"/>
              </a:rPr>
              <a:t>When one booking breaks, fix the whole trip.</a:t>
            </a:r>
            <a:endParaRPr lang="en-US" sz="2500" dirty="0"/>
          </a:p>
        </p:txBody>
      </p:sp>
      <p:sp>
        <p:nvSpPr>
          <p:cNvPr id="13" name="Text 11"/>
          <p:cNvSpPr txBox="1"/>
          <p:nvPr/>
        </p:nvSpPr>
        <p:spPr>
          <a:xfrm>
            <a:off x="640080" y="3794760"/>
            <a:ext cx="9144000" cy="411480"/>
          </a:xfrm>
          <a:prstGeom prst="rect">
            <a:avLst/>
          </a:prstGeom>
          <a:noFill/>
          <a:ln/>
        </p:spPr>
        <p:txBody>
          <a:bodyPr wrap="square" lIns="0" tIns="0" rIns="0" bIns="0" rtlCol="0" anchor="ctr"/>
          <a:lstStyle/>
          <a:p>
            <a:pPr indent="0" marL="0">
              <a:buNone/>
            </a:pPr>
            <a:r>
              <a:rPr lang="en-US" sz="1500" i="1" dirty="0">
                <a:solidFill>
                  <a:srgbClr val="5D6B7C"/>
                </a:solidFill>
                <a:latin typeface="Calibri" pitchFamily="34" charset="0"/>
                <a:ea typeface="Calibri" pitchFamily="34" charset="-122"/>
                <a:cs typeface="Calibri" pitchFamily="34" charset="-120"/>
              </a:rPr>
              <a:t>Travel providers understand their booking. Trip Rescue understands your trip.</a:t>
            </a:r>
            <a:endParaRPr lang="en-US" sz="1500" dirty="0"/>
          </a:p>
        </p:txBody>
      </p:sp>
      <p:sp>
        <p:nvSpPr>
          <p:cNvPr id="14" name="Shape 12"/>
          <p:cNvSpPr/>
          <p:nvPr/>
        </p:nvSpPr>
        <p:spPr>
          <a:xfrm>
            <a:off x="640080" y="4937760"/>
            <a:ext cx="2926080" cy="0"/>
          </a:xfrm>
          <a:prstGeom prst="line">
            <a:avLst/>
          </a:prstGeom>
          <a:noFill/>
          <a:ln w="12700">
            <a:solidFill>
              <a:srgbClr val="31415A"/>
            </a:solidFill>
            <a:prstDash val="solid"/>
          </a:ln>
        </p:spPr>
      </p:sp>
      <p:sp>
        <p:nvSpPr>
          <p:cNvPr id="15" name="Text 13"/>
          <p:cNvSpPr txBox="1"/>
          <p:nvPr/>
        </p:nvSpPr>
        <p:spPr>
          <a:xfrm>
            <a:off x="640080" y="5120640"/>
            <a:ext cx="7315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Team Peanutss   ·   Javerine Tan   ·   Min Xie</a:t>
            </a:r>
            <a:endParaRPr lang="en-US" sz="1500" dirty="0"/>
          </a:p>
        </p:txBody>
      </p:sp>
      <p:sp>
        <p:nvSpPr>
          <p:cNvPr id="16" name="Text 14"/>
          <p:cNvSpPr txBox="1"/>
          <p:nvPr/>
        </p:nvSpPr>
        <p:spPr>
          <a:xfrm>
            <a:off x="640080" y="5468112"/>
            <a:ext cx="9144000" cy="3200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SingHacks 2026   ·   Ripple Challenge   ·   AI-native business on the XRP Ledger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You didn't buy a trip. You bought seven things that depend on each other.</a:t>
            </a:r>
            <a:endParaRPr lang="en-US" sz="3400" dirty="0"/>
          </a:p>
        </p:txBody>
      </p:sp>
      <p:sp>
        <p:nvSpPr>
          <p:cNvPr id="4" name="Shape 2"/>
          <p:cNvSpPr/>
          <p:nvPr/>
        </p:nvSpPr>
        <p:spPr>
          <a:xfrm>
            <a:off x="640080" y="1874520"/>
            <a:ext cx="1353312" cy="1051560"/>
          </a:xfrm>
          <a:prstGeom prst="roundRect">
            <a:avLst>
              <a:gd name="adj" fmla="val 5217"/>
            </a:avLst>
          </a:prstGeom>
          <a:solidFill>
            <a:srgbClr val="F2F5F8"/>
          </a:solidFill>
          <a:ln w="12700">
            <a:solidFill>
              <a:srgbClr val="DCE3EA"/>
            </a:solidFill>
            <a:prstDash val="solid"/>
          </a:ln>
        </p:spPr>
      </p:sp>
      <p:sp>
        <p:nvSpPr>
          <p:cNvPr id="5" name="Text 3"/>
          <p:cNvSpPr txBox="1"/>
          <p:nvPr/>
        </p:nvSpPr>
        <p:spPr>
          <a:xfrm>
            <a:off x="749808" y="2029968"/>
            <a:ext cx="1133856" cy="274320"/>
          </a:xfrm>
          <a:prstGeom prst="rect">
            <a:avLst/>
          </a:prstGeom>
          <a:noFill/>
          <a:ln/>
        </p:spPr>
        <p:txBody>
          <a:bodyPr wrap="square" lIns="0" tIns="0" rIns="0" bIns="0" rtlCol="0" anchor="ctr"/>
          <a:lstStyle/>
          <a:p>
            <a:pPr indent="0" marL="0">
              <a:buNone/>
            </a:pPr>
            <a:r>
              <a:rPr lang="en-US" sz="1200" b="1" dirty="0">
                <a:solidFill>
                  <a:srgbClr val="141A1F"/>
                </a:solidFill>
                <a:latin typeface="Calibri" pitchFamily="34" charset="0"/>
                <a:ea typeface="Calibri" pitchFamily="34" charset="-122"/>
                <a:cs typeface="Calibri" pitchFamily="34" charset="-120"/>
              </a:rPr>
              <a:t>Flight out</a:t>
            </a:r>
            <a:endParaRPr lang="en-US" sz="1200" dirty="0"/>
          </a:p>
        </p:txBody>
      </p:sp>
      <p:sp>
        <p:nvSpPr>
          <p:cNvPr id="6" name="Text 4"/>
          <p:cNvSpPr txBox="1"/>
          <p:nvPr/>
        </p:nvSpPr>
        <p:spPr>
          <a:xfrm>
            <a:off x="749808" y="2322576"/>
            <a:ext cx="1133856" cy="457200"/>
          </a:xfrm>
          <a:prstGeom prst="rect">
            <a:avLst/>
          </a:prstGeom>
          <a:noFill/>
          <a:ln/>
        </p:spPr>
        <p:txBody>
          <a:bodyPr wrap="square" lIns="0" tIns="0" rIns="0" bIns="0" rtlCol="0" anchor="ctr"/>
          <a:lstStyle/>
          <a:p>
            <a:pPr indent="0" marL="0">
              <a:buNone/>
            </a:pPr>
            <a:r>
              <a:rPr lang="en-US" sz="950" dirty="0">
                <a:solidFill>
                  <a:srgbClr val="5D6B7C"/>
                </a:solidFill>
                <a:latin typeface="Calibri" pitchFamily="34" charset="0"/>
                <a:ea typeface="Calibri" pitchFamily="34" charset="-122"/>
                <a:cs typeface="Calibri" pitchFamily="34" charset="-120"/>
              </a:rPr>
              <a:t>Demo Air</a:t>
            </a:r>
            <a:endParaRPr lang="en-US" sz="950" dirty="0"/>
          </a:p>
        </p:txBody>
      </p:sp>
      <p:sp>
        <p:nvSpPr>
          <p:cNvPr id="7" name="Text 5"/>
          <p:cNvSpPr txBox="1"/>
          <p:nvPr/>
        </p:nvSpPr>
        <p:spPr>
          <a:xfrm>
            <a:off x="1975104" y="2240280"/>
            <a:ext cx="274320" cy="274320"/>
          </a:xfrm>
          <a:prstGeom prst="rect">
            <a:avLst/>
          </a:prstGeom>
          <a:noFill/>
          <a:ln/>
        </p:spPr>
        <p:txBody>
          <a:bodyPr wrap="square" lIns="0" tIns="0" rIns="0" bIns="0" rtlCol="0" anchor="ctr"/>
          <a:lstStyle/>
          <a:p>
            <a:pPr algn="ctr" indent="0" marL="0">
              <a:buNone/>
            </a:pPr>
            <a:r>
              <a:rPr lang="en-US" sz="1400" dirty="0">
                <a:solidFill>
                  <a:srgbClr val="5D6B7C"/>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2231136" y="1874520"/>
            <a:ext cx="1353312" cy="1051560"/>
          </a:xfrm>
          <a:prstGeom prst="roundRect">
            <a:avLst>
              <a:gd name="adj" fmla="val 5217"/>
            </a:avLst>
          </a:prstGeom>
          <a:solidFill>
            <a:srgbClr val="F2F5F8"/>
          </a:solidFill>
          <a:ln w="12700">
            <a:solidFill>
              <a:srgbClr val="DCE3EA"/>
            </a:solidFill>
            <a:prstDash val="solid"/>
          </a:ln>
        </p:spPr>
      </p:sp>
      <p:sp>
        <p:nvSpPr>
          <p:cNvPr id="9" name="Text 7"/>
          <p:cNvSpPr txBox="1"/>
          <p:nvPr/>
        </p:nvSpPr>
        <p:spPr>
          <a:xfrm>
            <a:off x="2340864" y="2029968"/>
            <a:ext cx="1133856" cy="274320"/>
          </a:xfrm>
          <a:prstGeom prst="rect">
            <a:avLst/>
          </a:prstGeom>
          <a:noFill/>
          <a:ln/>
        </p:spPr>
        <p:txBody>
          <a:bodyPr wrap="square" lIns="0" tIns="0" rIns="0" bIns="0" rtlCol="0" anchor="ctr"/>
          <a:lstStyle/>
          <a:p>
            <a:pPr indent="0" marL="0">
              <a:buNone/>
            </a:pPr>
            <a:r>
              <a:rPr lang="en-US" sz="1200" b="1" dirty="0">
                <a:solidFill>
                  <a:srgbClr val="141A1F"/>
                </a:solidFill>
                <a:latin typeface="Calibri" pitchFamily="34" charset="0"/>
                <a:ea typeface="Calibri" pitchFamily="34" charset="-122"/>
                <a:cs typeface="Calibri" pitchFamily="34" charset="-120"/>
              </a:rPr>
              <a:t>Airport bus</a:t>
            </a:r>
            <a:endParaRPr lang="en-US" sz="1200" dirty="0"/>
          </a:p>
        </p:txBody>
      </p:sp>
      <p:sp>
        <p:nvSpPr>
          <p:cNvPr id="10" name="Text 8"/>
          <p:cNvSpPr txBox="1"/>
          <p:nvPr/>
        </p:nvSpPr>
        <p:spPr>
          <a:xfrm>
            <a:off x="2340864" y="2322576"/>
            <a:ext cx="1133856" cy="457200"/>
          </a:xfrm>
          <a:prstGeom prst="rect">
            <a:avLst/>
          </a:prstGeom>
          <a:noFill/>
          <a:ln/>
        </p:spPr>
        <p:txBody>
          <a:bodyPr wrap="square" lIns="0" tIns="0" rIns="0" bIns="0" rtlCol="0" anchor="ctr"/>
          <a:lstStyle/>
          <a:p>
            <a:pPr indent="0" marL="0">
              <a:buNone/>
            </a:pPr>
            <a:r>
              <a:rPr lang="en-US" sz="950" dirty="0">
                <a:solidFill>
                  <a:srgbClr val="5D6B7C"/>
                </a:solidFill>
                <a:latin typeface="Calibri" pitchFamily="34" charset="0"/>
                <a:ea typeface="Calibri" pitchFamily="34" charset="-122"/>
                <a:cs typeface="Calibri" pitchFamily="34" charset="-120"/>
              </a:rPr>
              <a:t>Hakone Express</a:t>
            </a:r>
            <a:endParaRPr lang="en-US" sz="950" dirty="0"/>
          </a:p>
        </p:txBody>
      </p:sp>
      <p:sp>
        <p:nvSpPr>
          <p:cNvPr id="11" name="Text 9"/>
          <p:cNvSpPr txBox="1"/>
          <p:nvPr/>
        </p:nvSpPr>
        <p:spPr>
          <a:xfrm>
            <a:off x="3566160" y="2240280"/>
            <a:ext cx="274320" cy="274320"/>
          </a:xfrm>
          <a:prstGeom prst="rect">
            <a:avLst/>
          </a:prstGeom>
          <a:noFill/>
          <a:ln/>
        </p:spPr>
        <p:txBody>
          <a:bodyPr wrap="square" lIns="0" tIns="0" rIns="0" bIns="0" rtlCol="0" anchor="ctr"/>
          <a:lstStyle/>
          <a:p>
            <a:pPr algn="ctr" indent="0" marL="0">
              <a:buNone/>
            </a:pPr>
            <a:r>
              <a:rPr lang="en-US" sz="1400" dirty="0">
                <a:solidFill>
                  <a:srgbClr val="5D6B7C"/>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3822192" y="1874520"/>
            <a:ext cx="1353312" cy="1051560"/>
          </a:xfrm>
          <a:prstGeom prst="roundRect">
            <a:avLst>
              <a:gd name="adj" fmla="val 5217"/>
            </a:avLst>
          </a:prstGeom>
          <a:solidFill>
            <a:srgbClr val="F2F5F8"/>
          </a:solidFill>
          <a:ln w="12700">
            <a:solidFill>
              <a:srgbClr val="DCE3EA"/>
            </a:solidFill>
            <a:prstDash val="solid"/>
          </a:ln>
        </p:spPr>
      </p:sp>
      <p:sp>
        <p:nvSpPr>
          <p:cNvPr id="13" name="Text 11"/>
          <p:cNvSpPr txBox="1"/>
          <p:nvPr/>
        </p:nvSpPr>
        <p:spPr>
          <a:xfrm>
            <a:off x="3931920" y="2029968"/>
            <a:ext cx="1133856" cy="274320"/>
          </a:xfrm>
          <a:prstGeom prst="rect">
            <a:avLst/>
          </a:prstGeom>
          <a:noFill/>
          <a:ln/>
        </p:spPr>
        <p:txBody>
          <a:bodyPr wrap="square" lIns="0" tIns="0" rIns="0" bIns="0" rtlCol="0" anchor="ctr"/>
          <a:lstStyle/>
          <a:p>
            <a:pPr indent="0" marL="0">
              <a:buNone/>
            </a:pPr>
            <a:r>
              <a:rPr lang="en-US" sz="1200" b="1" dirty="0">
                <a:solidFill>
                  <a:srgbClr val="141A1F"/>
                </a:solidFill>
                <a:latin typeface="Calibri" pitchFamily="34" charset="0"/>
                <a:ea typeface="Calibri" pitchFamily="34" charset="-122"/>
                <a:cs typeface="Calibri" pitchFamily="34" charset="-120"/>
              </a:rPr>
              <a:t>Hotel</a:t>
            </a:r>
            <a:endParaRPr lang="en-US" sz="1200" dirty="0"/>
          </a:p>
        </p:txBody>
      </p:sp>
      <p:sp>
        <p:nvSpPr>
          <p:cNvPr id="14" name="Text 12"/>
          <p:cNvSpPr txBox="1"/>
          <p:nvPr/>
        </p:nvSpPr>
        <p:spPr>
          <a:xfrm>
            <a:off x="3931920" y="2322576"/>
            <a:ext cx="1133856" cy="457200"/>
          </a:xfrm>
          <a:prstGeom prst="rect">
            <a:avLst/>
          </a:prstGeom>
          <a:noFill/>
          <a:ln/>
        </p:spPr>
        <p:txBody>
          <a:bodyPr wrap="square" lIns="0" tIns="0" rIns="0" bIns="0" rtlCol="0" anchor="ctr"/>
          <a:lstStyle/>
          <a:p>
            <a:pPr indent="0" marL="0">
              <a:buNone/>
            </a:pPr>
            <a:r>
              <a:rPr lang="en-US" sz="950" dirty="0">
                <a:solidFill>
                  <a:srgbClr val="5D6B7C"/>
                </a:solidFill>
                <a:latin typeface="Calibri" pitchFamily="34" charset="0"/>
                <a:ea typeface="Calibri" pitchFamily="34" charset="-122"/>
                <a:cs typeface="Calibri" pitchFamily="34" charset="-120"/>
              </a:rPr>
              <a:t>Hakone Springs</a:t>
            </a:r>
            <a:endParaRPr lang="en-US" sz="950" dirty="0"/>
          </a:p>
        </p:txBody>
      </p:sp>
      <p:sp>
        <p:nvSpPr>
          <p:cNvPr id="15" name="Text 13"/>
          <p:cNvSpPr txBox="1"/>
          <p:nvPr/>
        </p:nvSpPr>
        <p:spPr>
          <a:xfrm>
            <a:off x="5157216" y="2240280"/>
            <a:ext cx="274320" cy="274320"/>
          </a:xfrm>
          <a:prstGeom prst="rect">
            <a:avLst/>
          </a:prstGeom>
          <a:noFill/>
          <a:ln/>
        </p:spPr>
        <p:txBody>
          <a:bodyPr wrap="square" lIns="0" tIns="0" rIns="0" bIns="0" rtlCol="0" anchor="ctr"/>
          <a:lstStyle/>
          <a:p>
            <a:pPr algn="ctr" indent="0" marL="0">
              <a:buNone/>
            </a:pPr>
            <a:r>
              <a:rPr lang="en-US" sz="1400" dirty="0">
                <a:solidFill>
                  <a:srgbClr val="5D6B7C"/>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5413248" y="1874520"/>
            <a:ext cx="1353312" cy="1051560"/>
          </a:xfrm>
          <a:prstGeom prst="roundRect">
            <a:avLst>
              <a:gd name="adj" fmla="val 5217"/>
            </a:avLst>
          </a:prstGeom>
          <a:solidFill>
            <a:srgbClr val="F2F5F8"/>
          </a:solidFill>
          <a:ln w="12700">
            <a:solidFill>
              <a:srgbClr val="DCE3EA"/>
            </a:solidFill>
            <a:prstDash val="solid"/>
          </a:ln>
        </p:spPr>
      </p:sp>
      <p:sp>
        <p:nvSpPr>
          <p:cNvPr id="17" name="Text 15"/>
          <p:cNvSpPr txBox="1"/>
          <p:nvPr/>
        </p:nvSpPr>
        <p:spPr>
          <a:xfrm>
            <a:off x="5522976" y="2029968"/>
            <a:ext cx="1133856" cy="274320"/>
          </a:xfrm>
          <a:prstGeom prst="rect">
            <a:avLst/>
          </a:prstGeom>
          <a:noFill/>
          <a:ln/>
        </p:spPr>
        <p:txBody>
          <a:bodyPr wrap="square" lIns="0" tIns="0" rIns="0" bIns="0" rtlCol="0" anchor="ctr"/>
          <a:lstStyle/>
          <a:p>
            <a:pPr indent="0" marL="0">
              <a:buNone/>
            </a:pPr>
            <a:r>
              <a:rPr lang="en-US" sz="1200" b="1" dirty="0">
                <a:solidFill>
                  <a:srgbClr val="141A1F"/>
                </a:solidFill>
                <a:latin typeface="Calibri" pitchFamily="34" charset="0"/>
                <a:ea typeface="Calibri" pitchFamily="34" charset="-122"/>
                <a:cs typeface="Calibri" pitchFamily="34" charset="-120"/>
              </a:rPr>
              <a:t>Rental car</a:t>
            </a:r>
            <a:endParaRPr lang="en-US" sz="1200" dirty="0"/>
          </a:p>
        </p:txBody>
      </p:sp>
      <p:sp>
        <p:nvSpPr>
          <p:cNvPr id="18" name="Text 16"/>
          <p:cNvSpPr txBox="1"/>
          <p:nvPr/>
        </p:nvSpPr>
        <p:spPr>
          <a:xfrm>
            <a:off x="5522976" y="2322576"/>
            <a:ext cx="1133856" cy="457200"/>
          </a:xfrm>
          <a:prstGeom prst="rect">
            <a:avLst/>
          </a:prstGeom>
          <a:noFill/>
          <a:ln/>
        </p:spPr>
        <p:txBody>
          <a:bodyPr wrap="square" lIns="0" tIns="0" rIns="0" bIns="0" rtlCol="0" anchor="ctr"/>
          <a:lstStyle/>
          <a:p>
            <a:pPr indent="0" marL="0">
              <a:buNone/>
            </a:pPr>
            <a:r>
              <a:rPr lang="en-US" sz="950" dirty="0">
                <a:solidFill>
                  <a:srgbClr val="5D6B7C"/>
                </a:solidFill>
                <a:latin typeface="Calibri" pitchFamily="34" charset="0"/>
                <a:ea typeface="Calibri" pitchFamily="34" charset="-122"/>
                <a:cs typeface="Calibri" pitchFamily="34" charset="-120"/>
              </a:rPr>
              <a:t>Hakone Drive</a:t>
            </a:r>
            <a:endParaRPr lang="en-US" sz="950" dirty="0"/>
          </a:p>
        </p:txBody>
      </p:sp>
      <p:sp>
        <p:nvSpPr>
          <p:cNvPr id="19" name="Text 17"/>
          <p:cNvSpPr txBox="1"/>
          <p:nvPr/>
        </p:nvSpPr>
        <p:spPr>
          <a:xfrm>
            <a:off x="6748272" y="2240280"/>
            <a:ext cx="274320" cy="274320"/>
          </a:xfrm>
          <a:prstGeom prst="rect">
            <a:avLst/>
          </a:prstGeom>
          <a:noFill/>
          <a:ln/>
        </p:spPr>
        <p:txBody>
          <a:bodyPr wrap="square" lIns="0" tIns="0" rIns="0" bIns="0" rtlCol="0" anchor="ctr"/>
          <a:lstStyle/>
          <a:p>
            <a:pPr algn="ctr" indent="0" marL="0">
              <a:buNone/>
            </a:pPr>
            <a:r>
              <a:rPr lang="en-US" sz="1400" dirty="0">
                <a:solidFill>
                  <a:srgbClr val="5D6B7C"/>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7004304" y="1874520"/>
            <a:ext cx="1353312" cy="1051560"/>
          </a:xfrm>
          <a:prstGeom prst="roundRect">
            <a:avLst>
              <a:gd name="adj" fmla="val 5217"/>
            </a:avLst>
          </a:prstGeom>
          <a:solidFill>
            <a:srgbClr val="F2F5F8"/>
          </a:solidFill>
          <a:ln w="12700">
            <a:solidFill>
              <a:srgbClr val="DCE3EA"/>
            </a:solidFill>
            <a:prstDash val="solid"/>
          </a:ln>
        </p:spPr>
      </p:sp>
      <p:sp>
        <p:nvSpPr>
          <p:cNvPr id="21" name="Text 19"/>
          <p:cNvSpPr txBox="1"/>
          <p:nvPr/>
        </p:nvSpPr>
        <p:spPr>
          <a:xfrm>
            <a:off x="7114032" y="2029968"/>
            <a:ext cx="1133856" cy="274320"/>
          </a:xfrm>
          <a:prstGeom prst="rect">
            <a:avLst/>
          </a:prstGeom>
          <a:noFill/>
          <a:ln/>
        </p:spPr>
        <p:txBody>
          <a:bodyPr wrap="square" lIns="0" tIns="0" rIns="0" bIns="0" rtlCol="0" anchor="ctr"/>
          <a:lstStyle/>
          <a:p>
            <a:pPr indent="0" marL="0">
              <a:buNone/>
            </a:pPr>
            <a:r>
              <a:rPr lang="en-US" sz="1200" b="1" dirty="0">
                <a:solidFill>
                  <a:srgbClr val="141A1F"/>
                </a:solidFill>
                <a:latin typeface="Calibri" pitchFamily="34" charset="0"/>
                <a:ea typeface="Calibri" pitchFamily="34" charset="-122"/>
                <a:cs typeface="Calibri" pitchFamily="34" charset="-120"/>
              </a:rPr>
              <a:t>Activity</a:t>
            </a:r>
            <a:endParaRPr lang="en-US" sz="1200" dirty="0"/>
          </a:p>
        </p:txBody>
      </p:sp>
      <p:sp>
        <p:nvSpPr>
          <p:cNvPr id="22" name="Text 20"/>
          <p:cNvSpPr txBox="1"/>
          <p:nvPr/>
        </p:nvSpPr>
        <p:spPr>
          <a:xfrm>
            <a:off x="7114032" y="2322576"/>
            <a:ext cx="1133856" cy="457200"/>
          </a:xfrm>
          <a:prstGeom prst="rect">
            <a:avLst/>
          </a:prstGeom>
          <a:noFill/>
          <a:ln/>
        </p:spPr>
        <p:txBody>
          <a:bodyPr wrap="square" lIns="0" tIns="0" rIns="0" bIns="0" rtlCol="0" anchor="ctr"/>
          <a:lstStyle/>
          <a:p>
            <a:pPr indent="0" marL="0">
              <a:buNone/>
            </a:pPr>
            <a:r>
              <a:rPr lang="en-US" sz="950" dirty="0">
                <a:solidFill>
                  <a:srgbClr val="5D6B7C"/>
                </a:solidFill>
                <a:latin typeface="Calibri" pitchFamily="34" charset="0"/>
                <a:ea typeface="Calibri" pitchFamily="34" charset="-122"/>
                <a:cs typeface="Calibri" pitchFamily="34" charset="-120"/>
              </a:rPr>
              <a:t>Fuji Day Tours</a:t>
            </a:r>
            <a:endParaRPr lang="en-US" sz="950" dirty="0"/>
          </a:p>
        </p:txBody>
      </p:sp>
      <p:sp>
        <p:nvSpPr>
          <p:cNvPr id="23" name="Text 21"/>
          <p:cNvSpPr txBox="1"/>
          <p:nvPr/>
        </p:nvSpPr>
        <p:spPr>
          <a:xfrm>
            <a:off x="8339328" y="2240280"/>
            <a:ext cx="274320" cy="274320"/>
          </a:xfrm>
          <a:prstGeom prst="rect">
            <a:avLst/>
          </a:prstGeom>
          <a:noFill/>
          <a:ln/>
        </p:spPr>
        <p:txBody>
          <a:bodyPr wrap="square" lIns="0" tIns="0" rIns="0" bIns="0" rtlCol="0" anchor="ctr"/>
          <a:lstStyle/>
          <a:p>
            <a:pPr algn="ctr" indent="0" marL="0">
              <a:buNone/>
            </a:pPr>
            <a:r>
              <a:rPr lang="en-US" sz="1400" dirty="0">
                <a:solidFill>
                  <a:srgbClr val="5D6B7C"/>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8595360" y="1874520"/>
            <a:ext cx="1353312" cy="1051560"/>
          </a:xfrm>
          <a:prstGeom prst="roundRect">
            <a:avLst>
              <a:gd name="adj" fmla="val 5217"/>
            </a:avLst>
          </a:prstGeom>
          <a:solidFill>
            <a:srgbClr val="F2F5F8"/>
          </a:solidFill>
          <a:ln w="12700">
            <a:solidFill>
              <a:srgbClr val="DCE3EA"/>
            </a:solidFill>
            <a:prstDash val="solid"/>
          </a:ln>
        </p:spPr>
      </p:sp>
      <p:sp>
        <p:nvSpPr>
          <p:cNvPr id="25" name="Text 23"/>
          <p:cNvSpPr txBox="1"/>
          <p:nvPr/>
        </p:nvSpPr>
        <p:spPr>
          <a:xfrm>
            <a:off x="8705088" y="2029968"/>
            <a:ext cx="1133856" cy="274320"/>
          </a:xfrm>
          <a:prstGeom prst="rect">
            <a:avLst/>
          </a:prstGeom>
          <a:noFill/>
          <a:ln/>
        </p:spPr>
        <p:txBody>
          <a:bodyPr wrap="square" lIns="0" tIns="0" rIns="0" bIns="0" rtlCol="0" anchor="ctr"/>
          <a:lstStyle/>
          <a:p>
            <a:pPr indent="0" marL="0">
              <a:buNone/>
            </a:pPr>
            <a:r>
              <a:rPr lang="en-US" sz="1200" b="1" dirty="0">
                <a:solidFill>
                  <a:srgbClr val="141A1F"/>
                </a:solidFill>
                <a:latin typeface="Calibri" pitchFamily="34" charset="0"/>
                <a:ea typeface="Calibri" pitchFamily="34" charset="-122"/>
                <a:cs typeface="Calibri" pitchFamily="34" charset="-120"/>
              </a:rPr>
              <a:t>Transfer back</a:t>
            </a:r>
            <a:endParaRPr lang="en-US" sz="1200" dirty="0"/>
          </a:p>
        </p:txBody>
      </p:sp>
      <p:sp>
        <p:nvSpPr>
          <p:cNvPr id="26" name="Text 24"/>
          <p:cNvSpPr txBox="1"/>
          <p:nvPr/>
        </p:nvSpPr>
        <p:spPr>
          <a:xfrm>
            <a:off x="8705088" y="2322576"/>
            <a:ext cx="1133856" cy="457200"/>
          </a:xfrm>
          <a:prstGeom prst="rect">
            <a:avLst/>
          </a:prstGeom>
          <a:noFill/>
          <a:ln/>
        </p:spPr>
        <p:txBody>
          <a:bodyPr wrap="square" lIns="0" tIns="0" rIns="0" bIns="0" rtlCol="0" anchor="ctr"/>
          <a:lstStyle/>
          <a:p>
            <a:pPr indent="0" marL="0">
              <a:buNone/>
            </a:pPr>
            <a:r>
              <a:rPr lang="en-US" sz="950" dirty="0">
                <a:solidFill>
                  <a:srgbClr val="5D6B7C"/>
                </a:solidFill>
                <a:latin typeface="Calibri" pitchFamily="34" charset="0"/>
                <a:ea typeface="Calibri" pitchFamily="34" charset="-122"/>
                <a:cs typeface="Calibri" pitchFamily="34" charset="-120"/>
              </a:rPr>
              <a:t>Hakone Express</a:t>
            </a:r>
            <a:endParaRPr lang="en-US" sz="950" dirty="0"/>
          </a:p>
        </p:txBody>
      </p:sp>
      <p:sp>
        <p:nvSpPr>
          <p:cNvPr id="27" name="Text 25"/>
          <p:cNvSpPr txBox="1"/>
          <p:nvPr/>
        </p:nvSpPr>
        <p:spPr>
          <a:xfrm>
            <a:off x="9930384" y="2240280"/>
            <a:ext cx="274320" cy="274320"/>
          </a:xfrm>
          <a:prstGeom prst="rect">
            <a:avLst/>
          </a:prstGeom>
          <a:noFill/>
          <a:ln/>
        </p:spPr>
        <p:txBody>
          <a:bodyPr wrap="square" lIns="0" tIns="0" rIns="0" bIns="0" rtlCol="0" anchor="ctr"/>
          <a:lstStyle/>
          <a:p>
            <a:pPr algn="ctr" indent="0" marL="0">
              <a:buNone/>
            </a:pPr>
            <a:r>
              <a:rPr lang="en-US" sz="1400" dirty="0">
                <a:solidFill>
                  <a:srgbClr val="5D6B7C"/>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10186416" y="1874520"/>
            <a:ext cx="1353312" cy="1051560"/>
          </a:xfrm>
          <a:prstGeom prst="roundRect">
            <a:avLst>
              <a:gd name="adj" fmla="val 5217"/>
            </a:avLst>
          </a:prstGeom>
          <a:solidFill>
            <a:srgbClr val="F2F5F8"/>
          </a:solidFill>
          <a:ln w="12700">
            <a:solidFill>
              <a:srgbClr val="DCE3EA"/>
            </a:solidFill>
            <a:prstDash val="solid"/>
          </a:ln>
        </p:spPr>
      </p:sp>
      <p:sp>
        <p:nvSpPr>
          <p:cNvPr id="29" name="Text 27"/>
          <p:cNvSpPr txBox="1"/>
          <p:nvPr/>
        </p:nvSpPr>
        <p:spPr>
          <a:xfrm>
            <a:off x="10296144" y="2029968"/>
            <a:ext cx="1133856" cy="274320"/>
          </a:xfrm>
          <a:prstGeom prst="rect">
            <a:avLst/>
          </a:prstGeom>
          <a:noFill/>
          <a:ln/>
        </p:spPr>
        <p:txBody>
          <a:bodyPr wrap="square" lIns="0" tIns="0" rIns="0" bIns="0" rtlCol="0" anchor="ctr"/>
          <a:lstStyle/>
          <a:p>
            <a:pPr indent="0" marL="0">
              <a:buNone/>
            </a:pPr>
            <a:r>
              <a:rPr lang="en-US" sz="1200" b="1" dirty="0">
                <a:solidFill>
                  <a:srgbClr val="141A1F"/>
                </a:solidFill>
                <a:latin typeface="Calibri" pitchFamily="34" charset="0"/>
                <a:ea typeface="Calibri" pitchFamily="34" charset="-122"/>
                <a:cs typeface="Calibri" pitchFamily="34" charset="-120"/>
              </a:rPr>
              <a:t>Flight home</a:t>
            </a:r>
            <a:endParaRPr lang="en-US" sz="1200" dirty="0"/>
          </a:p>
        </p:txBody>
      </p:sp>
      <p:sp>
        <p:nvSpPr>
          <p:cNvPr id="30" name="Text 28"/>
          <p:cNvSpPr txBox="1"/>
          <p:nvPr/>
        </p:nvSpPr>
        <p:spPr>
          <a:xfrm>
            <a:off x="10296144" y="2322576"/>
            <a:ext cx="1133856" cy="457200"/>
          </a:xfrm>
          <a:prstGeom prst="rect">
            <a:avLst/>
          </a:prstGeom>
          <a:noFill/>
          <a:ln/>
        </p:spPr>
        <p:txBody>
          <a:bodyPr wrap="square" lIns="0" tIns="0" rIns="0" bIns="0" rtlCol="0" anchor="ctr"/>
          <a:lstStyle/>
          <a:p>
            <a:pPr indent="0" marL="0">
              <a:buNone/>
            </a:pPr>
            <a:r>
              <a:rPr lang="en-US" sz="950" dirty="0">
                <a:solidFill>
                  <a:srgbClr val="5D6B7C"/>
                </a:solidFill>
                <a:latin typeface="Calibri" pitchFamily="34" charset="0"/>
                <a:ea typeface="Calibri" pitchFamily="34" charset="-122"/>
                <a:cs typeface="Calibri" pitchFamily="34" charset="-120"/>
              </a:rPr>
              <a:t>Demo Air</a:t>
            </a:r>
            <a:endParaRPr lang="en-US" sz="950" dirty="0"/>
          </a:p>
        </p:txBody>
      </p:sp>
      <p:sp>
        <p:nvSpPr>
          <p:cNvPr id="31" name="Text 29"/>
          <p:cNvSpPr txBox="1"/>
          <p:nvPr/>
        </p:nvSpPr>
        <p:spPr>
          <a:xfrm>
            <a:off x="640080" y="3127248"/>
            <a:ext cx="10881360" cy="320040"/>
          </a:xfrm>
          <a:prstGeom prst="rect">
            <a:avLst/>
          </a:prstGeom>
          <a:noFill/>
          <a:ln/>
        </p:spPr>
        <p:txBody>
          <a:bodyPr wrap="square" lIns="0" tIns="0" rIns="0" bIns="0" rtlCol="0" anchor="ctr"/>
          <a:lstStyle/>
          <a:p>
            <a:pPr indent="0" marL="0">
              <a:buNone/>
            </a:pPr>
            <a:r>
              <a:rPr lang="en-US" sz="1400" i="1" dirty="0">
                <a:solidFill>
                  <a:srgbClr val="5D6B7C"/>
                </a:solidFill>
                <a:latin typeface="Calibri" pitchFamily="34" charset="0"/>
                <a:ea typeface="Calibri" pitchFamily="34" charset="-122"/>
                <a:cs typeface="Calibri" pitchFamily="34" charset="-120"/>
              </a:rPr>
              <a:t>Bought separately. Operationally inseparable.</a:t>
            </a:r>
            <a:endParaRPr lang="en-US" sz="1400" dirty="0"/>
          </a:p>
        </p:txBody>
      </p:sp>
      <p:sp>
        <p:nvSpPr>
          <p:cNvPr id="32" name="Shape 30"/>
          <p:cNvSpPr/>
          <p:nvPr/>
        </p:nvSpPr>
        <p:spPr>
          <a:xfrm>
            <a:off x="640080" y="3749040"/>
            <a:ext cx="5257800" cy="2194560"/>
          </a:xfrm>
          <a:prstGeom prst="roundRect">
            <a:avLst>
              <a:gd name="adj" fmla="val 2500"/>
            </a:avLst>
          </a:prstGeom>
          <a:solidFill>
            <a:srgbClr val="F2F5F8"/>
          </a:solidFill>
          <a:ln w="12700">
            <a:solidFill>
              <a:srgbClr val="DCE3EA"/>
            </a:solidFill>
            <a:prstDash val="solid"/>
          </a:ln>
        </p:spPr>
      </p:sp>
      <p:sp>
        <p:nvSpPr>
          <p:cNvPr id="33" name="Text 31"/>
          <p:cNvSpPr txBox="1"/>
          <p:nvPr/>
        </p:nvSpPr>
        <p:spPr>
          <a:xfrm>
            <a:off x="914400" y="3950208"/>
            <a:ext cx="4709160" cy="320040"/>
          </a:xfrm>
          <a:prstGeom prst="rect">
            <a:avLst/>
          </a:prstGeom>
          <a:noFill/>
          <a:ln/>
        </p:spPr>
        <p:txBody>
          <a:bodyPr wrap="square" lIns="0" tIns="0" rIns="0" bIns="0" rtlCol="0" anchor="ctr"/>
          <a:lstStyle/>
          <a:p>
            <a:pPr indent="0" marL="0">
              <a:buNone/>
            </a:pPr>
            <a:r>
              <a:rPr lang="en-US" sz="1700" b="1" dirty="0">
                <a:solidFill>
                  <a:srgbClr val="141A1F"/>
                </a:solidFill>
                <a:latin typeface="Calibri" pitchFamily="34" charset="0"/>
                <a:ea typeface="Calibri" pitchFamily="34" charset="-122"/>
                <a:cs typeface="Calibri" pitchFamily="34" charset="-120"/>
              </a:rPr>
              <a:t>Each provider sees one row</a:t>
            </a:r>
            <a:endParaRPr lang="en-US" sz="1700" dirty="0"/>
          </a:p>
        </p:txBody>
      </p:sp>
      <p:sp>
        <p:nvSpPr>
          <p:cNvPr id="34" name="Text 32"/>
          <p:cNvSpPr txBox="1"/>
          <p:nvPr/>
        </p:nvSpPr>
        <p:spPr>
          <a:xfrm>
            <a:off x="914400" y="4370832"/>
            <a:ext cx="4709160" cy="13716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5D6B7C"/>
                </a:solidFill>
                <a:latin typeface="Calibri" pitchFamily="34" charset="0"/>
                <a:ea typeface="Calibri" pitchFamily="34" charset="-122"/>
                <a:cs typeface="Calibri" pitchFamily="34" charset="-120"/>
              </a:rPr>
              <a:t>The airline knows about the flight.</a:t>
            </a:r>
            <a:endParaRPr lang="en-US" sz="1400" dirty="0"/>
          </a:p>
          <a:p>
            <a:pPr marL="342900" indent="-342900">
              <a:spcAft>
                <a:spcPts val="800"/>
              </a:spcAft>
              <a:buSzPct val="100000"/>
              <a:buChar char="•"/>
            </a:pPr>
            <a:r>
              <a:rPr lang="en-US" sz="1400" dirty="0">
                <a:solidFill>
                  <a:srgbClr val="5D6B7C"/>
                </a:solidFill>
                <a:latin typeface="Calibri" pitchFamily="34" charset="0"/>
                <a:ea typeface="Calibri" pitchFamily="34" charset="-122"/>
                <a:cs typeface="Calibri" pitchFamily="34" charset="-120"/>
              </a:rPr>
              <a:t>The hotel knows about the room.</a:t>
            </a:r>
            <a:endParaRPr lang="en-US" sz="1400" dirty="0"/>
          </a:p>
          <a:p>
            <a:pPr marL="342900" indent="-342900">
              <a:spcAft>
                <a:spcPts val="800"/>
              </a:spcAft>
              <a:buSzPct val="100000"/>
              <a:buChar char="•"/>
            </a:pPr>
            <a:r>
              <a:rPr lang="en-US" sz="1400" dirty="0">
                <a:solidFill>
                  <a:srgbClr val="5D6B7C"/>
                </a:solidFill>
                <a:latin typeface="Calibri" pitchFamily="34" charset="0"/>
                <a:ea typeface="Calibri" pitchFamily="34" charset="-122"/>
                <a:cs typeface="Calibri" pitchFamily="34" charset="-120"/>
              </a:rPr>
              <a:t>Nobody holds the dependencies between them.</a:t>
            </a:r>
            <a:endParaRPr lang="en-US" sz="1400" dirty="0"/>
          </a:p>
        </p:txBody>
      </p:sp>
      <p:sp>
        <p:nvSpPr>
          <p:cNvPr id="35" name="Shape 33"/>
          <p:cNvSpPr/>
          <p:nvPr/>
        </p:nvSpPr>
        <p:spPr>
          <a:xfrm>
            <a:off x="6263640" y="3749040"/>
            <a:ext cx="5257800" cy="2194560"/>
          </a:xfrm>
          <a:prstGeom prst="roundRect">
            <a:avLst>
              <a:gd name="adj" fmla="val 2500"/>
            </a:avLst>
          </a:prstGeom>
          <a:solidFill>
            <a:srgbClr val="0E1A2B"/>
          </a:solidFill>
          <a:ln w="12700">
            <a:solidFill>
              <a:srgbClr val="DCE3EA"/>
            </a:solidFill>
            <a:prstDash val="solid"/>
          </a:ln>
        </p:spPr>
      </p:sp>
      <p:sp>
        <p:nvSpPr>
          <p:cNvPr id="36" name="Text 34"/>
          <p:cNvSpPr txBox="1"/>
          <p:nvPr/>
        </p:nvSpPr>
        <p:spPr>
          <a:xfrm>
            <a:off x="6537960" y="3950208"/>
            <a:ext cx="470916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So the traveller becomes the integration layer</a:t>
            </a:r>
            <a:endParaRPr lang="en-US" sz="1700" dirty="0"/>
          </a:p>
        </p:txBody>
      </p:sp>
      <p:sp>
        <p:nvSpPr>
          <p:cNvPr id="37" name="Text 35"/>
          <p:cNvSpPr txBox="1"/>
          <p:nvPr/>
        </p:nvSpPr>
        <p:spPr>
          <a:xfrm>
            <a:off x="6537960" y="4526280"/>
            <a:ext cx="4709160" cy="12344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At 2am, in an airport, on a dying phone — working out what is still possible, what money is already lost, and what must be secured before anything is cancelled.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WHAT ACTUALLY HAPPENS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One cancellation. And it knows where to stop.</a:t>
            </a:r>
            <a:endParaRPr lang="en-US" sz="3400" dirty="0"/>
          </a:p>
        </p:txBody>
      </p:sp>
      <p:sp>
        <p:nvSpPr>
          <p:cNvPr id="4" name="Shape 2"/>
          <p:cNvSpPr/>
          <p:nvPr/>
        </p:nvSpPr>
        <p:spPr>
          <a:xfrm>
            <a:off x="740664" y="1883664"/>
            <a:ext cx="0" cy="3291840"/>
          </a:xfrm>
          <a:prstGeom prst="line">
            <a:avLst/>
          </a:prstGeom>
          <a:noFill/>
          <a:ln w="12700">
            <a:solidFill>
              <a:srgbClr val="DCE3EA"/>
            </a:solidFill>
            <a:prstDash val="solid"/>
          </a:ln>
        </p:spPr>
      </p:sp>
      <p:sp>
        <p:nvSpPr>
          <p:cNvPr id="5" name="Shape 3"/>
          <p:cNvSpPr/>
          <p:nvPr/>
        </p:nvSpPr>
        <p:spPr>
          <a:xfrm>
            <a:off x="658368" y="1856232"/>
            <a:ext cx="164592" cy="164592"/>
          </a:xfrm>
          <a:prstGeom prst="ellipse">
            <a:avLst/>
          </a:prstGeom>
          <a:solidFill>
            <a:srgbClr val="D14B4B"/>
          </a:solidFill>
          <a:ln/>
        </p:spPr>
      </p:sp>
      <p:sp>
        <p:nvSpPr>
          <p:cNvPr id="6" name="Text 4"/>
          <p:cNvSpPr txBox="1"/>
          <p:nvPr/>
        </p:nvSpPr>
        <p:spPr>
          <a:xfrm>
            <a:off x="1024128" y="173736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Singapore → Narita flight</a:t>
            </a:r>
            <a:endParaRPr lang="en-US" sz="1400" dirty="0"/>
          </a:p>
        </p:txBody>
      </p:sp>
      <p:sp>
        <p:nvSpPr>
          <p:cNvPr id="7" name="Text 5"/>
          <p:cNvSpPr txBox="1"/>
          <p:nvPr/>
        </p:nvSpPr>
        <p:spPr>
          <a:xfrm>
            <a:off x="4937760" y="1764792"/>
            <a:ext cx="914400" cy="237744"/>
          </a:xfrm>
          <a:prstGeom prst="rect">
            <a:avLst/>
          </a:prstGeom>
          <a:noFill/>
          <a:ln/>
        </p:spPr>
        <p:txBody>
          <a:bodyPr wrap="square" lIns="0" tIns="0" rIns="0" bIns="0" rtlCol="0" anchor="ctr"/>
          <a:lstStyle/>
          <a:p>
            <a:pPr indent="0" marL="0">
              <a:buNone/>
            </a:pPr>
            <a:r>
              <a:rPr lang="en-US" sz="1000" b="1" spc="100" kern="0" dirty="0">
                <a:solidFill>
                  <a:srgbClr val="D14B4B"/>
                </a:solidFill>
                <a:latin typeface="Calibri" pitchFamily="34" charset="0"/>
                <a:ea typeface="Calibri" pitchFamily="34" charset="-122"/>
                <a:cs typeface="Calibri" pitchFamily="34" charset="-120"/>
              </a:rPr>
              <a:t>BROKEN</a:t>
            </a:r>
            <a:endParaRPr lang="en-US" sz="1000" dirty="0"/>
          </a:p>
        </p:txBody>
      </p:sp>
      <p:sp>
        <p:nvSpPr>
          <p:cNvPr id="8" name="Text 6"/>
          <p:cNvSpPr txBox="1"/>
          <p:nvPr/>
        </p:nvSpPr>
        <p:spPr>
          <a:xfrm>
            <a:off x="5989320" y="173736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Service cancelled</a:t>
            </a:r>
            <a:endParaRPr lang="en-US" sz="1250" dirty="0"/>
          </a:p>
        </p:txBody>
      </p:sp>
      <p:sp>
        <p:nvSpPr>
          <p:cNvPr id="9" name="Shape 7"/>
          <p:cNvSpPr/>
          <p:nvPr/>
        </p:nvSpPr>
        <p:spPr>
          <a:xfrm>
            <a:off x="658368" y="2404872"/>
            <a:ext cx="164592" cy="164592"/>
          </a:xfrm>
          <a:prstGeom prst="ellipse">
            <a:avLst/>
          </a:prstGeom>
          <a:solidFill>
            <a:srgbClr val="D14B4B"/>
          </a:solidFill>
          <a:ln/>
        </p:spPr>
      </p:sp>
      <p:sp>
        <p:nvSpPr>
          <p:cNvPr id="10" name="Text 8"/>
          <p:cNvSpPr txBox="1"/>
          <p:nvPr/>
        </p:nvSpPr>
        <p:spPr>
          <a:xfrm>
            <a:off x="1024128" y="228600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Narita → Hakone bus</a:t>
            </a:r>
            <a:endParaRPr lang="en-US" sz="1400" dirty="0"/>
          </a:p>
        </p:txBody>
      </p:sp>
      <p:sp>
        <p:nvSpPr>
          <p:cNvPr id="11" name="Text 9"/>
          <p:cNvSpPr txBox="1"/>
          <p:nvPr/>
        </p:nvSpPr>
        <p:spPr>
          <a:xfrm>
            <a:off x="4937760" y="2313432"/>
            <a:ext cx="914400" cy="237744"/>
          </a:xfrm>
          <a:prstGeom prst="rect">
            <a:avLst/>
          </a:prstGeom>
          <a:noFill/>
          <a:ln/>
        </p:spPr>
        <p:txBody>
          <a:bodyPr wrap="square" lIns="0" tIns="0" rIns="0" bIns="0" rtlCol="0" anchor="ctr"/>
          <a:lstStyle/>
          <a:p>
            <a:pPr indent="0" marL="0">
              <a:buNone/>
            </a:pPr>
            <a:r>
              <a:rPr lang="en-US" sz="1000" b="1" spc="100" kern="0" dirty="0">
                <a:solidFill>
                  <a:srgbClr val="D14B4B"/>
                </a:solidFill>
                <a:latin typeface="Calibri" pitchFamily="34" charset="0"/>
                <a:ea typeface="Calibri" pitchFamily="34" charset="-122"/>
                <a:cs typeface="Calibri" pitchFamily="34" charset="-120"/>
              </a:rPr>
              <a:t>BROKEN</a:t>
            </a:r>
            <a:endParaRPr lang="en-US" sz="1000" dirty="0"/>
          </a:p>
        </p:txBody>
      </p:sp>
      <p:sp>
        <p:nvSpPr>
          <p:cNvPr id="12" name="Text 10"/>
          <p:cNvSpPr txBox="1"/>
          <p:nvPr/>
        </p:nvSpPr>
        <p:spPr>
          <a:xfrm>
            <a:off x="5989320" y="228600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Departs before the replacement lands</a:t>
            </a:r>
            <a:endParaRPr lang="en-US" sz="1250" dirty="0"/>
          </a:p>
        </p:txBody>
      </p:sp>
      <p:sp>
        <p:nvSpPr>
          <p:cNvPr id="13" name="Shape 11"/>
          <p:cNvSpPr/>
          <p:nvPr/>
        </p:nvSpPr>
        <p:spPr>
          <a:xfrm>
            <a:off x="658368" y="2953512"/>
            <a:ext cx="164592" cy="164592"/>
          </a:xfrm>
          <a:prstGeom prst="ellipse">
            <a:avLst/>
          </a:prstGeom>
          <a:solidFill>
            <a:srgbClr val="D99A2B"/>
          </a:solidFill>
          <a:ln/>
        </p:spPr>
      </p:sp>
      <p:sp>
        <p:nvSpPr>
          <p:cNvPr id="14" name="Text 12"/>
          <p:cNvSpPr txBox="1"/>
          <p:nvPr/>
        </p:nvSpPr>
        <p:spPr>
          <a:xfrm>
            <a:off x="1024128" y="283464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Hakone hotel</a:t>
            </a:r>
            <a:endParaRPr lang="en-US" sz="1400" dirty="0"/>
          </a:p>
        </p:txBody>
      </p:sp>
      <p:sp>
        <p:nvSpPr>
          <p:cNvPr id="15" name="Text 13"/>
          <p:cNvSpPr txBox="1"/>
          <p:nvPr/>
        </p:nvSpPr>
        <p:spPr>
          <a:xfrm>
            <a:off x="4937760" y="2862072"/>
            <a:ext cx="914400" cy="237744"/>
          </a:xfrm>
          <a:prstGeom prst="rect">
            <a:avLst/>
          </a:prstGeom>
          <a:noFill/>
          <a:ln/>
        </p:spPr>
        <p:txBody>
          <a:bodyPr wrap="square" lIns="0" tIns="0" rIns="0" bIns="0" rtlCol="0" anchor="ctr"/>
          <a:lstStyle/>
          <a:p>
            <a:pPr indent="0" marL="0">
              <a:buNone/>
            </a:pPr>
            <a:r>
              <a:rPr lang="en-US" sz="1000" b="1" spc="100" kern="0" dirty="0">
                <a:solidFill>
                  <a:srgbClr val="D99A2B"/>
                </a:solidFill>
                <a:latin typeface="Calibri" pitchFamily="34" charset="0"/>
                <a:ea typeface="Calibri" pitchFamily="34" charset="-122"/>
                <a:cs typeface="Calibri" pitchFamily="34" charset="-120"/>
              </a:rPr>
              <a:t>AT RISK</a:t>
            </a:r>
            <a:endParaRPr lang="en-US" sz="1000" dirty="0"/>
          </a:p>
        </p:txBody>
      </p:sp>
      <p:sp>
        <p:nvSpPr>
          <p:cNvPr id="16" name="Text 14"/>
          <p:cNvSpPr txBox="1"/>
          <p:nvPr/>
        </p:nvSpPr>
        <p:spPr>
          <a:xfrm>
            <a:off x="5989320" y="283464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No-show risk on a non-refundable night</a:t>
            </a:r>
            <a:endParaRPr lang="en-US" sz="1250" dirty="0"/>
          </a:p>
        </p:txBody>
      </p:sp>
      <p:sp>
        <p:nvSpPr>
          <p:cNvPr id="17" name="Shape 15"/>
          <p:cNvSpPr/>
          <p:nvPr/>
        </p:nvSpPr>
        <p:spPr>
          <a:xfrm>
            <a:off x="658368" y="3502152"/>
            <a:ext cx="164592" cy="164592"/>
          </a:xfrm>
          <a:prstGeom prst="ellipse">
            <a:avLst/>
          </a:prstGeom>
          <a:solidFill>
            <a:srgbClr val="D99A2B"/>
          </a:solidFill>
          <a:ln/>
        </p:spPr>
      </p:sp>
      <p:sp>
        <p:nvSpPr>
          <p:cNvPr id="18" name="Text 16"/>
          <p:cNvSpPr txBox="1"/>
          <p:nvPr/>
        </p:nvSpPr>
        <p:spPr>
          <a:xfrm>
            <a:off x="1024128" y="338328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Rental car pickup</a:t>
            </a:r>
            <a:endParaRPr lang="en-US" sz="1400" dirty="0"/>
          </a:p>
        </p:txBody>
      </p:sp>
      <p:sp>
        <p:nvSpPr>
          <p:cNvPr id="19" name="Text 17"/>
          <p:cNvSpPr txBox="1"/>
          <p:nvPr/>
        </p:nvSpPr>
        <p:spPr>
          <a:xfrm>
            <a:off x="4937760" y="3410712"/>
            <a:ext cx="914400" cy="237744"/>
          </a:xfrm>
          <a:prstGeom prst="rect">
            <a:avLst/>
          </a:prstGeom>
          <a:noFill/>
          <a:ln/>
        </p:spPr>
        <p:txBody>
          <a:bodyPr wrap="square" lIns="0" tIns="0" rIns="0" bIns="0" rtlCol="0" anchor="ctr"/>
          <a:lstStyle/>
          <a:p>
            <a:pPr indent="0" marL="0">
              <a:buNone/>
            </a:pPr>
            <a:r>
              <a:rPr lang="en-US" sz="1000" b="1" spc="100" kern="0" dirty="0">
                <a:solidFill>
                  <a:srgbClr val="D99A2B"/>
                </a:solidFill>
                <a:latin typeface="Calibri" pitchFamily="34" charset="0"/>
                <a:ea typeface="Calibri" pitchFamily="34" charset="-122"/>
                <a:cs typeface="Calibri" pitchFamily="34" charset="-120"/>
              </a:rPr>
              <a:t>AT RISK</a:t>
            </a:r>
            <a:endParaRPr lang="en-US" sz="1000" dirty="0"/>
          </a:p>
        </p:txBody>
      </p:sp>
      <p:sp>
        <p:nvSpPr>
          <p:cNvPr id="20" name="Text 18"/>
          <p:cNvSpPr txBox="1"/>
          <p:nvPr/>
        </p:nvSpPr>
        <p:spPr>
          <a:xfrm>
            <a:off x="5989320" y="338328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Pickup window passes before arrival</a:t>
            </a:r>
            <a:endParaRPr lang="en-US" sz="1250" dirty="0"/>
          </a:p>
        </p:txBody>
      </p:sp>
      <p:sp>
        <p:nvSpPr>
          <p:cNvPr id="21" name="Shape 19"/>
          <p:cNvSpPr/>
          <p:nvPr/>
        </p:nvSpPr>
        <p:spPr>
          <a:xfrm>
            <a:off x="658368" y="4050792"/>
            <a:ext cx="164592" cy="164592"/>
          </a:xfrm>
          <a:prstGeom prst="ellipse">
            <a:avLst/>
          </a:prstGeom>
          <a:solidFill>
            <a:srgbClr val="D14B4B"/>
          </a:solidFill>
          <a:ln/>
        </p:spPr>
      </p:sp>
      <p:sp>
        <p:nvSpPr>
          <p:cNvPr id="22" name="Text 20"/>
          <p:cNvSpPr txBox="1"/>
          <p:nvPr/>
        </p:nvSpPr>
        <p:spPr>
          <a:xfrm>
            <a:off x="1024128" y="393192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Mount Fuji activity</a:t>
            </a:r>
            <a:endParaRPr lang="en-US" sz="1400" dirty="0"/>
          </a:p>
        </p:txBody>
      </p:sp>
      <p:sp>
        <p:nvSpPr>
          <p:cNvPr id="23" name="Text 21"/>
          <p:cNvSpPr txBox="1"/>
          <p:nvPr/>
        </p:nvSpPr>
        <p:spPr>
          <a:xfrm>
            <a:off x="4937760" y="3959352"/>
            <a:ext cx="914400" cy="237744"/>
          </a:xfrm>
          <a:prstGeom prst="rect">
            <a:avLst/>
          </a:prstGeom>
          <a:noFill/>
          <a:ln/>
        </p:spPr>
        <p:txBody>
          <a:bodyPr wrap="square" lIns="0" tIns="0" rIns="0" bIns="0" rtlCol="0" anchor="ctr"/>
          <a:lstStyle/>
          <a:p>
            <a:pPr indent="0" marL="0">
              <a:buNone/>
            </a:pPr>
            <a:r>
              <a:rPr lang="en-US" sz="1000" b="1" spc="100" kern="0" dirty="0">
                <a:solidFill>
                  <a:srgbClr val="D14B4B"/>
                </a:solidFill>
                <a:latin typeface="Calibri" pitchFamily="34" charset="0"/>
                <a:ea typeface="Calibri" pitchFamily="34" charset="-122"/>
                <a:cs typeface="Calibri" pitchFamily="34" charset="-120"/>
              </a:rPr>
              <a:t>BROKEN</a:t>
            </a:r>
            <a:endParaRPr lang="en-US" sz="1000" dirty="0"/>
          </a:p>
        </p:txBody>
      </p:sp>
      <p:sp>
        <p:nvSpPr>
          <p:cNvPr id="24" name="Text 22"/>
          <p:cNvSpPr txBox="1"/>
          <p:nvPr/>
        </p:nvSpPr>
        <p:spPr>
          <a:xfrm>
            <a:off x="5989320" y="393192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Prerequisites can no longer be met</a:t>
            </a:r>
            <a:endParaRPr lang="en-US" sz="1250" dirty="0"/>
          </a:p>
        </p:txBody>
      </p:sp>
      <p:sp>
        <p:nvSpPr>
          <p:cNvPr id="25" name="Shape 23"/>
          <p:cNvSpPr/>
          <p:nvPr/>
        </p:nvSpPr>
        <p:spPr>
          <a:xfrm>
            <a:off x="658368" y="4599432"/>
            <a:ext cx="164592" cy="164592"/>
          </a:xfrm>
          <a:prstGeom prst="ellipse">
            <a:avLst/>
          </a:prstGeom>
          <a:solidFill>
            <a:srgbClr val="1E9E63"/>
          </a:solidFill>
          <a:ln/>
        </p:spPr>
      </p:sp>
      <p:sp>
        <p:nvSpPr>
          <p:cNvPr id="26" name="Text 24"/>
          <p:cNvSpPr txBox="1"/>
          <p:nvPr/>
        </p:nvSpPr>
        <p:spPr>
          <a:xfrm>
            <a:off x="1024128" y="448056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Hakone to Narita transfer</a:t>
            </a:r>
            <a:endParaRPr lang="en-US" sz="1400" dirty="0"/>
          </a:p>
        </p:txBody>
      </p:sp>
      <p:sp>
        <p:nvSpPr>
          <p:cNvPr id="27" name="Text 25"/>
          <p:cNvSpPr txBox="1"/>
          <p:nvPr/>
        </p:nvSpPr>
        <p:spPr>
          <a:xfrm>
            <a:off x="4937760" y="4507992"/>
            <a:ext cx="914400" cy="237744"/>
          </a:xfrm>
          <a:prstGeom prst="rect">
            <a:avLst/>
          </a:prstGeom>
          <a:noFill/>
          <a:ln/>
        </p:spPr>
        <p:txBody>
          <a:bodyPr wrap="square" lIns="0" tIns="0" rIns="0" bIns="0" rtlCol="0" anchor="ctr"/>
          <a:lstStyle/>
          <a:p>
            <a:pPr indent="0" marL="0">
              <a:buNone/>
            </a:pPr>
            <a:r>
              <a:rPr lang="en-US" sz="1000" b="1" spc="100" kern="0" dirty="0">
                <a:solidFill>
                  <a:srgbClr val="1E9E63"/>
                </a:solidFill>
                <a:latin typeface="Calibri" pitchFamily="34" charset="0"/>
                <a:ea typeface="Calibri" pitchFamily="34" charset="-122"/>
                <a:cs typeface="Calibri" pitchFamily="34" charset="-120"/>
              </a:rPr>
              <a:t>SAFE</a:t>
            </a:r>
            <a:endParaRPr lang="en-US" sz="1000" dirty="0"/>
          </a:p>
        </p:txBody>
      </p:sp>
      <p:sp>
        <p:nvSpPr>
          <p:cNvPr id="28" name="Text 26"/>
          <p:cNvSpPr txBox="1"/>
          <p:nvPr/>
        </p:nvSpPr>
        <p:spPr>
          <a:xfrm>
            <a:off x="5989320" y="448056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Four days later, still feasible</a:t>
            </a:r>
            <a:endParaRPr lang="en-US" sz="1250" dirty="0"/>
          </a:p>
        </p:txBody>
      </p:sp>
      <p:sp>
        <p:nvSpPr>
          <p:cNvPr id="29" name="Shape 27"/>
          <p:cNvSpPr/>
          <p:nvPr/>
        </p:nvSpPr>
        <p:spPr>
          <a:xfrm>
            <a:off x="658368" y="5148072"/>
            <a:ext cx="164592" cy="164592"/>
          </a:xfrm>
          <a:prstGeom prst="ellipse">
            <a:avLst/>
          </a:prstGeom>
          <a:solidFill>
            <a:srgbClr val="1E9E63"/>
          </a:solidFill>
          <a:ln/>
        </p:spPr>
      </p:sp>
      <p:sp>
        <p:nvSpPr>
          <p:cNvPr id="30" name="Text 28"/>
          <p:cNvSpPr txBox="1"/>
          <p:nvPr/>
        </p:nvSpPr>
        <p:spPr>
          <a:xfrm>
            <a:off x="1024128" y="502920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Narita to Singapore flight</a:t>
            </a:r>
            <a:endParaRPr lang="en-US" sz="1400" dirty="0"/>
          </a:p>
        </p:txBody>
      </p:sp>
      <p:sp>
        <p:nvSpPr>
          <p:cNvPr id="31" name="Text 29"/>
          <p:cNvSpPr txBox="1"/>
          <p:nvPr/>
        </p:nvSpPr>
        <p:spPr>
          <a:xfrm>
            <a:off x="4937760" y="5056632"/>
            <a:ext cx="914400" cy="237744"/>
          </a:xfrm>
          <a:prstGeom prst="rect">
            <a:avLst/>
          </a:prstGeom>
          <a:noFill/>
          <a:ln/>
        </p:spPr>
        <p:txBody>
          <a:bodyPr wrap="square" lIns="0" tIns="0" rIns="0" bIns="0" rtlCol="0" anchor="ctr"/>
          <a:lstStyle/>
          <a:p>
            <a:pPr indent="0" marL="0">
              <a:buNone/>
            </a:pPr>
            <a:r>
              <a:rPr lang="en-US" sz="1000" b="1" spc="100" kern="0" dirty="0">
                <a:solidFill>
                  <a:srgbClr val="1E9E63"/>
                </a:solidFill>
                <a:latin typeface="Calibri" pitchFamily="34" charset="0"/>
                <a:ea typeface="Calibri" pitchFamily="34" charset="-122"/>
                <a:cs typeface="Calibri" pitchFamily="34" charset="-120"/>
              </a:rPr>
              <a:t>SAFE</a:t>
            </a:r>
            <a:endParaRPr lang="en-US" sz="1000" dirty="0"/>
          </a:p>
        </p:txBody>
      </p:sp>
      <p:sp>
        <p:nvSpPr>
          <p:cNvPr id="32" name="Text 30"/>
          <p:cNvSpPr txBox="1"/>
          <p:nvPr/>
        </p:nvSpPr>
        <p:spPr>
          <a:xfrm>
            <a:off x="5989320" y="502920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The journey home is untouched</a:t>
            </a:r>
            <a:endParaRPr lang="en-US" sz="1250" dirty="0"/>
          </a:p>
        </p:txBody>
      </p:sp>
      <p:sp>
        <p:nvSpPr>
          <p:cNvPr id="33" name="Shape 31"/>
          <p:cNvSpPr/>
          <p:nvPr/>
        </p:nvSpPr>
        <p:spPr>
          <a:xfrm>
            <a:off x="9829800" y="1691640"/>
            <a:ext cx="1719072" cy="4160520"/>
          </a:xfrm>
          <a:prstGeom prst="roundRect">
            <a:avLst>
              <a:gd name="adj" fmla="val 3191"/>
            </a:avLst>
          </a:prstGeom>
          <a:solidFill>
            <a:srgbClr val="0E1A2B"/>
          </a:solidFill>
          <a:ln w="12700">
            <a:solidFill>
              <a:srgbClr val="DCE3EA"/>
            </a:solidFill>
            <a:prstDash val="solid"/>
          </a:ln>
        </p:spPr>
      </p:sp>
      <p:sp>
        <p:nvSpPr>
          <p:cNvPr id="34" name="Text 32"/>
          <p:cNvSpPr txBox="1"/>
          <p:nvPr/>
        </p:nvSpPr>
        <p:spPr>
          <a:xfrm>
            <a:off x="9966960" y="1965960"/>
            <a:ext cx="1463040" cy="685800"/>
          </a:xfrm>
          <a:prstGeom prst="rect">
            <a:avLst/>
          </a:prstGeom>
          <a:noFill/>
          <a:ln/>
        </p:spPr>
        <p:txBody>
          <a:bodyPr wrap="square" lIns="0" tIns="0" rIns="0" bIns="0" rtlCol="0" anchor="ctr"/>
          <a:lstStyle/>
          <a:p>
            <a:pPr algn="ctr" indent="0" marL="0">
              <a:buNone/>
            </a:pPr>
            <a:r>
              <a:rPr lang="en-US" sz="5200" b="1" dirty="0">
                <a:solidFill>
                  <a:srgbClr val="D14B4B"/>
                </a:solidFill>
                <a:latin typeface="Cambria" pitchFamily="34" charset="0"/>
                <a:ea typeface="Cambria" pitchFamily="34" charset="-122"/>
                <a:cs typeface="Cambria" pitchFamily="34" charset="-120"/>
              </a:rPr>
              <a:t>3</a:t>
            </a:r>
            <a:endParaRPr lang="en-US" sz="5200" dirty="0"/>
          </a:p>
        </p:txBody>
      </p:sp>
      <p:sp>
        <p:nvSpPr>
          <p:cNvPr id="35" name="Text 33"/>
          <p:cNvSpPr txBox="1"/>
          <p:nvPr/>
        </p:nvSpPr>
        <p:spPr>
          <a:xfrm>
            <a:off x="9966960" y="2633472"/>
            <a:ext cx="1463040" cy="274320"/>
          </a:xfrm>
          <a:prstGeom prst="rect">
            <a:avLst/>
          </a:prstGeom>
          <a:noFill/>
          <a:ln/>
        </p:spPr>
        <p:txBody>
          <a:bodyPr wrap="square" lIns="0" tIns="0" rIns="0" bIns="0" rtlCol="0" anchor="ctr"/>
          <a:lstStyle/>
          <a:p>
            <a:pPr algn="ctr" indent="0" marL="0">
              <a:buNone/>
            </a:pPr>
            <a:r>
              <a:rPr lang="en-US" sz="1300" dirty="0">
                <a:solidFill>
                  <a:srgbClr val="C6D4E6"/>
                </a:solidFill>
                <a:latin typeface="Calibri" pitchFamily="34" charset="0"/>
                <a:ea typeface="Calibri" pitchFamily="34" charset="-122"/>
                <a:cs typeface="Calibri" pitchFamily="34" charset="-120"/>
              </a:rPr>
              <a:t>broken</a:t>
            </a:r>
            <a:endParaRPr lang="en-US" sz="1300" dirty="0"/>
          </a:p>
        </p:txBody>
      </p:sp>
      <p:sp>
        <p:nvSpPr>
          <p:cNvPr id="36" name="Text 34"/>
          <p:cNvSpPr txBox="1"/>
          <p:nvPr/>
        </p:nvSpPr>
        <p:spPr>
          <a:xfrm>
            <a:off x="9966960" y="3291840"/>
            <a:ext cx="1463040" cy="685800"/>
          </a:xfrm>
          <a:prstGeom prst="rect">
            <a:avLst/>
          </a:prstGeom>
          <a:noFill/>
          <a:ln/>
        </p:spPr>
        <p:txBody>
          <a:bodyPr wrap="square" lIns="0" tIns="0" rIns="0" bIns="0" rtlCol="0" anchor="ctr"/>
          <a:lstStyle/>
          <a:p>
            <a:pPr algn="ctr" indent="0" marL="0">
              <a:buNone/>
            </a:pPr>
            <a:r>
              <a:rPr lang="en-US" sz="5200" b="1" dirty="0">
                <a:solidFill>
                  <a:srgbClr val="D99A2B"/>
                </a:solidFill>
                <a:latin typeface="Cambria" pitchFamily="34" charset="0"/>
                <a:ea typeface="Cambria" pitchFamily="34" charset="-122"/>
                <a:cs typeface="Cambria" pitchFamily="34" charset="-120"/>
              </a:rPr>
              <a:t>2</a:t>
            </a:r>
            <a:endParaRPr lang="en-US" sz="5200" dirty="0"/>
          </a:p>
        </p:txBody>
      </p:sp>
      <p:sp>
        <p:nvSpPr>
          <p:cNvPr id="37" name="Text 35"/>
          <p:cNvSpPr txBox="1"/>
          <p:nvPr/>
        </p:nvSpPr>
        <p:spPr>
          <a:xfrm>
            <a:off x="9966960" y="3959352"/>
            <a:ext cx="1463040" cy="274320"/>
          </a:xfrm>
          <a:prstGeom prst="rect">
            <a:avLst/>
          </a:prstGeom>
          <a:noFill/>
          <a:ln/>
        </p:spPr>
        <p:txBody>
          <a:bodyPr wrap="square" lIns="0" tIns="0" rIns="0" bIns="0" rtlCol="0" anchor="ctr"/>
          <a:lstStyle/>
          <a:p>
            <a:pPr algn="ctr" indent="0" marL="0">
              <a:buNone/>
            </a:pPr>
            <a:r>
              <a:rPr lang="en-US" sz="1300" dirty="0">
                <a:solidFill>
                  <a:srgbClr val="C6D4E6"/>
                </a:solidFill>
                <a:latin typeface="Calibri" pitchFamily="34" charset="0"/>
                <a:ea typeface="Calibri" pitchFamily="34" charset="-122"/>
                <a:cs typeface="Calibri" pitchFamily="34" charset="-120"/>
              </a:rPr>
              <a:t>at risk</a:t>
            </a:r>
            <a:endParaRPr lang="en-US" sz="1300" dirty="0"/>
          </a:p>
        </p:txBody>
      </p:sp>
      <p:sp>
        <p:nvSpPr>
          <p:cNvPr id="38" name="Text 36"/>
          <p:cNvSpPr txBox="1"/>
          <p:nvPr/>
        </p:nvSpPr>
        <p:spPr>
          <a:xfrm>
            <a:off x="9966960" y="4590288"/>
            <a:ext cx="1463040" cy="685800"/>
          </a:xfrm>
          <a:prstGeom prst="rect">
            <a:avLst/>
          </a:prstGeom>
          <a:noFill/>
          <a:ln/>
        </p:spPr>
        <p:txBody>
          <a:bodyPr wrap="square" lIns="0" tIns="0" rIns="0" bIns="0" rtlCol="0" anchor="ctr"/>
          <a:lstStyle/>
          <a:p>
            <a:pPr algn="ctr" indent="0" marL="0">
              <a:buNone/>
            </a:pPr>
            <a:r>
              <a:rPr lang="en-US" sz="5200" b="1" dirty="0">
                <a:solidFill>
                  <a:srgbClr val="1E9E63"/>
                </a:solidFill>
                <a:latin typeface="Cambria" pitchFamily="34" charset="0"/>
                <a:ea typeface="Cambria" pitchFamily="34" charset="-122"/>
                <a:cs typeface="Cambria" pitchFamily="34" charset="-120"/>
              </a:rPr>
              <a:t>2</a:t>
            </a:r>
            <a:endParaRPr lang="en-US" sz="5200" dirty="0"/>
          </a:p>
        </p:txBody>
      </p:sp>
      <p:sp>
        <p:nvSpPr>
          <p:cNvPr id="39" name="Text 37"/>
          <p:cNvSpPr txBox="1"/>
          <p:nvPr/>
        </p:nvSpPr>
        <p:spPr>
          <a:xfrm>
            <a:off x="9966960" y="5257800"/>
            <a:ext cx="1463040" cy="274320"/>
          </a:xfrm>
          <a:prstGeom prst="rect">
            <a:avLst/>
          </a:prstGeom>
          <a:noFill/>
          <a:ln/>
        </p:spPr>
        <p:txBody>
          <a:bodyPr wrap="square" lIns="0" tIns="0" rIns="0" bIns="0" rtlCol="0" anchor="ctr"/>
          <a:lstStyle/>
          <a:p>
            <a:pPr algn="ctr" indent="0" marL="0">
              <a:buNone/>
            </a:pPr>
            <a:r>
              <a:rPr lang="en-US" sz="1300" dirty="0">
                <a:solidFill>
                  <a:srgbClr val="C6D4E6"/>
                </a:solidFill>
                <a:latin typeface="Calibri" pitchFamily="34" charset="0"/>
                <a:ea typeface="Calibri" pitchFamily="34" charset="-122"/>
                <a:cs typeface="Calibri" pitchFamily="34" charset="-120"/>
              </a:rPr>
              <a:t>untouched</a:t>
            </a:r>
            <a:endParaRPr lang="en-US" sz="1300" dirty="0"/>
          </a:p>
        </p:txBody>
      </p:sp>
      <p:sp>
        <p:nvSpPr>
          <p:cNvPr id="40" name="Text 38"/>
          <p:cNvSpPr txBox="1"/>
          <p:nvPr/>
        </p:nvSpPr>
        <p:spPr>
          <a:xfrm>
            <a:off x="640080" y="6035040"/>
            <a:ext cx="9601200" cy="457200"/>
          </a:xfrm>
          <a:prstGeom prst="rect">
            <a:avLst/>
          </a:prstGeom>
          <a:noFill/>
          <a:ln/>
        </p:spPr>
        <p:txBody>
          <a:bodyPr wrap="square" lIns="0" tIns="0" rIns="0" bIns="0" rtlCol="0" anchor="ctr"/>
          <a:lstStyle/>
          <a:p>
            <a:pPr indent="0" marL="0">
              <a:buNone/>
            </a:pPr>
            <a:r>
              <a:rPr lang="en-US" sz="1600" i="1" dirty="0">
                <a:solidFill>
                  <a:srgbClr val="141A1F"/>
                </a:solidFill>
                <a:latin typeface="Calibri" pitchFamily="34" charset="0"/>
                <a:ea typeface="Calibri" pitchFamily="34" charset="-122"/>
                <a:cs typeface="Calibri" pitchFamily="34" charset="-120"/>
              </a:rPr>
              <a:t>Knowing what is still fine matters as much as knowing what broke. The return home is never touched.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WHERE THE GAP IS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Plenty of products fix the flight. None fix the trip.</a:t>
            </a:r>
            <a:endParaRPr lang="en-US" sz="3400" dirty="0"/>
          </a:p>
        </p:txBody>
      </p:sp>
      <p:sp>
        <p:nvSpPr>
          <p:cNvPr id="4" name="Shape 2"/>
          <p:cNvSpPr/>
          <p:nvPr/>
        </p:nvSpPr>
        <p:spPr>
          <a:xfrm>
            <a:off x="640080" y="1828800"/>
            <a:ext cx="3456432" cy="2606040"/>
          </a:xfrm>
          <a:prstGeom prst="roundRect">
            <a:avLst>
              <a:gd name="adj" fmla="val 2105"/>
            </a:avLst>
          </a:prstGeom>
          <a:solidFill>
            <a:srgbClr val="F2F5F8"/>
          </a:solidFill>
          <a:ln w="12700">
            <a:solidFill>
              <a:srgbClr val="DCE3EA"/>
            </a:solidFill>
            <a:prstDash val="solid"/>
          </a:ln>
        </p:spPr>
      </p:sp>
      <p:sp>
        <p:nvSpPr>
          <p:cNvPr id="5" name="Text 3"/>
          <p:cNvSpPr txBox="1"/>
          <p:nvPr/>
        </p:nvSpPr>
        <p:spPr>
          <a:xfrm>
            <a:off x="896112" y="2048256"/>
            <a:ext cx="2944368" cy="320040"/>
          </a:xfrm>
          <a:prstGeom prst="rect">
            <a:avLst/>
          </a:prstGeom>
          <a:noFill/>
          <a:ln/>
        </p:spPr>
        <p:txBody>
          <a:bodyPr wrap="square" lIns="0" tIns="0" rIns="0" bIns="0" rtlCol="0" anchor="ctr"/>
          <a:lstStyle/>
          <a:p>
            <a:pPr indent="0" marL="0">
              <a:buNone/>
            </a:pPr>
            <a:r>
              <a:rPr lang="en-US" sz="1800" b="1" dirty="0">
                <a:solidFill>
                  <a:srgbClr val="141A1F"/>
                </a:solidFill>
                <a:latin typeface="Calibri" pitchFamily="34" charset="0"/>
                <a:ea typeface="Calibri" pitchFamily="34" charset="-122"/>
                <a:cs typeface="Calibri" pitchFamily="34" charset="-120"/>
              </a:rPr>
              <a:t>TripIt</a:t>
            </a:r>
            <a:endParaRPr lang="en-US" sz="1800" dirty="0"/>
          </a:p>
        </p:txBody>
      </p:sp>
      <p:sp>
        <p:nvSpPr>
          <p:cNvPr id="6" name="Text 4"/>
          <p:cNvSpPr txBox="1"/>
          <p:nvPr/>
        </p:nvSpPr>
        <p:spPr>
          <a:xfrm>
            <a:off x="896112" y="2450592"/>
            <a:ext cx="2944368" cy="91440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Aggregates every booking into one itinerary and alerts you.</a:t>
            </a:r>
            <a:endParaRPr lang="en-US" sz="1300" dirty="0"/>
          </a:p>
        </p:txBody>
      </p:sp>
      <p:sp>
        <p:nvSpPr>
          <p:cNvPr id="7" name="Shape 5"/>
          <p:cNvSpPr/>
          <p:nvPr/>
        </p:nvSpPr>
        <p:spPr>
          <a:xfrm>
            <a:off x="896112" y="3529584"/>
            <a:ext cx="118872" cy="118872"/>
          </a:xfrm>
          <a:prstGeom prst="ellipse">
            <a:avLst/>
          </a:prstGeom>
          <a:solidFill>
            <a:srgbClr val="D14B4B"/>
          </a:solidFill>
          <a:ln/>
        </p:spPr>
      </p:sp>
      <p:sp>
        <p:nvSpPr>
          <p:cNvPr id="8" name="Text 6"/>
          <p:cNvSpPr txBox="1"/>
          <p:nvPr/>
        </p:nvSpPr>
        <p:spPr>
          <a:xfrm>
            <a:off x="1097280" y="3438144"/>
            <a:ext cx="2743200" cy="868680"/>
          </a:xfrm>
          <a:prstGeom prst="rect">
            <a:avLst/>
          </a:prstGeom>
          <a:noFill/>
          <a:ln/>
        </p:spPr>
        <p:txBody>
          <a:bodyPr wrap="square" lIns="0" tIns="0" rIns="0" bIns="0" rtlCol="0" anchor="ctr"/>
          <a:lstStyle/>
          <a:p>
            <a:pPr indent="0" marL="0">
              <a:buNone/>
            </a:pPr>
            <a:r>
              <a:rPr lang="en-US" sz="1300" b="1" dirty="0">
                <a:solidFill>
                  <a:srgbClr val="141A1F"/>
                </a:solidFill>
                <a:latin typeface="Calibri" pitchFamily="34" charset="0"/>
                <a:ea typeface="Calibri" pitchFamily="34" charset="-122"/>
                <a:cs typeface="Calibri" pitchFamily="34" charset="-120"/>
              </a:rPr>
              <a:t>Then tells you to call the airline yourself.</a:t>
            </a:r>
            <a:endParaRPr lang="en-US" sz="1300" dirty="0"/>
          </a:p>
        </p:txBody>
      </p:sp>
      <p:sp>
        <p:nvSpPr>
          <p:cNvPr id="9" name="Shape 7"/>
          <p:cNvSpPr/>
          <p:nvPr/>
        </p:nvSpPr>
        <p:spPr>
          <a:xfrm>
            <a:off x="4352544" y="1828800"/>
            <a:ext cx="3456432" cy="2606040"/>
          </a:xfrm>
          <a:prstGeom prst="roundRect">
            <a:avLst>
              <a:gd name="adj" fmla="val 2105"/>
            </a:avLst>
          </a:prstGeom>
          <a:solidFill>
            <a:srgbClr val="F2F5F8"/>
          </a:solidFill>
          <a:ln w="12700">
            <a:solidFill>
              <a:srgbClr val="DCE3EA"/>
            </a:solidFill>
            <a:prstDash val="solid"/>
          </a:ln>
        </p:spPr>
      </p:sp>
      <p:sp>
        <p:nvSpPr>
          <p:cNvPr id="10" name="Text 8"/>
          <p:cNvSpPr txBox="1"/>
          <p:nvPr/>
        </p:nvSpPr>
        <p:spPr>
          <a:xfrm>
            <a:off x="4608576" y="2048256"/>
            <a:ext cx="2944368" cy="320040"/>
          </a:xfrm>
          <a:prstGeom prst="rect">
            <a:avLst/>
          </a:prstGeom>
          <a:noFill/>
          <a:ln/>
        </p:spPr>
        <p:txBody>
          <a:bodyPr wrap="square" lIns="0" tIns="0" rIns="0" bIns="0" rtlCol="0" anchor="ctr"/>
          <a:lstStyle/>
          <a:p>
            <a:pPr indent="0" marL="0">
              <a:buNone/>
            </a:pPr>
            <a:r>
              <a:rPr lang="en-US" sz="1800" b="1" dirty="0">
                <a:solidFill>
                  <a:srgbClr val="141A1F"/>
                </a:solidFill>
                <a:latin typeface="Calibri" pitchFamily="34" charset="0"/>
                <a:ea typeface="Calibri" pitchFamily="34" charset="-122"/>
                <a:cs typeface="Calibri" pitchFamily="34" charset="-120"/>
              </a:rPr>
              <a:t>Freebird · Navan</a:t>
            </a:r>
            <a:endParaRPr lang="en-US" sz="1800" dirty="0"/>
          </a:p>
        </p:txBody>
      </p:sp>
      <p:sp>
        <p:nvSpPr>
          <p:cNvPr id="11" name="Text 9"/>
          <p:cNvSpPr txBox="1"/>
          <p:nvPr/>
        </p:nvSpPr>
        <p:spPr>
          <a:xfrm>
            <a:off x="4608576" y="2450592"/>
            <a:ext cx="2944368" cy="91440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Automatically rebook a disrupted flight, sold through card issuers and corporate travel.</a:t>
            </a:r>
            <a:endParaRPr lang="en-US" sz="1300" dirty="0"/>
          </a:p>
        </p:txBody>
      </p:sp>
      <p:sp>
        <p:nvSpPr>
          <p:cNvPr id="12" name="Shape 10"/>
          <p:cNvSpPr/>
          <p:nvPr/>
        </p:nvSpPr>
        <p:spPr>
          <a:xfrm>
            <a:off x="4608576" y="3529584"/>
            <a:ext cx="118872" cy="118872"/>
          </a:xfrm>
          <a:prstGeom prst="ellipse">
            <a:avLst/>
          </a:prstGeom>
          <a:solidFill>
            <a:srgbClr val="D14B4B"/>
          </a:solidFill>
          <a:ln/>
        </p:spPr>
      </p:sp>
      <p:sp>
        <p:nvSpPr>
          <p:cNvPr id="13" name="Text 11"/>
          <p:cNvSpPr txBox="1"/>
          <p:nvPr/>
        </p:nvSpPr>
        <p:spPr>
          <a:xfrm>
            <a:off x="4809744" y="3438144"/>
            <a:ext cx="2743200" cy="868680"/>
          </a:xfrm>
          <a:prstGeom prst="rect">
            <a:avLst/>
          </a:prstGeom>
          <a:noFill/>
          <a:ln/>
        </p:spPr>
        <p:txBody>
          <a:bodyPr wrap="square" lIns="0" tIns="0" rIns="0" bIns="0" rtlCol="0" anchor="ctr"/>
          <a:lstStyle/>
          <a:p>
            <a:pPr indent="0" marL="0">
              <a:buNone/>
            </a:pPr>
            <a:r>
              <a:rPr lang="en-US" sz="1300" b="1" dirty="0">
                <a:solidFill>
                  <a:srgbClr val="141A1F"/>
                </a:solidFill>
                <a:latin typeface="Calibri" pitchFamily="34" charset="0"/>
                <a:ea typeface="Calibri" pitchFamily="34" charset="-122"/>
                <a:cs typeface="Calibri" pitchFamily="34" charset="-120"/>
              </a:rPr>
              <a:t>The flight only. Your hotel, car and activity are still your problem.</a:t>
            </a:r>
            <a:endParaRPr lang="en-US" sz="1300" dirty="0"/>
          </a:p>
        </p:txBody>
      </p:sp>
      <p:sp>
        <p:nvSpPr>
          <p:cNvPr id="14" name="Shape 12"/>
          <p:cNvSpPr/>
          <p:nvPr/>
        </p:nvSpPr>
        <p:spPr>
          <a:xfrm>
            <a:off x="8065008" y="1828800"/>
            <a:ext cx="3456432" cy="2606040"/>
          </a:xfrm>
          <a:prstGeom prst="roundRect">
            <a:avLst>
              <a:gd name="adj" fmla="val 2105"/>
            </a:avLst>
          </a:prstGeom>
          <a:solidFill>
            <a:srgbClr val="F2F5F8"/>
          </a:solidFill>
          <a:ln w="12700">
            <a:solidFill>
              <a:srgbClr val="DCE3EA"/>
            </a:solidFill>
            <a:prstDash val="solid"/>
          </a:ln>
        </p:spPr>
      </p:sp>
      <p:sp>
        <p:nvSpPr>
          <p:cNvPr id="15" name="Text 13"/>
          <p:cNvSpPr txBox="1"/>
          <p:nvPr/>
        </p:nvSpPr>
        <p:spPr>
          <a:xfrm>
            <a:off x="8321040" y="2048256"/>
            <a:ext cx="2944368" cy="320040"/>
          </a:xfrm>
          <a:prstGeom prst="rect">
            <a:avLst/>
          </a:prstGeom>
          <a:noFill/>
          <a:ln/>
        </p:spPr>
        <p:txBody>
          <a:bodyPr wrap="square" lIns="0" tIns="0" rIns="0" bIns="0" rtlCol="0" anchor="ctr"/>
          <a:lstStyle/>
          <a:p>
            <a:pPr indent="0" marL="0">
              <a:buNone/>
            </a:pPr>
            <a:r>
              <a:rPr lang="en-US" sz="1800" b="1" dirty="0">
                <a:solidFill>
                  <a:srgbClr val="141A1F"/>
                </a:solidFill>
                <a:latin typeface="Calibri" pitchFamily="34" charset="0"/>
                <a:ea typeface="Calibri" pitchFamily="34" charset="-122"/>
                <a:cs typeface="Calibri" pitchFamily="34" charset="-120"/>
              </a:rPr>
              <a:t>The airline</a:t>
            </a:r>
            <a:endParaRPr lang="en-US" sz="1800" dirty="0"/>
          </a:p>
        </p:txBody>
      </p:sp>
      <p:sp>
        <p:nvSpPr>
          <p:cNvPr id="16" name="Text 14"/>
          <p:cNvSpPr txBox="1"/>
          <p:nvPr/>
        </p:nvSpPr>
        <p:spPr>
          <a:xfrm>
            <a:off x="8321040" y="2450592"/>
            <a:ext cx="2944368" cy="91440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Rebooks you onto its own next available service.</a:t>
            </a:r>
            <a:endParaRPr lang="en-US" sz="1300" dirty="0"/>
          </a:p>
        </p:txBody>
      </p:sp>
      <p:sp>
        <p:nvSpPr>
          <p:cNvPr id="17" name="Shape 15"/>
          <p:cNvSpPr/>
          <p:nvPr/>
        </p:nvSpPr>
        <p:spPr>
          <a:xfrm>
            <a:off x="8321040" y="3529584"/>
            <a:ext cx="118872" cy="118872"/>
          </a:xfrm>
          <a:prstGeom prst="ellipse">
            <a:avLst/>
          </a:prstGeom>
          <a:solidFill>
            <a:srgbClr val="D14B4B"/>
          </a:solidFill>
          <a:ln/>
        </p:spPr>
      </p:sp>
      <p:sp>
        <p:nvSpPr>
          <p:cNvPr id="18" name="Text 16"/>
          <p:cNvSpPr txBox="1"/>
          <p:nvPr/>
        </p:nvSpPr>
        <p:spPr>
          <a:xfrm>
            <a:off x="8522208" y="3438144"/>
            <a:ext cx="2743200" cy="868680"/>
          </a:xfrm>
          <a:prstGeom prst="rect">
            <a:avLst/>
          </a:prstGeom>
          <a:noFill/>
          <a:ln/>
        </p:spPr>
        <p:txBody>
          <a:bodyPr wrap="square" lIns="0" tIns="0" rIns="0" bIns="0" rtlCol="0" anchor="ctr"/>
          <a:lstStyle/>
          <a:p>
            <a:pPr indent="0" marL="0">
              <a:buNone/>
            </a:pPr>
            <a:r>
              <a:rPr lang="en-US" sz="1300" b="1" dirty="0">
                <a:solidFill>
                  <a:srgbClr val="141A1F"/>
                </a:solidFill>
                <a:latin typeface="Calibri" pitchFamily="34" charset="0"/>
                <a:ea typeface="Calibri" pitchFamily="34" charset="-122"/>
                <a:cs typeface="Calibri" pitchFamily="34" charset="-120"/>
              </a:rPr>
              <a:t>It has never heard of the other four things you bought.</a:t>
            </a:r>
            <a:endParaRPr lang="en-US" sz="1300" dirty="0"/>
          </a:p>
        </p:txBody>
      </p:sp>
      <p:sp>
        <p:nvSpPr>
          <p:cNvPr id="19" name="Shape 17"/>
          <p:cNvSpPr/>
          <p:nvPr/>
        </p:nvSpPr>
        <p:spPr>
          <a:xfrm>
            <a:off x="640080" y="4754880"/>
            <a:ext cx="10908792" cy="1051560"/>
          </a:xfrm>
          <a:prstGeom prst="roundRect">
            <a:avLst>
              <a:gd name="adj" fmla="val 5217"/>
            </a:avLst>
          </a:prstGeom>
          <a:solidFill>
            <a:srgbClr val="0E1A2B"/>
          </a:solidFill>
          <a:ln w="12700">
            <a:solidFill>
              <a:srgbClr val="DCE3EA"/>
            </a:solidFill>
            <a:prstDash val="solid"/>
          </a:ln>
        </p:spPr>
      </p:sp>
      <p:sp>
        <p:nvSpPr>
          <p:cNvPr id="20" name="Text 18"/>
          <p:cNvSpPr txBox="1"/>
          <p:nvPr/>
        </p:nvSpPr>
        <p:spPr>
          <a:xfrm>
            <a:off x="1005840" y="4956048"/>
            <a:ext cx="10149840" cy="6400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Everyone repairs the booking they sold you. We repair the trip you actually have.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THE PRODUCT</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You make one decision. The agent does the rest — inside limits you set.</a:t>
            </a:r>
            <a:endParaRPr lang="en-US" sz="3400" dirty="0"/>
          </a:p>
        </p:txBody>
      </p:sp>
      <p:sp>
        <p:nvSpPr>
          <p:cNvPr id="4" name="Shape 2"/>
          <p:cNvSpPr/>
          <p:nvPr/>
        </p:nvSpPr>
        <p:spPr>
          <a:xfrm>
            <a:off x="640080" y="1783080"/>
            <a:ext cx="420624" cy="420624"/>
          </a:xfrm>
          <a:prstGeom prst="ellipse">
            <a:avLst/>
          </a:prstGeom>
          <a:solidFill>
            <a:srgbClr val="0067E5"/>
          </a:solidFill>
          <a:ln/>
        </p:spPr>
      </p:sp>
      <p:sp>
        <p:nvSpPr>
          <p:cNvPr id="5" name="Text 3"/>
          <p:cNvSpPr txBox="1"/>
          <p:nvPr/>
        </p:nvSpPr>
        <p:spPr>
          <a:xfrm>
            <a:off x="640080" y="1828800"/>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61872" y="1764792"/>
            <a:ext cx="585216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We model the trip</a:t>
            </a:r>
            <a:endParaRPr lang="en-US" sz="1600" dirty="0"/>
          </a:p>
        </p:txBody>
      </p:sp>
      <p:sp>
        <p:nvSpPr>
          <p:cNvPr id="7" name="Text 5"/>
          <p:cNvSpPr txBox="1"/>
          <p:nvPr/>
        </p:nvSpPr>
        <p:spPr>
          <a:xfrm>
            <a:off x="1261872" y="2075688"/>
            <a:ext cx="5852160" cy="41148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Bookings plus the dependencies between them, not a flat list.</a:t>
            </a:r>
            <a:endParaRPr lang="en-US" sz="1300" dirty="0"/>
          </a:p>
        </p:txBody>
      </p:sp>
      <p:sp>
        <p:nvSpPr>
          <p:cNvPr id="8" name="Shape 6"/>
          <p:cNvSpPr/>
          <p:nvPr/>
        </p:nvSpPr>
        <p:spPr>
          <a:xfrm>
            <a:off x="640080" y="2715768"/>
            <a:ext cx="420624" cy="420624"/>
          </a:xfrm>
          <a:prstGeom prst="ellipse">
            <a:avLst/>
          </a:prstGeom>
          <a:solidFill>
            <a:srgbClr val="0067E5"/>
          </a:solidFill>
          <a:ln/>
        </p:spPr>
      </p:sp>
      <p:sp>
        <p:nvSpPr>
          <p:cNvPr id="9" name="Text 7"/>
          <p:cNvSpPr txBox="1"/>
          <p:nvPr/>
        </p:nvSpPr>
        <p:spPr>
          <a:xfrm>
            <a:off x="640080" y="2761488"/>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61872" y="2697480"/>
            <a:ext cx="585216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We compute the cascade</a:t>
            </a:r>
            <a:endParaRPr lang="en-US" sz="1600" dirty="0"/>
          </a:p>
        </p:txBody>
      </p:sp>
      <p:sp>
        <p:nvSpPr>
          <p:cNvPr id="11" name="Text 9"/>
          <p:cNvSpPr txBox="1"/>
          <p:nvPr/>
        </p:nvSpPr>
        <p:spPr>
          <a:xfrm>
            <a:off x="1261872" y="3008376"/>
            <a:ext cx="5852160" cy="41148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What is broken, what is merely at risk, and why.</a:t>
            </a:r>
            <a:endParaRPr lang="en-US" sz="1300" dirty="0"/>
          </a:p>
        </p:txBody>
      </p:sp>
      <p:sp>
        <p:nvSpPr>
          <p:cNvPr id="12" name="Shape 10"/>
          <p:cNvSpPr/>
          <p:nvPr/>
        </p:nvSpPr>
        <p:spPr>
          <a:xfrm>
            <a:off x="640080" y="3648456"/>
            <a:ext cx="420624" cy="420624"/>
          </a:xfrm>
          <a:prstGeom prst="ellipse">
            <a:avLst/>
          </a:prstGeom>
          <a:solidFill>
            <a:srgbClr val="0067E5"/>
          </a:solidFill>
          <a:ln/>
        </p:spPr>
      </p:sp>
      <p:sp>
        <p:nvSpPr>
          <p:cNvPr id="13" name="Text 11"/>
          <p:cNvSpPr txBox="1"/>
          <p:nvPr/>
        </p:nvSpPr>
        <p:spPr>
          <a:xfrm>
            <a:off x="640080" y="3694176"/>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61872" y="3630168"/>
            <a:ext cx="585216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You pick a strategy</a:t>
            </a:r>
            <a:endParaRPr lang="en-US" sz="1600" dirty="0"/>
          </a:p>
        </p:txBody>
      </p:sp>
      <p:sp>
        <p:nvSpPr>
          <p:cNvPr id="15" name="Text 13"/>
          <p:cNvSpPr txBox="1"/>
          <p:nvPr/>
        </p:nvSpPr>
        <p:spPr>
          <a:xfrm>
            <a:off x="1261872" y="3941064"/>
            <a:ext cx="5852160" cy="41148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Three complete whole-trip recoveries, with their trade-offs shown.</a:t>
            </a:r>
            <a:endParaRPr lang="en-US" sz="1300" dirty="0"/>
          </a:p>
        </p:txBody>
      </p:sp>
      <p:sp>
        <p:nvSpPr>
          <p:cNvPr id="16" name="Shape 14"/>
          <p:cNvSpPr/>
          <p:nvPr/>
        </p:nvSpPr>
        <p:spPr>
          <a:xfrm>
            <a:off x="640080" y="4581144"/>
            <a:ext cx="420624" cy="420624"/>
          </a:xfrm>
          <a:prstGeom prst="ellipse">
            <a:avLst/>
          </a:prstGeom>
          <a:solidFill>
            <a:srgbClr val="0067E5"/>
          </a:solidFill>
          <a:ln/>
        </p:spPr>
      </p:sp>
      <p:sp>
        <p:nvSpPr>
          <p:cNvPr id="17" name="Text 15"/>
          <p:cNvSpPr txBox="1"/>
          <p:nvPr/>
        </p:nvSpPr>
        <p:spPr>
          <a:xfrm>
            <a:off x="640080" y="4626864"/>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61872" y="4562856"/>
            <a:ext cx="585216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The agent executes</a:t>
            </a:r>
            <a:endParaRPr lang="en-US" sz="1600" dirty="0"/>
          </a:p>
        </p:txBody>
      </p:sp>
      <p:sp>
        <p:nvSpPr>
          <p:cNvPr id="19" name="Text 17"/>
          <p:cNvSpPr txBox="1"/>
          <p:nvPr/>
        </p:nvSpPr>
        <p:spPr>
          <a:xfrm>
            <a:off x="1261872" y="4873752"/>
            <a:ext cx="5852160" cy="41148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Discovers suppliers, decides, pays, and verifies — within your mandate.</a:t>
            </a:r>
            <a:endParaRPr lang="en-US" sz="1300" dirty="0"/>
          </a:p>
        </p:txBody>
      </p:sp>
      <p:sp>
        <p:nvSpPr>
          <p:cNvPr id="20" name="Shape 18"/>
          <p:cNvSpPr/>
          <p:nvPr/>
        </p:nvSpPr>
        <p:spPr>
          <a:xfrm>
            <a:off x="7452360" y="1737360"/>
            <a:ext cx="4114800" cy="3977640"/>
          </a:xfrm>
          <a:prstGeom prst="roundRect">
            <a:avLst>
              <a:gd name="adj" fmla="val 1379"/>
            </a:avLst>
          </a:prstGeom>
          <a:solidFill>
            <a:srgbClr val="0E1A2B"/>
          </a:solidFill>
          <a:ln w="12700">
            <a:solidFill>
              <a:srgbClr val="DCE3EA"/>
            </a:solidFill>
            <a:prstDash val="solid"/>
          </a:ln>
        </p:spPr>
      </p:sp>
      <p:sp>
        <p:nvSpPr>
          <p:cNvPr id="21" name="Text 19"/>
          <p:cNvSpPr txBox="1"/>
          <p:nvPr/>
        </p:nvSpPr>
        <p:spPr>
          <a:xfrm>
            <a:off x="7726680" y="1938528"/>
            <a:ext cx="3566160" cy="256032"/>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RESCUE MANDATE</a:t>
            </a:r>
            <a:endParaRPr lang="en-US" sz="1100" dirty="0"/>
          </a:p>
        </p:txBody>
      </p:sp>
      <p:sp>
        <p:nvSpPr>
          <p:cNvPr id="22" name="Text 20"/>
          <p:cNvSpPr txBox="1"/>
          <p:nvPr/>
        </p:nvSpPr>
        <p:spPr>
          <a:xfrm>
            <a:off x="7726680" y="2212848"/>
            <a:ext cx="356616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you authorise</a:t>
            </a:r>
            <a:endParaRPr lang="en-US" sz="1700" dirty="0"/>
          </a:p>
        </p:txBody>
      </p:sp>
      <p:sp>
        <p:nvSpPr>
          <p:cNvPr id="23" name="Text 21"/>
          <p:cNvSpPr txBox="1"/>
          <p:nvPr/>
        </p:nvSpPr>
        <p:spPr>
          <a:xfrm>
            <a:off x="7726680" y="2697480"/>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Budget</a:t>
            </a:r>
            <a:endParaRPr lang="en-US" sz="1200" dirty="0"/>
          </a:p>
        </p:txBody>
      </p:sp>
      <p:sp>
        <p:nvSpPr>
          <p:cNvPr id="24" name="Text 22"/>
          <p:cNvSpPr txBox="1"/>
          <p:nvPr/>
        </p:nvSpPr>
        <p:spPr>
          <a:xfrm>
            <a:off x="9052560" y="2697480"/>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up to S$300 extra</a:t>
            </a:r>
            <a:endParaRPr lang="en-US" sz="1200" dirty="0"/>
          </a:p>
        </p:txBody>
      </p:sp>
      <p:sp>
        <p:nvSpPr>
          <p:cNvPr id="25" name="Text 23"/>
          <p:cNvSpPr txBox="1"/>
          <p:nvPr/>
        </p:nvSpPr>
        <p:spPr>
          <a:xfrm>
            <a:off x="7726680" y="3118104"/>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Deadline</a:t>
            </a:r>
            <a:endParaRPr lang="en-US" sz="1200" dirty="0"/>
          </a:p>
        </p:txBody>
      </p:sp>
      <p:sp>
        <p:nvSpPr>
          <p:cNvPr id="26" name="Text 24"/>
          <p:cNvSpPr txBox="1"/>
          <p:nvPr/>
        </p:nvSpPr>
        <p:spPr>
          <a:xfrm>
            <a:off x="9052560" y="3118104"/>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arrive before 12:00</a:t>
            </a:r>
            <a:endParaRPr lang="en-US" sz="1200" dirty="0"/>
          </a:p>
        </p:txBody>
      </p:sp>
      <p:sp>
        <p:nvSpPr>
          <p:cNvPr id="27" name="Text 25"/>
          <p:cNvSpPr txBox="1"/>
          <p:nvPr/>
        </p:nvSpPr>
        <p:spPr>
          <a:xfrm>
            <a:off x="7726680" y="3538728"/>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Preserve</a:t>
            </a:r>
            <a:endParaRPr lang="en-US" sz="1200" dirty="0"/>
          </a:p>
        </p:txBody>
      </p:sp>
      <p:sp>
        <p:nvSpPr>
          <p:cNvPr id="28" name="Text 26"/>
          <p:cNvSpPr txBox="1"/>
          <p:nvPr/>
        </p:nvSpPr>
        <p:spPr>
          <a:xfrm>
            <a:off x="9052560" y="3538728"/>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Fuji activity</a:t>
            </a:r>
            <a:endParaRPr lang="en-US" sz="1200" dirty="0"/>
          </a:p>
        </p:txBody>
      </p:sp>
      <p:sp>
        <p:nvSpPr>
          <p:cNvPr id="29" name="Text 27"/>
          <p:cNvSpPr txBox="1"/>
          <p:nvPr/>
        </p:nvSpPr>
        <p:spPr>
          <a:xfrm>
            <a:off x="7726680" y="3959352"/>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Suppliers</a:t>
            </a:r>
            <a:endParaRPr lang="en-US" sz="1200" dirty="0"/>
          </a:p>
        </p:txBody>
      </p:sp>
      <p:sp>
        <p:nvSpPr>
          <p:cNvPr id="30" name="Text 28"/>
          <p:cNvSpPr txBox="1"/>
          <p:nvPr/>
        </p:nvSpPr>
        <p:spPr>
          <a:xfrm>
            <a:off x="9052560" y="3959352"/>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allow-listed only</a:t>
            </a:r>
            <a:endParaRPr lang="en-US" sz="1200" dirty="0"/>
          </a:p>
        </p:txBody>
      </p:sp>
      <p:sp>
        <p:nvSpPr>
          <p:cNvPr id="31" name="Text 29"/>
          <p:cNvSpPr txBox="1"/>
          <p:nvPr/>
        </p:nvSpPr>
        <p:spPr>
          <a:xfrm>
            <a:off x="7726680" y="4379976"/>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Network</a:t>
            </a:r>
            <a:endParaRPr lang="en-US" sz="1200" dirty="0"/>
          </a:p>
        </p:txBody>
      </p:sp>
      <p:sp>
        <p:nvSpPr>
          <p:cNvPr id="32" name="Text 30"/>
          <p:cNvSpPr txBox="1"/>
          <p:nvPr/>
        </p:nvSpPr>
        <p:spPr>
          <a:xfrm>
            <a:off x="9052560" y="4379976"/>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XRPL Testnet</a:t>
            </a:r>
            <a:endParaRPr lang="en-US" sz="1200" dirty="0"/>
          </a:p>
        </p:txBody>
      </p:sp>
      <p:sp>
        <p:nvSpPr>
          <p:cNvPr id="33" name="Text 31"/>
          <p:cNvSpPr txBox="1"/>
          <p:nvPr/>
        </p:nvSpPr>
        <p:spPr>
          <a:xfrm>
            <a:off x="7726680" y="4937760"/>
            <a:ext cx="3566160" cy="640080"/>
          </a:xfrm>
          <a:prstGeom prst="rect">
            <a:avLst/>
          </a:prstGeom>
          <a:noFill/>
          <a:ln/>
        </p:spPr>
        <p:txBody>
          <a:bodyPr wrap="square" lIns="0" tIns="0" rIns="0" bIns="0" rtlCol="0" anchor="ctr"/>
          <a:lstStyle/>
          <a:p>
            <a:pPr indent="0" marL="0">
              <a:buNone/>
            </a:pPr>
            <a:r>
              <a:rPr lang="en-US" sz="1200" i="1" dirty="0">
                <a:solidFill>
                  <a:srgbClr val="C6D4E6"/>
                </a:solidFill>
                <a:latin typeface="Calibri" pitchFamily="34" charset="0"/>
                <a:ea typeface="Calibri" pitchFamily="34" charset="-122"/>
                <a:cs typeface="Calibri" pitchFamily="34" charset="-120"/>
              </a:rPr>
              <a:t>Exceed any of these and the agent stops and comes back to you.</a:t>
            </a:r>
            <a:endParaRPr lang="en-US" sz="1200" dirty="0"/>
          </a:p>
        </p:txBody>
      </p:sp>
      <p:sp>
        <p:nvSpPr>
          <p:cNvPr id="34" name="Text 32"/>
          <p:cNvSpPr txBox="1"/>
          <p:nvPr/>
        </p:nvSpPr>
        <p:spPr>
          <a:xfrm>
            <a:off x="640080" y="5577840"/>
            <a:ext cx="6583680" cy="365760"/>
          </a:xfrm>
          <a:prstGeom prst="rect">
            <a:avLst/>
          </a:prstGeom>
          <a:noFill/>
          <a:ln/>
        </p:spPr>
        <p:txBody>
          <a:bodyPr wrap="square" lIns="0" tIns="0" rIns="0" bIns="0" rtlCol="0" anchor="ctr"/>
          <a:lstStyle/>
          <a:p>
            <a:pPr indent="0" marL="0">
              <a:buNone/>
            </a:pPr>
            <a:r>
              <a:rPr lang="en-US" sz="1900" b="1" dirty="0">
                <a:solidFill>
                  <a:srgbClr val="141A1F"/>
                </a:solidFill>
                <a:latin typeface="Cambria" pitchFamily="34" charset="0"/>
                <a:ea typeface="Cambria" pitchFamily="34" charset="-122"/>
                <a:cs typeface="Cambria" pitchFamily="34" charset="-120"/>
              </a:rPr>
              <a:t>Strategic human control. Tactical agent autonomy.</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WHAT MAKES IT DIFFERENT</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The same cancellation should not resolve the same way for everyone.</a:t>
            </a:r>
            <a:endParaRPr lang="en-US" sz="3400" dirty="0"/>
          </a:p>
        </p:txBody>
      </p:sp>
      <p:sp>
        <p:nvSpPr>
          <p:cNvPr id="4" name="Shape 2"/>
          <p:cNvSpPr/>
          <p:nvPr/>
        </p:nvSpPr>
        <p:spPr>
          <a:xfrm>
            <a:off x="640080" y="1783080"/>
            <a:ext cx="3456432" cy="3246120"/>
          </a:xfrm>
          <a:prstGeom prst="roundRect">
            <a:avLst>
              <a:gd name="adj" fmla="val 1690"/>
            </a:avLst>
          </a:prstGeom>
          <a:solidFill>
            <a:srgbClr val="F2F5F8"/>
          </a:solidFill>
          <a:ln w="12700">
            <a:solidFill>
              <a:srgbClr val="DCE3EA"/>
            </a:solidFill>
            <a:prstDash val="solid"/>
          </a:ln>
        </p:spPr>
      </p:sp>
      <p:sp>
        <p:nvSpPr>
          <p:cNvPr id="5" name="Text 3"/>
          <p:cNvSpPr txBox="1"/>
          <p:nvPr/>
        </p:nvSpPr>
        <p:spPr>
          <a:xfrm>
            <a:off x="896112" y="1965960"/>
            <a:ext cx="2944368" cy="320040"/>
          </a:xfrm>
          <a:prstGeom prst="rect">
            <a:avLst/>
          </a:prstGeom>
          <a:noFill/>
          <a:ln/>
        </p:spPr>
        <p:txBody>
          <a:bodyPr wrap="square" lIns="0" tIns="0" rIns="0" bIns="0" rtlCol="0" anchor="ctr"/>
          <a:lstStyle/>
          <a:p>
            <a:pPr indent="0" marL="0">
              <a:buNone/>
            </a:pPr>
            <a:r>
              <a:rPr lang="en-US" sz="1900" b="1" dirty="0">
                <a:solidFill>
                  <a:srgbClr val="141A1F"/>
                </a:solidFill>
                <a:latin typeface="Calibri" pitchFamily="34" charset="0"/>
                <a:ea typeface="Calibri" pitchFamily="34" charset="-122"/>
                <a:cs typeface="Calibri" pitchFamily="34" charset="-120"/>
              </a:rPr>
              <a:t>Leisure</a:t>
            </a:r>
            <a:endParaRPr lang="en-US" sz="1900" dirty="0"/>
          </a:p>
        </p:txBody>
      </p:sp>
      <p:sp>
        <p:nvSpPr>
          <p:cNvPr id="6" name="Text 4"/>
          <p:cNvSpPr txBox="1"/>
          <p:nvPr/>
        </p:nvSpPr>
        <p:spPr>
          <a:xfrm>
            <a:off x="896112" y="2304288"/>
            <a:ext cx="2944368" cy="274320"/>
          </a:xfrm>
          <a:prstGeom prst="rect">
            <a:avLst/>
          </a:prstGeom>
          <a:noFill/>
          <a:ln/>
        </p:spPr>
        <p:txBody>
          <a:bodyPr wrap="square" lIns="0" tIns="0" rIns="0" bIns="0" rtlCol="0" anchor="ctr"/>
          <a:lstStyle/>
          <a:p>
            <a:pPr indent="0" marL="0">
              <a:buNone/>
            </a:pPr>
            <a:r>
              <a:rPr lang="en-US" sz="1200" i="1" dirty="0">
                <a:solidFill>
                  <a:srgbClr val="5D6B7C"/>
                </a:solidFill>
                <a:latin typeface="Calibri" pitchFamily="34" charset="0"/>
                <a:ea typeface="Calibri" pitchFamily="34" charset="-122"/>
                <a:cs typeface="Calibri" pitchFamily="34" charset="-120"/>
              </a:rPr>
              <a:t>Keep the cost down</a:t>
            </a:r>
            <a:endParaRPr lang="en-US" sz="1200" dirty="0"/>
          </a:p>
        </p:txBody>
      </p:sp>
      <p:sp>
        <p:nvSpPr>
          <p:cNvPr id="7" name="Text 5"/>
          <p:cNvSpPr txBox="1"/>
          <p:nvPr/>
        </p:nvSpPr>
        <p:spPr>
          <a:xfrm>
            <a:off x="896112" y="2724912"/>
            <a:ext cx="2944368" cy="219456"/>
          </a:xfrm>
          <a:prstGeom prst="rect">
            <a:avLst/>
          </a:prstGeom>
          <a:noFill/>
          <a:ln/>
        </p:spPr>
        <p:txBody>
          <a:bodyPr wrap="square" lIns="0" tIns="0" rIns="0" bIns="0" rtlCol="0" anchor="ctr"/>
          <a:lstStyle/>
          <a:p>
            <a:pPr indent="0" marL="0">
              <a:buNone/>
            </a:pPr>
            <a:r>
              <a:rPr lang="en-US" sz="1000" spc="100" kern="0" dirty="0">
                <a:solidFill>
                  <a:srgbClr val="5D6B7C"/>
                </a:solidFill>
                <a:latin typeface="Calibri" pitchFamily="34" charset="0"/>
                <a:ea typeface="Calibri" pitchFamily="34" charset="-122"/>
                <a:cs typeface="Calibri" pitchFamily="34" charset="-120"/>
              </a:rPr>
              <a:t>Budget</a:t>
            </a:r>
            <a:endParaRPr lang="en-US" sz="1000" dirty="0"/>
          </a:p>
        </p:txBody>
      </p:sp>
      <p:sp>
        <p:nvSpPr>
          <p:cNvPr id="8" name="Text 6"/>
          <p:cNvSpPr txBox="1"/>
          <p:nvPr/>
        </p:nvSpPr>
        <p:spPr>
          <a:xfrm>
            <a:off x="896112" y="2926080"/>
            <a:ext cx="2944368"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S$300</a:t>
            </a:r>
            <a:endParaRPr lang="en-US" sz="1400" dirty="0"/>
          </a:p>
        </p:txBody>
      </p:sp>
      <p:sp>
        <p:nvSpPr>
          <p:cNvPr id="9" name="Text 7"/>
          <p:cNvSpPr txBox="1"/>
          <p:nvPr/>
        </p:nvSpPr>
        <p:spPr>
          <a:xfrm>
            <a:off x="896112" y="3227832"/>
            <a:ext cx="2944368" cy="219456"/>
          </a:xfrm>
          <a:prstGeom prst="rect">
            <a:avLst/>
          </a:prstGeom>
          <a:noFill/>
          <a:ln/>
        </p:spPr>
        <p:txBody>
          <a:bodyPr wrap="square" lIns="0" tIns="0" rIns="0" bIns="0" rtlCol="0" anchor="ctr"/>
          <a:lstStyle/>
          <a:p>
            <a:pPr indent="0" marL="0">
              <a:buNone/>
            </a:pPr>
            <a:r>
              <a:rPr lang="en-US" sz="1000" spc="100" kern="0" dirty="0">
                <a:solidFill>
                  <a:srgbClr val="5D6B7C"/>
                </a:solidFill>
                <a:latin typeface="Calibri" pitchFamily="34" charset="0"/>
                <a:ea typeface="Calibri" pitchFamily="34" charset="-122"/>
                <a:cs typeface="Calibri" pitchFamily="34" charset="-120"/>
              </a:rPr>
              <a:t>Recommended</a:t>
            </a:r>
            <a:endParaRPr lang="en-US" sz="1000" dirty="0"/>
          </a:p>
        </p:txBody>
      </p:sp>
      <p:sp>
        <p:nvSpPr>
          <p:cNvPr id="10" name="Text 8"/>
          <p:cNvSpPr txBox="1"/>
          <p:nvPr/>
        </p:nvSpPr>
        <p:spPr>
          <a:xfrm>
            <a:off x="896112" y="3429000"/>
            <a:ext cx="2944368"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Most reliable</a:t>
            </a:r>
            <a:endParaRPr lang="en-US" sz="1400" dirty="0"/>
          </a:p>
        </p:txBody>
      </p:sp>
      <p:sp>
        <p:nvSpPr>
          <p:cNvPr id="11" name="Text 9"/>
          <p:cNvSpPr txBox="1"/>
          <p:nvPr/>
        </p:nvSpPr>
        <p:spPr>
          <a:xfrm>
            <a:off x="896112" y="3730752"/>
            <a:ext cx="2944368" cy="219456"/>
          </a:xfrm>
          <a:prstGeom prst="rect">
            <a:avLst/>
          </a:prstGeom>
          <a:noFill/>
          <a:ln/>
        </p:spPr>
        <p:txBody>
          <a:bodyPr wrap="square" lIns="0" tIns="0" rIns="0" bIns="0" rtlCol="0" anchor="ctr"/>
          <a:lstStyle/>
          <a:p>
            <a:pPr indent="0" marL="0">
              <a:buNone/>
            </a:pPr>
            <a:r>
              <a:rPr lang="en-US" sz="1000" spc="100" kern="0" dirty="0">
                <a:solidFill>
                  <a:srgbClr val="5D6B7C"/>
                </a:solidFill>
                <a:latin typeface="Calibri" pitchFamily="34" charset="0"/>
                <a:ea typeface="Calibri" pitchFamily="34" charset="-122"/>
                <a:cs typeface="Calibri" pitchFamily="34" charset="-120"/>
              </a:rPr>
              <a:t>Agent buys</a:t>
            </a:r>
            <a:endParaRPr lang="en-US" sz="1000" dirty="0"/>
          </a:p>
        </p:txBody>
      </p:sp>
      <p:sp>
        <p:nvSpPr>
          <p:cNvPr id="12" name="Text 10"/>
          <p:cNvSpPr txBox="1"/>
          <p:nvPr/>
        </p:nvSpPr>
        <p:spPr>
          <a:xfrm>
            <a:off x="896112" y="3931920"/>
            <a:ext cx="2944368"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Protected transfer</a:t>
            </a:r>
            <a:endParaRPr lang="en-US" sz="1400" dirty="0"/>
          </a:p>
        </p:txBody>
      </p:sp>
      <p:sp>
        <p:nvSpPr>
          <p:cNvPr id="13" name="Text 11"/>
          <p:cNvSpPr txBox="1"/>
          <p:nvPr/>
        </p:nvSpPr>
        <p:spPr>
          <a:xfrm>
            <a:off x="896112" y="4279392"/>
            <a:ext cx="1280160" cy="384048"/>
          </a:xfrm>
          <a:prstGeom prst="rect">
            <a:avLst/>
          </a:prstGeom>
          <a:noFill/>
          <a:ln/>
        </p:spPr>
        <p:txBody>
          <a:bodyPr wrap="square" lIns="0" tIns="0" rIns="0" bIns="0" rtlCol="0" anchor="ctr"/>
          <a:lstStyle/>
          <a:p>
            <a:pPr indent="0" marL="0">
              <a:buNone/>
            </a:pPr>
            <a:r>
              <a:rPr lang="en-US" sz="2600" b="1" dirty="0">
                <a:solidFill>
                  <a:srgbClr val="1E9E63"/>
                </a:solidFill>
                <a:latin typeface="Cambria" pitchFamily="34" charset="0"/>
                <a:ea typeface="Cambria" pitchFamily="34" charset="-122"/>
                <a:cs typeface="Cambria" pitchFamily="34" charset="-120"/>
              </a:rPr>
              <a:t>S$48</a:t>
            </a:r>
            <a:endParaRPr lang="en-US" sz="2600" dirty="0"/>
          </a:p>
        </p:txBody>
      </p:sp>
      <p:sp>
        <p:nvSpPr>
          <p:cNvPr id="14" name="Text 12"/>
          <p:cNvSpPr txBox="1"/>
          <p:nvPr/>
        </p:nvSpPr>
        <p:spPr>
          <a:xfrm>
            <a:off x="2121408" y="4389120"/>
            <a:ext cx="1737360" cy="274320"/>
          </a:xfrm>
          <a:prstGeom prst="rect">
            <a:avLst/>
          </a:prstGeom>
          <a:noFill/>
          <a:ln/>
        </p:spPr>
        <p:txBody>
          <a:bodyPr wrap="square" lIns="0" tIns="0" rIns="0" bIns="0" rtlCol="0" anchor="ctr"/>
          <a:lstStyle/>
          <a:p>
            <a:pPr indent="0" marL="0">
              <a:buNone/>
            </a:pPr>
            <a:r>
              <a:rPr lang="en-US" sz="1100" dirty="0">
                <a:solidFill>
                  <a:srgbClr val="5D6B7C"/>
                </a:solidFill>
                <a:latin typeface="Calibri" pitchFamily="34" charset="0"/>
                <a:ea typeface="Calibri" pitchFamily="34" charset="-122"/>
                <a:cs typeface="Calibri" pitchFamily="34" charset="-120"/>
              </a:rPr>
              <a:t>cheapest allowed</a:t>
            </a:r>
            <a:endParaRPr lang="en-US" sz="1100" dirty="0"/>
          </a:p>
        </p:txBody>
      </p:sp>
      <p:sp>
        <p:nvSpPr>
          <p:cNvPr id="15" name="Shape 13"/>
          <p:cNvSpPr/>
          <p:nvPr/>
        </p:nvSpPr>
        <p:spPr>
          <a:xfrm>
            <a:off x="4352544" y="1783080"/>
            <a:ext cx="3456432" cy="3246120"/>
          </a:xfrm>
          <a:prstGeom prst="roundRect">
            <a:avLst>
              <a:gd name="adj" fmla="val 1690"/>
            </a:avLst>
          </a:prstGeom>
          <a:solidFill>
            <a:srgbClr val="0E1A2B"/>
          </a:solidFill>
          <a:ln w="12700">
            <a:solidFill>
              <a:srgbClr val="DCE3EA"/>
            </a:solidFill>
            <a:prstDash val="solid"/>
          </a:ln>
        </p:spPr>
      </p:sp>
      <p:sp>
        <p:nvSpPr>
          <p:cNvPr id="16" name="Text 14"/>
          <p:cNvSpPr txBox="1"/>
          <p:nvPr/>
        </p:nvSpPr>
        <p:spPr>
          <a:xfrm>
            <a:off x="4608576" y="1965960"/>
            <a:ext cx="2944368" cy="32004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Business</a:t>
            </a:r>
            <a:endParaRPr lang="en-US" sz="1900" dirty="0"/>
          </a:p>
        </p:txBody>
      </p:sp>
      <p:sp>
        <p:nvSpPr>
          <p:cNvPr id="17" name="Text 15"/>
          <p:cNvSpPr txBox="1"/>
          <p:nvPr/>
        </p:nvSpPr>
        <p:spPr>
          <a:xfrm>
            <a:off x="4608576" y="2304288"/>
            <a:ext cx="2944368" cy="274320"/>
          </a:xfrm>
          <a:prstGeom prst="rect">
            <a:avLst/>
          </a:prstGeom>
          <a:noFill/>
          <a:ln/>
        </p:spPr>
        <p:txBody>
          <a:bodyPr wrap="square" lIns="0" tIns="0" rIns="0" bIns="0" rtlCol="0" anchor="ctr"/>
          <a:lstStyle/>
          <a:p>
            <a:pPr indent="0" marL="0">
              <a:buNone/>
            </a:pPr>
            <a:r>
              <a:rPr lang="en-US" sz="1200" i="1" dirty="0">
                <a:solidFill>
                  <a:srgbClr val="C6D4E6"/>
                </a:solidFill>
                <a:latin typeface="Calibri" pitchFamily="34" charset="0"/>
                <a:ea typeface="Calibri" pitchFamily="34" charset="-122"/>
                <a:cs typeface="Calibri" pitchFamily="34" charset="-120"/>
              </a:rPr>
              <a:t>Be there for the meeting</a:t>
            </a:r>
            <a:endParaRPr lang="en-US" sz="1200" dirty="0"/>
          </a:p>
        </p:txBody>
      </p:sp>
      <p:sp>
        <p:nvSpPr>
          <p:cNvPr id="18" name="Text 16"/>
          <p:cNvSpPr txBox="1"/>
          <p:nvPr/>
        </p:nvSpPr>
        <p:spPr>
          <a:xfrm>
            <a:off x="4608576" y="2724912"/>
            <a:ext cx="2944368" cy="219456"/>
          </a:xfrm>
          <a:prstGeom prst="rect">
            <a:avLst/>
          </a:prstGeom>
          <a:noFill/>
          <a:ln/>
        </p:spPr>
        <p:txBody>
          <a:bodyPr wrap="square" lIns="0" tIns="0" rIns="0" bIns="0" rtlCol="0" anchor="ctr"/>
          <a:lstStyle/>
          <a:p>
            <a:pPr indent="0" marL="0">
              <a:buNone/>
            </a:pPr>
            <a:r>
              <a:rPr lang="en-US" sz="1000" spc="100" kern="0" dirty="0">
                <a:solidFill>
                  <a:srgbClr val="C6D4E6"/>
                </a:solidFill>
                <a:latin typeface="Calibri" pitchFamily="34" charset="0"/>
                <a:ea typeface="Calibri" pitchFamily="34" charset="-122"/>
                <a:cs typeface="Calibri" pitchFamily="34" charset="-120"/>
              </a:rPr>
              <a:t>Budget</a:t>
            </a:r>
            <a:endParaRPr lang="en-US" sz="1000" dirty="0"/>
          </a:p>
        </p:txBody>
      </p:sp>
      <p:sp>
        <p:nvSpPr>
          <p:cNvPr id="19" name="Text 17"/>
          <p:cNvSpPr txBox="1"/>
          <p:nvPr/>
        </p:nvSpPr>
        <p:spPr>
          <a:xfrm>
            <a:off x="4608576" y="2926080"/>
            <a:ext cx="294436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S$600</a:t>
            </a:r>
            <a:endParaRPr lang="en-US" sz="1400" dirty="0"/>
          </a:p>
        </p:txBody>
      </p:sp>
      <p:sp>
        <p:nvSpPr>
          <p:cNvPr id="20" name="Text 18"/>
          <p:cNvSpPr txBox="1"/>
          <p:nvPr/>
        </p:nvSpPr>
        <p:spPr>
          <a:xfrm>
            <a:off x="4608576" y="3227832"/>
            <a:ext cx="2944368" cy="219456"/>
          </a:xfrm>
          <a:prstGeom prst="rect">
            <a:avLst/>
          </a:prstGeom>
          <a:noFill/>
          <a:ln/>
        </p:spPr>
        <p:txBody>
          <a:bodyPr wrap="square" lIns="0" tIns="0" rIns="0" bIns="0" rtlCol="0" anchor="ctr"/>
          <a:lstStyle/>
          <a:p>
            <a:pPr indent="0" marL="0">
              <a:buNone/>
            </a:pPr>
            <a:r>
              <a:rPr lang="en-US" sz="1000" spc="100" kern="0" dirty="0">
                <a:solidFill>
                  <a:srgbClr val="C6D4E6"/>
                </a:solidFill>
                <a:latin typeface="Calibri" pitchFamily="34" charset="0"/>
                <a:ea typeface="Calibri" pitchFamily="34" charset="-122"/>
                <a:cs typeface="Calibri" pitchFamily="34" charset="-120"/>
              </a:rPr>
              <a:t>Recommended</a:t>
            </a:r>
            <a:endParaRPr lang="en-US" sz="1000" dirty="0"/>
          </a:p>
        </p:txBody>
      </p:sp>
      <p:sp>
        <p:nvSpPr>
          <p:cNvPr id="21" name="Text 19"/>
          <p:cNvSpPr txBox="1"/>
          <p:nvPr/>
        </p:nvSpPr>
        <p:spPr>
          <a:xfrm>
            <a:off x="4608576" y="3429000"/>
            <a:ext cx="294436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Fastest</a:t>
            </a:r>
            <a:endParaRPr lang="en-US" sz="1400" dirty="0"/>
          </a:p>
        </p:txBody>
      </p:sp>
      <p:sp>
        <p:nvSpPr>
          <p:cNvPr id="22" name="Text 20"/>
          <p:cNvSpPr txBox="1"/>
          <p:nvPr/>
        </p:nvSpPr>
        <p:spPr>
          <a:xfrm>
            <a:off x="4608576" y="3730752"/>
            <a:ext cx="2944368" cy="219456"/>
          </a:xfrm>
          <a:prstGeom prst="rect">
            <a:avLst/>
          </a:prstGeom>
          <a:noFill/>
          <a:ln/>
        </p:spPr>
        <p:txBody>
          <a:bodyPr wrap="square" lIns="0" tIns="0" rIns="0" bIns="0" rtlCol="0" anchor="ctr"/>
          <a:lstStyle/>
          <a:p>
            <a:pPr indent="0" marL="0">
              <a:buNone/>
            </a:pPr>
            <a:r>
              <a:rPr lang="en-US" sz="1000" spc="100" kern="0" dirty="0">
                <a:solidFill>
                  <a:srgbClr val="C6D4E6"/>
                </a:solidFill>
                <a:latin typeface="Calibri" pitchFamily="34" charset="0"/>
                <a:ea typeface="Calibri" pitchFamily="34" charset="-122"/>
                <a:cs typeface="Calibri" pitchFamily="34" charset="-120"/>
              </a:rPr>
              <a:t>Agent buys</a:t>
            </a:r>
            <a:endParaRPr lang="en-US" sz="1000" dirty="0"/>
          </a:p>
        </p:txBody>
      </p:sp>
      <p:sp>
        <p:nvSpPr>
          <p:cNvPr id="23" name="Text 21"/>
          <p:cNvSpPr txBox="1"/>
          <p:nvPr/>
        </p:nvSpPr>
        <p:spPr>
          <a:xfrm>
            <a:off x="4608576" y="3931920"/>
            <a:ext cx="2944368"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Express rail</a:t>
            </a:r>
            <a:endParaRPr lang="en-US" sz="1400" dirty="0"/>
          </a:p>
        </p:txBody>
      </p:sp>
      <p:sp>
        <p:nvSpPr>
          <p:cNvPr id="24" name="Text 22"/>
          <p:cNvSpPr txBox="1"/>
          <p:nvPr/>
        </p:nvSpPr>
        <p:spPr>
          <a:xfrm>
            <a:off x="4608576" y="4279392"/>
            <a:ext cx="1280160" cy="384048"/>
          </a:xfrm>
          <a:prstGeom prst="rect">
            <a:avLst/>
          </a:prstGeom>
          <a:noFill/>
          <a:ln/>
        </p:spPr>
        <p:txBody>
          <a:bodyPr wrap="square" lIns="0" tIns="0" rIns="0" bIns="0" rtlCol="0" anchor="ctr"/>
          <a:lstStyle/>
          <a:p>
            <a:pPr indent="0" marL="0">
              <a:buNone/>
            </a:pPr>
            <a:r>
              <a:rPr lang="en-US" sz="2600" b="1" dirty="0">
                <a:solidFill>
                  <a:srgbClr val="6FA8FF"/>
                </a:solidFill>
                <a:latin typeface="Cambria" pitchFamily="34" charset="0"/>
                <a:ea typeface="Cambria" pitchFamily="34" charset="-122"/>
                <a:cs typeface="Cambria" pitchFamily="34" charset="-120"/>
              </a:rPr>
              <a:t>S$61</a:t>
            </a:r>
            <a:endParaRPr lang="en-US" sz="2600" dirty="0"/>
          </a:p>
        </p:txBody>
      </p:sp>
      <p:sp>
        <p:nvSpPr>
          <p:cNvPr id="25" name="Text 23"/>
          <p:cNvSpPr txBox="1"/>
          <p:nvPr/>
        </p:nvSpPr>
        <p:spPr>
          <a:xfrm>
            <a:off x="5833872" y="4389120"/>
            <a:ext cx="1737360" cy="274320"/>
          </a:xfrm>
          <a:prstGeom prst="rect">
            <a:avLst/>
          </a:prstGeom>
          <a:noFill/>
          <a:ln/>
        </p:spPr>
        <p:txBody>
          <a:bodyPr wrap="square" lIns="0" tIns="0" rIns="0" bIns="0" rtlCol="0" anchor="ctr"/>
          <a:lstStyle/>
          <a:p>
            <a:pPr indent="0" marL="0">
              <a:buNone/>
            </a:pPr>
            <a:r>
              <a:rPr lang="en-US" sz="1100" dirty="0">
                <a:solidFill>
                  <a:srgbClr val="C6D4E6"/>
                </a:solidFill>
                <a:latin typeface="Calibri" pitchFamily="34" charset="0"/>
                <a:ea typeface="Calibri" pitchFamily="34" charset="-122"/>
                <a:cs typeface="Calibri" pitchFamily="34" charset="-120"/>
              </a:rPr>
              <a:t>arrives earliest</a:t>
            </a:r>
            <a:endParaRPr lang="en-US" sz="1100" dirty="0"/>
          </a:p>
        </p:txBody>
      </p:sp>
      <p:sp>
        <p:nvSpPr>
          <p:cNvPr id="26" name="Shape 24"/>
          <p:cNvSpPr/>
          <p:nvPr/>
        </p:nvSpPr>
        <p:spPr>
          <a:xfrm>
            <a:off x="8065008" y="1783080"/>
            <a:ext cx="3456432" cy="3246120"/>
          </a:xfrm>
          <a:prstGeom prst="roundRect">
            <a:avLst>
              <a:gd name="adj" fmla="val 1690"/>
            </a:avLst>
          </a:prstGeom>
          <a:solidFill>
            <a:srgbClr val="F2F5F8"/>
          </a:solidFill>
          <a:ln w="12700">
            <a:solidFill>
              <a:srgbClr val="DCE3EA"/>
            </a:solidFill>
            <a:prstDash val="solid"/>
          </a:ln>
        </p:spPr>
      </p:sp>
      <p:sp>
        <p:nvSpPr>
          <p:cNvPr id="27" name="Text 25"/>
          <p:cNvSpPr txBox="1"/>
          <p:nvPr/>
        </p:nvSpPr>
        <p:spPr>
          <a:xfrm>
            <a:off x="8321040" y="1965960"/>
            <a:ext cx="2944368" cy="320040"/>
          </a:xfrm>
          <a:prstGeom prst="rect">
            <a:avLst/>
          </a:prstGeom>
          <a:noFill/>
          <a:ln/>
        </p:spPr>
        <p:txBody>
          <a:bodyPr wrap="square" lIns="0" tIns="0" rIns="0" bIns="0" rtlCol="0" anchor="ctr"/>
          <a:lstStyle/>
          <a:p>
            <a:pPr indent="0" marL="0">
              <a:buNone/>
            </a:pPr>
            <a:r>
              <a:rPr lang="en-US" sz="1900" b="1" dirty="0">
                <a:solidFill>
                  <a:srgbClr val="141A1F"/>
                </a:solidFill>
                <a:latin typeface="Calibri" pitchFamily="34" charset="0"/>
                <a:ea typeface="Calibri" pitchFamily="34" charset="-122"/>
                <a:cs typeface="Calibri" pitchFamily="34" charset="-120"/>
              </a:rPr>
              <a:t>Family</a:t>
            </a:r>
            <a:endParaRPr lang="en-US" sz="1900" dirty="0"/>
          </a:p>
        </p:txBody>
      </p:sp>
      <p:sp>
        <p:nvSpPr>
          <p:cNvPr id="28" name="Text 26"/>
          <p:cNvSpPr txBox="1"/>
          <p:nvPr/>
        </p:nvSpPr>
        <p:spPr>
          <a:xfrm>
            <a:off x="8321040" y="2304288"/>
            <a:ext cx="2944368" cy="274320"/>
          </a:xfrm>
          <a:prstGeom prst="rect">
            <a:avLst/>
          </a:prstGeom>
          <a:noFill/>
          <a:ln/>
        </p:spPr>
        <p:txBody>
          <a:bodyPr wrap="square" lIns="0" tIns="0" rIns="0" bIns="0" rtlCol="0" anchor="ctr"/>
          <a:lstStyle/>
          <a:p>
            <a:pPr indent="0" marL="0">
              <a:buNone/>
            </a:pPr>
            <a:r>
              <a:rPr lang="en-US" sz="1200" i="1" dirty="0">
                <a:solidFill>
                  <a:srgbClr val="5D6B7C"/>
                </a:solidFill>
                <a:latin typeface="Calibri" pitchFamily="34" charset="0"/>
                <a:ea typeface="Calibri" pitchFamily="34" charset="-122"/>
                <a:cs typeface="Calibri" pitchFamily="34" charset="-120"/>
              </a:rPr>
              <a:t>Prefer dependability</a:t>
            </a:r>
            <a:endParaRPr lang="en-US" sz="1200" dirty="0"/>
          </a:p>
        </p:txBody>
      </p:sp>
      <p:sp>
        <p:nvSpPr>
          <p:cNvPr id="29" name="Text 27"/>
          <p:cNvSpPr txBox="1"/>
          <p:nvPr/>
        </p:nvSpPr>
        <p:spPr>
          <a:xfrm>
            <a:off x="8321040" y="2724912"/>
            <a:ext cx="2944368" cy="219456"/>
          </a:xfrm>
          <a:prstGeom prst="rect">
            <a:avLst/>
          </a:prstGeom>
          <a:noFill/>
          <a:ln/>
        </p:spPr>
        <p:txBody>
          <a:bodyPr wrap="square" lIns="0" tIns="0" rIns="0" bIns="0" rtlCol="0" anchor="ctr"/>
          <a:lstStyle/>
          <a:p>
            <a:pPr indent="0" marL="0">
              <a:buNone/>
            </a:pPr>
            <a:r>
              <a:rPr lang="en-US" sz="1000" spc="100" kern="0" dirty="0">
                <a:solidFill>
                  <a:srgbClr val="5D6B7C"/>
                </a:solidFill>
                <a:latin typeface="Calibri" pitchFamily="34" charset="0"/>
                <a:ea typeface="Calibri" pitchFamily="34" charset="-122"/>
                <a:cs typeface="Calibri" pitchFamily="34" charset="-120"/>
              </a:rPr>
              <a:t>Budget</a:t>
            </a:r>
            <a:endParaRPr lang="en-US" sz="1000" dirty="0"/>
          </a:p>
        </p:txBody>
      </p:sp>
      <p:sp>
        <p:nvSpPr>
          <p:cNvPr id="30" name="Text 28"/>
          <p:cNvSpPr txBox="1"/>
          <p:nvPr/>
        </p:nvSpPr>
        <p:spPr>
          <a:xfrm>
            <a:off x="8321040" y="2926080"/>
            <a:ext cx="2944368"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S$450</a:t>
            </a:r>
            <a:endParaRPr lang="en-US" sz="1400" dirty="0"/>
          </a:p>
        </p:txBody>
      </p:sp>
      <p:sp>
        <p:nvSpPr>
          <p:cNvPr id="31" name="Text 29"/>
          <p:cNvSpPr txBox="1"/>
          <p:nvPr/>
        </p:nvSpPr>
        <p:spPr>
          <a:xfrm>
            <a:off x="8321040" y="3227832"/>
            <a:ext cx="2944368" cy="219456"/>
          </a:xfrm>
          <a:prstGeom prst="rect">
            <a:avLst/>
          </a:prstGeom>
          <a:noFill/>
          <a:ln/>
        </p:spPr>
        <p:txBody>
          <a:bodyPr wrap="square" lIns="0" tIns="0" rIns="0" bIns="0" rtlCol="0" anchor="ctr"/>
          <a:lstStyle/>
          <a:p>
            <a:pPr indent="0" marL="0">
              <a:buNone/>
            </a:pPr>
            <a:r>
              <a:rPr lang="en-US" sz="1000" spc="100" kern="0" dirty="0">
                <a:solidFill>
                  <a:srgbClr val="5D6B7C"/>
                </a:solidFill>
                <a:latin typeface="Calibri" pitchFamily="34" charset="0"/>
                <a:ea typeface="Calibri" pitchFamily="34" charset="-122"/>
                <a:cs typeface="Calibri" pitchFamily="34" charset="-120"/>
              </a:rPr>
              <a:t>Recommended</a:t>
            </a:r>
            <a:endParaRPr lang="en-US" sz="1000" dirty="0"/>
          </a:p>
        </p:txBody>
      </p:sp>
      <p:sp>
        <p:nvSpPr>
          <p:cNvPr id="32" name="Text 30"/>
          <p:cNvSpPr txBox="1"/>
          <p:nvPr/>
        </p:nvSpPr>
        <p:spPr>
          <a:xfrm>
            <a:off x="8321040" y="3429000"/>
            <a:ext cx="2944368"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Most reliable</a:t>
            </a:r>
            <a:endParaRPr lang="en-US" sz="1400" dirty="0"/>
          </a:p>
        </p:txBody>
      </p:sp>
      <p:sp>
        <p:nvSpPr>
          <p:cNvPr id="33" name="Text 31"/>
          <p:cNvSpPr txBox="1"/>
          <p:nvPr/>
        </p:nvSpPr>
        <p:spPr>
          <a:xfrm>
            <a:off x="8321040" y="3730752"/>
            <a:ext cx="2944368" cy="219456"/>
          </a:xfrm>
          <a:prstGeom prst="rect">
            <a:avLst/>
          </a:prstGeom>
          <a:noFill/>
          <a:ln/>
        </p:spPr>
        <p:txBody>
          <a:bodyPr wrap="square" lIns="0" tIns="0" rIns="0" bIns="0" rtlCol="0" anchor="ctr"/>
          <a:lstStyle/>
          <a:p>
            <a:pPr indent="0" marL="0">
              <a:buNone/>
            </a:pPr>
            <a:r>
              <a:rPr lang="en-US" sz="1000" spc="100" kern="0" dirty="0">
                <a:solidFill>
                  <a:srgbClr val="5D6B7C"/>
                </a:solidFill>
                <a:latin typeface="Calibri" pitchFamily="34" charset="0"/>
                <a:ea typeface="Calibri" pitchFamily="34" charset="-122"/>
                <a:cs typeface="Calibri" pitchFamily="34" charset="-120"/>
              </a:rPr>
              <a:t>Agent buys</a:t>
            </a:r>
            <a:endParaRPr lang="en-US" sz="1000" dirty="0"/>
          </a:p>
        </p:txBody>
      </p:sp>
      <p:sp>
        <p:nvSpPr>
          <p:cNvPr id="34" name="Text 32"/>
          <p:cNvSpPr txBox="1"/>
          <p:nvPr/>
        </p:nvSpPr>
        <p:spPr>
          <a:xfrm>
            <a:off x="8321040" y="3931920"/>
            <a:ext cx="2944368"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Protected transfer</a:t>
            </a:r>
            <a:endParaRPr lang="en-US" sz="1400" dirty="0"/>
          </a:p>
        </p:txBody>
      </p:sp>
      <p:sp>
        <p:nvSpPr>
          <p:cNvPr id="35" name="Text 33"/>
          <p:cNvSpPr txBox="1"/>
          <p:nvPr/>
        </p:nvSpPr>
        <p:spPr>
          <a:xfrm>
            <a:off x="8321040" y="4279392"/>
            <a:ext cx="1280160" cy="384048"/>
          </a:xfrm>
          <a:prstGeom prst="rect">
            <a:avLst/>
          </a:prstGeom>
          <a:noFill/>
          <a:ln/>
        </p:spPr>
        <p:txBody>
          <a:bodyPr wrap="square" lIns="0" tIns="0" rIns="0" bIns="0" rtlCol="0" anchor="ctr"/>
          <a:lstStyle/>
          <a:p>
            <a:pPr indent="0" marL="0">
              <a:buNone/>
            </a:pPr>
            <a:r>
              <a:rPr lang="en-US" sz="2600" b="1" dirty="0">
                <a:solidFill>
                  <a:srgbClr val="1E9E63"/>
                </a:solidFill>
                <a:latin typeface="Cambria" pitchFamily="34" charset="0"/>
                <a:ea typeface="Cambria" pitchFamily="34" charset="-122"/>
                <a:cs typeface="Cambria" pitchFamily="34" charset="-120"/>
              </a:rPr>
              <a:t>S$48</a:t>
            </a:r>
            <a:endParaRPr lang="en-US" sz="2600" dirty="0"/>
          </a:p>
        </p:txBody>
      </p:sp>
      <p:sp>
        <p:nvSpPr>
          <p:cNvPr id="36" name="Text 34"/>
          <p:cNvSpPr txBox="1"/>
          <p:nvPr/>
        </p:nvSpPr>
        <p:spPr>
          <a:xfrm>
            <a:off x="9546336" y="4389120"/>
            <a:ext cx="1737360" cy="274320"/>
          </a:xfrm>
          <a:prstGeom prst="rect">
            <a:avLst/>
          </a:prstGeom>
          <a:noFill/>
          <a:ln/>
        </p:spPr>
        <p:txBody>
          <a:bodyPr wrap="square" lIns="0" tIns="0" rIns="0" bIns="0" rtlCol="0" anchor="ctr"/>
          <a:lstStyle/>
          <a:p>
            <a:pPr indent="0" marL="0">
              <a:buNone/>
            </a:pPr>
            <a:r>
              <a:rPr lang="en-US" sz="1100" dirty="0">
                <a:solidFill>
                  <a:srgbClr val="5D6B7C"/>
                </a:solidFill>
                <a:latin typeface="Calibri" pitchFamily="34" charset="0"/>
                <a:ea typeface="Calibri" pitchFamily="34" charset="-122"/>
                <a:cs typeface="Calibri" pitchFamily="34" charset="-120"/>
              </a:rPr>
              <a:t>lowest risk</a:t>
            </a:r>
            <a:endParaRPr lang="en-US" sz="1100" dirty="0"/>
          </a:p>
        </p:txBody>
      </p:sp>
      <p:sp>
        <p:nvSpPr>
          <p:cNvPr id="37" name="Text 35"/>
          <p:cNvSpPr txBox="1"/>
          <p:nvPr/>
        </p:nvSpPr>
        <p:spPr>
          <a:xfrm>
            <a:off x="640080" y="5212080"/>
            <a:ext cx="10881360" cy="365760"/>
          </a:xfrm>
          <a:prstGeom prst="rect">
            <a:avLst/>
          </a:prstGeom>
          <a:noFill/>
          <a:ln/>
        </p:spPr>
        <p:txBody>
          <a:bodyPr wrap="square" lIns="0" tIns="0" rIns="0" bIns="0" rtlCol="0" anchor="ctr"/>
          <a:lstStyle/>
          <a:p>
            <a:pPr indent="0" marL="0">
              <a:buNone/>
            </a:pPr>
            <a:r>
              <a:rPr lang="en-US" sz="1500" dirty="0">
                <a:solidFill>
                  <a:srgbClr val="141A1F"/>
                </a:solidFill>
                <a:latin typeface="Calibri" pitchFamily="34" charset="0"/>
                <a:ea typeface="Calibri" pitchFamily="34" charset="-122"/>
                <a:cs typeface="Calibri" pitchFamily="34" charset="-120"/>
              </a:rPr>
              <a:t>The business traveller's agent knowingly pays S$61 instead of S$48, because arriving earlier is what it was authorised to value.</a:t>
            </a:r>
            <a:endParaRPr lang="en-US" sz="1500" dirty="0"/>
          </a:p>
        </p:txBody>
      </p:sp>
      <p:sp>
        <p:nvSpPr>
          <p:cNvPr id="38" name="Shape 36"/>
          <p:cNvSpPr/>
          <p:nvPr/>
        </p:nvSpPr>
        <p:spPr>
          <a:xfrm>
            <a:off x="640080" y="5650992"/>
            <a:ext cx="10908792" cy="658368"/>
          </a:xfrm>
          <a:prstGeom prst="roundRect">
            <a:avLst>
              <a:gd name="adj" fmla="val 8333"/>
            </a:avLst>
          </a:prstGeom>
          <a:solidFill>
            <a:srgbClr val="F2F5F8"/>
          </a:solidFill>
          <a:ln w="12700">
            <a:solidFill>
              <a:srgbClr val="DCE3EA"/>
            </a:solidFill>
            <a:prstDash val="solid"/>
          </a:ln>
        </p:spPr>
      </p:sp>
      <p:sp>
        <p:nvSpPr>
          <p:cNvPr id="39" name="Shape 37"/>
          <p:cNvSpPr/>
          <p:nvPr/>
        </p:nvSpPr>
        <p:spPr>
          <a:xfrm>
            <a:off x="896112" y="5870448"/>
            <a:ext cx="146304" cy="146304"/>
          </a:xfrm>
          <a:prstGeom prst="ellipse">
            <a:avLst/>
          </a:prstGeom>
          <a:solidFill>
            <a:srgbClr val="1E9E63"/>
          </a:solidFill>
          <a:ln/>
        </p:spPr>
      </p:sp>
      <p:sp>
        <p:nvSpPr>
          <p:cNvPr id="40" name="Text 38"/>
          <p:cNvSpPr txBox="1"/>
          <p:nvPr/>
        </p:nvSpPr>
        <p:spPr>
          <a:xfrm>
            <a:off x="1170432" y="5760720"/>
            <a:ext cx="10149840" cy="411480"/>
          </a:xfrm>
          <a:prstGeom prst="rect">
            <a:avLst/>
          </a:prstGeom>
          <a:noFill/>
          <a:ln/>
        </p:spPr>
        <p:txBody>
          <a:bodyPr wrap="square" lIns="0" tIns="0" rIns="0" bIns="0" rtlCol="0" anchor="ctr"/>
          <a:lstStyle/>
          <a:p>
            <a:pPr indent="0" marL="0">
              <a:buNone/>
            </a:pPr>
            <a:r>
              <a:rPr lang="en-US" sz="1300" b="1" dirty="0">
                <a:solidFill>
                  <a:srgbClr val="141A1F"/>
                </a:solidFill>
                <a:latin typeface="Calibri" pitchFamily="34" charset="0"/>
                <a:ea typeface="Calibri" pitchFamily="34" charset="-122"/>
                <a:cs typeface="Calibri" pitchFamily="34" charset="-120"/>
              </a:rPr>
              <a:t>Preference ranks the options. It can never relax a limit — every offer is cleared by deterministic policy first.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WHY X402 AND XRPL</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A card can buy a hotel room. It cannot open an account with a company you have never met.</a:t>
            </a:r>
            <a:endParaRPr lang="en-US" sz="3400" dirty="0"/>
          </a:p>
        </p:txBody>
      </p:sp>
      <p:sp>
        <p:nvSpPr>
          <p:cNvPr id="4" name="Shape 2"/>
          <p:cNvSpPr/>
          <p:nvPr/>
        </p:nvSpPr>
        <p:spPr>
          <a:xfrm>
            <a:off x="640080" y="1965960"/>
            <a:ext cx="5257800" cy="2880360"/>
          </a:xfrm>
          <a:prstGeom prst="roundRect">
            <a:avLst>
              <a:gd name="adj" fmla="val 1905"/>
            </a:avLst>
          </a:prstGeom>
          <a:solidFill>
            <a:srgbClr val="F2F5F8"/>
          </a:solidFill>
          <a:ln w="12700">
            <a:solidFill>
              <a:srgbClr val="DCE3EA"/>
            </a:solidFill>
            <a:prstDash val="solid"/>
          </a:ln>
        </p:spPr>
      </p:sp>
      <p:sp>
        <p:nvSpPr>
          <p:cNvPr id="5" name="Text 3"/>
          <p:cNvSpPr txBox="1"/>
          <p:nvPr/>
        </p:nvSpPr>
        <p:spPr>
          <a:xfrm>
            <a:off x="914400" y="2176272"/>
            <a:ext cx="4709160" cy="320040"/>
          </a:xfrm>
          <a:prstGeom prst="rect">
            <a:avLst/>
          </a:prstGeom>
          <a:noFill/>
          <a:ln/>
        </p:spPr>
        <p:txBody>
          <a:bodyPr wrap="square" lIns="0" tIns="0" rIns="0" bIns="0" rtlCol="0" anchor="ctr"/>
          <a:lstStyle/>
          <a:p>
            <a:pPr indent="0" marL="0">
              <a:buNone/>
            </a:pPr>
            <a:r>
              <a:rPr lang="en-US" sz="1700" b="1" dirty="0">
                <a:solidFill>
                  <a:srgbClr val="141A1F"/>
                </a:solidFill>
                <a:latin typeface="Calibri" pitchFamily="34" charset="0"/>
                <a:ea typeface="Calibri" pitchFamily="34" charset="-122"/>
                <a:cs typeface="Calibri" pitchFamily="34" charset="-120"/>
              </a:rPr>
              <a:t>What a card payment needs first</a:t>
            </a:r>
            <a:endParaRPr lang="en-US" sz="1700" dirty="0"/>
          </a:p>
        </p:txBody>
      </p:sp>
      <p:sp>
        <p:nvSpPr>
          <p:cNvPr id="6" name="Shape 4"/>
          <p:cNvSpPr/>
          <p:nvPr/>
        </p:nvSpPr>
        <p:spPr>
          <a:xfrm>
            <a:off x="914400" y="2688336"/>
            <a:ext cx="128016" cy="128016"/>
          </a:xfrm>
          <a:prstGeom prst="ellipse">
            <a:avLst/>
          </a:prstGeom>
          <a:solidFill>
            <a:srgbClr val="AEB9C9"/>
          </a:solidFill>
          <a:ln/>
        </p:spPr>
      </p:sp>
      <p:sp>
        <p:nvSpPr>
          <p:cNvPr id="7" name="Text 5"/>
          <p:cNvSpPr txBox="1"/>
          <p:nvPr/>
        </p:nvSpPr>
        <p:spPr>
          <a:xfrm>
            <a:off x="1161288" y="2633472"/>
            <a:ext cx="4480560" cy="320040"/>
          </a:xfrm>
          <a:prstGeom prst="rect">
            <a:avLst/>
          </a:prstGeom>
          <a:noFill/>
          <a:ln/>
        </p:spPr>
        <p:txBody>
          <a:bodyPr wrap="square" lIns="0" tIns="0" rIns="0" bIns="0" rtlCol="0" anchor="ctr"/>
          <a:lstStyle/>
          <a:p>
            <a:pPr indent="0" marL="0">
              <a:buNone/>
            </a:pPr>
            <a:r>
              <a:rPr lang="en-US" sz="1400" dirty="0">
                <a:solidFill>
                  <a:srgbClr val="5D6B7C"/>
                </a:solidFill>
                <a:latin typeface="Calibri" pitchFamily="34" charset="0"/>
                <a:ea typeface="Calibri" pitchFamily="34" charset="-122"/>
                <a:cs typeface="Calibri" pitchFamily="34" charset="-120"/>
              </a:rPr>
              <a:t>An account with that supplier</a:t>
            </a:r>
            <a:endParaRPr lang="en-US" sz="1400" dirty="0"/>
          </a:p>
        </p:txBody>
      </p:sp>
      <p:sp>
        <p:nvSpPr>
          <p:cNvPr id="8" name="Shape 6"/>
          <p:cNvSpPr/>
          <p:nvPr/>
        </p:nvSpPr>
        <p:spPr>
          <a:xfrm>
            <a:off x="914400" y="3191256"/>
            <a:ext cx="128016" cy="128016"/>
          </a:xfrm>
          <a:prstGeom prst="ellipse">
            <a:avLst/>
          </a:prstGeom>
          <a:solidFill>
            <a:srgbClr val="AEB9C9"/>
          </a:solidFill>
          <a:ln/>
        </p:spPr>
      </p:sp>
      <p:sp>
        <p:nvSpPr>
          <p:cNvPr id="9" name="Text 7"/>
          <p:cNvSpPr txBox="1"/>
          <p:nvPr/>
        </p:nvSpPr>
        <p:spPr>
          <a:xfrm>
            <a:off x="1161288" y="3136392"/>
            <a:ext cx="4480560" cy="320040"/>
          </a:xfrm>
          <a:prstGeom prst="rect">
            <a:avLst/>
          </a:prstGeom>
          <a:noFill/>
          <a:ln/>
        </p:spPr>
        <p:txBody>
          <a:bodyPr wrap="square" lIns="0" tIns="0" rIns="0" bIns="0" rtlCol="0" anchor="ctr"/>
          <a:lstStyle/>
          <a:p>
            <a:pPr indent="0" marL="0">
              <a:buNone/>
            </a:pPr>
            <a:r>
              <a:rPr lang="en-US" sz="1400" dirty="0">
                <a:solidFill>
                  <a:srgbClr val="5D6B7C"/>
                </a:solidFill>
                <a:latin typeface="Calibri" pitchFamily="34" charset="0"/>
                <a:ea typeface="Calibri" pitchFamily="34" charset="-122"/>
                <a:cs typeface="Calibri" pitchFamily="34" charset="-120"/>
              </a:rPr>
              <a:t>An API key or a checkout page</a:t>
            </a:r>
            <a:endParaRPr lang="en-US" sz="1400" dirty="0"/>
          </a:p>
        </p:txBody>
      </p:sp>
      <p:sp>
        <p:nvSpPr>
          <p:cNvPr id="10" name="Shape 8"/>
          <p:cNvSpPr/>
          <p:nvPr/>
        </p:nvSpPr>
        <p:spPr>
          <a:xfrm>
            <a:off x="914400" y="3694176"/>
            <a:ext cx="128016" cy="128016"/>
          </a:xfrm>
          <a:prstGeom prst="ellipse">
            <a:avLst/>
          </a:prstGeom>
          <a:solidFill>
            <a:srgbClr val="AEB9C9"/>
          </a:solidFill>
          <a:ln/>
        </p:spPr>
      </p:sp>
      <p:sp>
        <p:nvSpPr>
          <p:cNvPr id="11" name="Text 9"/>
          <p:cNvSpPr txBox="1"/>
          <p:nvPr/>
        </p:nvSpPr>
        <p:spPr>
          <a:xfrm>
            <a:off x="1161288" y="3639312"/>
            <a:ext cx="4480560" cy="320040"/>
          </a:xfrm>
          <a:prstGeom prst="rect">
            <a:avLst/>
          </a:prstGeom>
          <a:noFill/>
          <a:ln/>
        </p:spPr>
        <p:txBody>
          <a:bodyPr wrap="square" lIns="0" tIns="0" rIns="0" bIns="0" rtlCol="0" anchor="ctr"/>
          <a:lstStyle/>
          <a:p>
            <a:pPr indent="0" marL="0">
              <a:buNone/>
            </a:pPr>
            <a:r>
              <a:rPr lang="en-US" sz="1400" dirty="0">
                <a:solidFill>
                  <a:srgbClr val="5D6B7C"/>
                </a:solidFill>
                <a:latin typeface="Calibri" pitchFamily="34" charset="0"/>
                <a:ea typeface="Calibri" pitchFamily="34" charset="-122"/>
                <a:cs typeface="Calibri" pitchFamily="34" charset="-120"/>
              </a:rPr>
              <a:t>A human to enter the details</a:t>
            </a:r>
            <a:endParaRPr lang="en-US" sz="1400" dirty="0"/>
          </a:p>
        </p:txBody>
      </p:sp>
      <p:sp>
        <p:nvSpPr>
          <p:cNvPr id="12" name="Shape 10"/>
          <p:cNvSpPr/>
          <p:nvPr/>
        </p:nvSpPr>
        <p:spPr>
          <a:xfrm>
            <a:off x="914400" y="4197096"/>
            <a:ext cx="128016" cy="128016"/>
          </a:xfrm>
          <a:prstGeom prst="ellipse">
            <a:avLst/>
          </a:prstGeom>
          <a:solidFill>
            <a:srgbClr val="AEB9C9"/>
          </a:solidFill>
          <a:ln/>
        </p:spPr>
      </p:sp>
      <p:sp>
        <p:nvSpPr>
          <p:cNvPr id="13" name="Text 11"/>
          <p:cNvSpPr txBox="1"/>
          <p:nvPr/>
        </p:nvSpPr>
        <p:spPr>
          <a:xfrm>
            <a:off x="1161288" y="4142232"/>
            <a:ext cx="4480560" cy="320040"/>
          </a:xfrm>
          <a:prstGeom prst="rect">
            <a:avLst/>
          </a:prstGeom>
          <a:noFill/>
          <a:ln/>
        </p:spPr>
        <p:txBody>
          <a:bodyPr wrap="square" lIns="0" tIns="0" rIns="0" bIns="0" rtlCol="0" anchor="ctr"/>
          <a:lstStyle/>
          <a:p>
            <a:pPr indent="0" marL="0">
              <a:buNone/>
            </a:pPr>
            <a:r>
              <a:rPr lang="en-US" sz="1400" dirty="0">
                <a:solidFill>
                  <a:srgbClr val="5D6B7C"/>
                </a:solidFill>
                <a:latin typeface="Calibri" pitchFamily="34" charset="0"/>
                <a:ea typeface="Calibri" pitchFamily="34" charset="-122"/>
                <a:cs typeface="Calibri" pitchFamily="34" charset="-120"/>
              </a:rPr>
              <a:t>A relationship agreed in advance</a:t>
            </a:r>
            <a:endParaRPr lang="en-US" sz="1400" dirty="0"/>
          </a:p>
        </p:txBody>
      </p:sp>
      <p:sp>
        <p:nvSpPr>
          <p:cNvPr id="14" name="Shape 12"/>
          <p:cNvSpPr/>
          <p:nvPr/>
        </p:nvSpPr>
        <p:spPr>
          <a:xfrm>
            <a:off x="6291072" y="1965960"/>
            <a:ext cx="5257800" cy="2880360"/>
          </a:xfrm>
          <a:prstGeom prst="roundRect">
            <a:avLst>
              <a:gd name="adj" fmla="val 1905"/>
            </a:avLst>
          </a:prstGeom>
          <a:solidFill>
            <a:srgbClr val="0E1A2B"/>
          </a:solidFill>
          <a:ln w="12700">
            <a:solidFill>
              <a:srgbClr val="DCE3EA"/>
            </a:solidFill>
            <a:prstDash val="solid"/>
          </a:ln>
        </p:spPr>
      </p:sp>
      <p:sp>
        <p:nvSpPr>
          <p:cNvPr id="15" name="Text 13"/>
          <p:cNvSpPr txBox="1"/>
          <p:nvPr/>
        </p:nvSpPr>
        <p:spPr>
          <a:xfrm>
            <a:off x="6565392" y="2176272"/>
            <a:ext cx="470916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our agent does instead</a:t>
            </a:r>
            <a:endParaRPr lang="en-US" sz="1700" dirty="0"/>
          </a:p>
        </p:txBody>
      </p:sp>
      <p:sp>
        <p:nvSpPr>
          <p:cNvPr id="16" name="Shape 14"/>
          <p:cNvSpPr/>
          <p:nvPr/>
        </p:nvSpPr>
        <p:spPr>
          <a:xfrm>
            <a:off x="6565392" y="2688336"/>
            <a:ext cx="128016" cy="128016"/>
          </a:xfrm>
          <a:prstGeom prst="ellipse">
            <a:avLst/>
          </a:prstGeom>
          <a:solidFill>
            <a:srgbClr val="0067E5"/>
          </a:solidFill>
          <a:ln/>
        </p:spPr>
      </p:sp>
      <p:sp>
        <p:nvSpPr>
          <p:cNvPr id="17" name="Text 15"/>
          <p:cNvSpPr txBox="1"/>
          <p:nvPr/>
        </p:nvSpPr>
        <p:spPr>
          <a:xfrm>
            <a:off x="6812280" y="2633472"/>
            <a:ext cx="4480560" cy="3200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Reads a registry it did not ship with</a:t>
            </a:r>
            <a:endParaRPr lang="en-US" sz="1400" dirty="0"/>
          </a:p>
        </p:txBody>
      </p:sp>
      <p:sp>
        <p:nvSpPr>
          <p:cNvPr id="18" name="Shape 16"/>
          <p:cNvSpPr/>
          <p:nvPr/>
        </p:nvSpPr>
        <p:spPr>
          <a:xfrm>
            <a:off x="6565392" y="3191256"/>
            <a:ext cx="128016" cy="128016"/>
          </a:xfrm>
          <a:prstGeom prst="ellipse">
            <a:avLst/>
          </a:prstGeom>
          <a:solidFill>
            <a:srgbClr val="0067E5"/>
          </a:solidFill>
          <a:ln/>
        </p:spPr>
      </p:sp>
      <p:sp>
        <p:nvSpPr>
          <p:cNvPr id="19" name="Text 17"/>
          <p:cNvSpPr txBox="1"/>
          <p:nvPr/>
        </p:nvSpPr>
        <p:spPr>
          <a:xfrm>
            <a:off x="6812280" y="3136392"/>
            <a:ext cx="4480560" cy="3200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Meets a supplier it has never seen</a:t>
            </a:r>
            <a:endParaRPr lang="en-US" sz="1400" dirty="0"/>
          </a:p>
        </p:txBody>
      </p:sp>
      <p:sp>
        <p:nvSpPr>
          <p:cNvPr id="20" name="Shape 18"/>
          <p:cNvSpPr/>
          <p:nvPr/>
        </p:nvSpPr>
        <p:spPr>
          <a:xfrm>
            <a:off x="6565392" y="3694176"/>
            <a:ext cx="128016" cy="128016"/>
          </a:xfrm>
          <a:prstGeom prst="ellipse">
            <a:avLst/>
          </a:prstGeom>
          <a:solidFill>
            <a:srgbClr val="0067E5"/>
          </a:solidFill>
          <a:ln/>
        </p:spPr>
      </p:sp>
      <p:sp>
        <p:nvSpPr>
          <p:cNvPr id="21" name="Text 19"/>
          <p:cNvSpPr txBox="1"/>
          <p:nvPr/>
        </p:nvSpPr>
        <p:spPr>
          <a:xfrm>
            <a:off x="6812280" y="3639312"/>
            <a:ext cx="4480560" cy="3200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Learns the price from its 402 response</a:t>
            </a:r>
            <a:endParaRPr lang="en-US" sz="1400" dirty="0"/>
          </a:p>
        </p:txBody>
      </p:sp>
      <p:sp>
        <p:nvSpPr>
          <p:cNvPr id="22" name="Shape 20"/>
          <p:cNvSpPr/>
          <p:nvPr/>
        </p:nvSpPr>
        <p:spPr>
          <a:xfrm>
            <a:off x="6565392" y="4197096"/>
            <a:ext cx="128016" cy="128016"/>
          </a:xfrm>
          <a:prstGeom prst="ellipse">
            <a:avLst/>
          </a:prstGeom>
          <a:solidFill>
            <a:srgbClr val="0067E5"/>
          </a:solidFill>
          <a:ln/>
        </p:spPr>
      </p:sp>
      <p:sp>
        <p:nvSpPr>
          <p:cNvPr id="23" name="Text 21"/>
          <p:cNvSpPr txBox="1"/>
          <p:nvPr/>
        </p:nvSpPr>
        <p:spPr>
          <a:xfrm>
            <a:off x="6812280" y="4142232"/>
            <a:ext cx="4480560" cy="3200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Decides, pays, and is served — one round trip</a:t>
            </a:r>
            <a:endParaRPr lang="en-US" sz="1400" dirty="0"/>
          </a:p>
        </p:txBody>
      </p:sp>
      <p:sp>
        <p:nvSpPr>
          <p:cNvPr id="24" name="Text 22"/>
          <p:cNvSpPr txBox="1"/>
          <p:nvPr/>
        </p:nvSpPr>
        <p:spPr>
          <a:xfrm>
            <a:off x="640080" y="5074920"/>
            <a:ext cx="3456432" cy="457200"/>
          </a:xfrm>
          <a:prstGeom prst="rect">
            <a:avLst/>
          </a:prstGeom>
          <a:noFill/>
          <a:ln/>
        </p:spPr>
        <p:txBody>
          <a:bodyPr wrap="square" lIns="0" tIns="0" rIns="0" bIns="0" rtlCol="0" anchor="ctr"/>
          <a:lstStyle/>
          <a:p>
            <a:pPr indent="0" marL="0">
              <a:buNone/>
            </a:pPr>
            <a:r>
              <a:rPr lang="en-US" sz="3000" b="1" dirty="0">
                <a:solidFill>
                  <a:srgbClr val="0067E5"/>
                </a:solidFill>
                <a:latin typeface="Cambria" pitchFamily="34" charset="0"/>
                <a:ea typeface="Cambria" pitchFamily="34" charset="-122"/>
                <a:cs typeface="Cambria" pitchFamily="34" charset="-120"/>
              </a:rPr>
              <a:t>Sub-cent</a:t>
            </a:r>
            <a:endParaRPr lang="en-US" sz="3000" dirty="0"/>
          </a:p>
        </p:txBody>
      </p:sp>
      <p:sp>
        <p:nvSpPr>
          <p:cNvPr id="25" name="Text 23"/>
          <p:cNvSpPr txBox="1"/>
          <p:nvPr/>
        </p:nvSpPr>
        <p:spPr>
          <a:xfrm>
            <a:off x="640080" y="5532120"/>
            <a:ext cx="3456432" cy="5486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fee per settlement</a:t>
            </a:r>
            <a:endParaRPr lang="en-US" sz="1300" dirty="0"/>
          </a:p>
        </p:txBody>
      </p:sp>
      <p:sp>
        <p:nvSpPr>
          <p:cNvPr id="26" name="Text 24"/>
          <p:cNvSpPr txBox="1"/>
          <p:nvPr/>
        </p:nvSpPr>
        <p:spPr>
          <a:xfrm>
            <a:off x="4352544" y="5074920"/>
            <a:ext cx="3456432" cy="457200"/>
          </a:xfrm>
          <a:prstGeom prst="rect">
            <a:avLst/>
          </a:prstGeom>
          <a:noFill/>
          <a:ln/>
        </p:spPr>
        <p:txBody>
          <a:bodyPr wrap="square" lIns="0" tIns="0" rIns="0" bIns="0" rtlCol="0" anchor="ctr"/>
          <a:lstStyle/>
          <a:p>
            <a:pPr indent="0" marL="0">
              <a:buNone/>
            </a:pPr>
            <a:r>
              <a:rPr lang="en-US" sz="3000" b="1" dirty="0">
                <a:solidFill>
                  <a:srgbClr val="0067E5"/>
                </a:solidFill>
                <a:latin typeface="Cambria" pitchFamily="34" charset="0"/>
                <a:ea typeface="Cambria" pitchFamily="34" charset="-122"/>
                <a:cs typeface="Cambria" pitchFamily="34" charset="-120"/>
              </a:rPr>
              <a:t>~3-5s</a:t>
            </a:r>
            <a:endParaRPr lang="en-US" sz="3000" dirty="0"/>
          </a:p>
        </p:txBody>
      </p:sp>
      <p:sp>
        <p:nvSpPr>
          <p:cNvPr id="27" name="Text 25"/>
          <p:cNvSpPr txBox="1"/>
          <p:nvPr/>
        </p:nvSpPr>
        <p:spPr>
          <a:xfrm>
            <a:off x="4352544" y="5532120"/>
            <a:ext cx="3456432" cy="5486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to validated finality</a:t>
            </a:r>
            <a:endParaRPr lang="en-US" sz="1300" dirty="0"/>
          </a:p>
        </p:txBody>
      </p:sp>
      <p:sp>
        <p:nvSpPr>
          <p:cNvPr id="28" name="Text 26"/>
          <p:cNvSpPr txBox="1"/>
          <p:nvPr/>
        </p:nvSpPr>
        <p:spPr>
          <a:xfrm>
            <a:off x="8065008" y="5074920"/>
            <a:ext cx="3456432" cy="457200"/>
          </a:xfrm>
          <a:prstGeom prst="rect">
            <a:avLst/>
          </a:prstGeom>
          <a:noFill/>
          <a:ln/>
        </p:spPr>
        <p:txBody>
          <a:bodyPr wrap="square" lIns="0" tIns="0" rIns="0" bIns="0" rtlCol="0" anchor="ctr"/>
          <a:lstStyle/>
          <a:p>
            <a:pPr indent="0" marL="0">
              <a:buNone/>
            </a:pPr>
            <a:r>
              <a:rPr lang="en-US" sz="3000" b="1" dirty="0">
                <a:solidFill>
                  <a:srgbClr val="0067E5"/>
                </a:solidFill>
                <a:latin typeface="Cambria" pitchFamily="34" charset="0"/>
                <a:ea typeface="Cambria" pitchFamily="34" charset="-122"/>
                <a:cs typeface="Cambria" pitchFamily="34" charset="-120"/>
              </a:rPr>
              <a:t>Native</a:t>
            </a:r>
            <a:endParaRPr lang="en-US" sz="3000" dirty="0"/>
          </a:p>
        </p:txBody>
      </p:sp>
      <p:sp>
        <p:nvSpPr>
          <p:cNvPr id="29" name="Text 27"/>
          <p:cNvSpPr txBox="1"/>
          <p:nvPr/>
        </p:nvSpPr>
        <p:spPr>
          <a:xfrm>
            <a:off x="8065008" y="5532120"/>
            <a:ext cx="3456432" cy="5486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payments and escrow, no contract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Need, discovery, decision, payment, delivery — in one uninterrupted loop.</a:t>
            </a:r>
            <a:endParaRPr lang="en-US" sz="3400" dirty="0"/>
          </a:p>
        </p:txBody>
      </p:sp>
      <p:sp>
        <p:nvSpPr>
          <p:cNvPr id="4" name="Shape 2"/>
          <p:cNvSpPr/>
          <p:nvPr/>
        </p:nvSpPr>
        <p:spPr>
          <a:xfrm>
            <a:off x="640080" y="1874520"/>
            <a:ext cx="2578608" cy="1572768"/>
          </a:xfrm>
          <a:prstGeom prst="roundRect">
            <a:avLst>
              <a:gd name="adj" fmla="val 3488"/>
            </a:avLst>
          </a:prstGeom>
          <a:solidFill>
            <a:srgbClr val="F2F5F8"/>
          </a:solidFill>
          <a:ln w="12700">
            <a:solidFill>
              <a:srgbClr val="DCE3EA"/>
            </a:solidFill>
            <a:prstDash val="solid"/>
          </a:ln>
        </p:spPr>
      </p:sp>
      <p:sp>
        <p:nvSpPr>
          <p:cNvPr id="5" name="Text 3"/>
          <p:cNvSpPr txBox="1"/>
          <p:nvPr/>
        </p:nvSpPr>
        <p:spPr>
          <a:xfrm>
            <a:off x="859536" y="203911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859536" y="233172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Discover</a:t>
            </a:r>
            <a:endParaRPr lang="en-US" sz="1600" dirty="0"/>
          </a:p>
        </p:txBody>
      </p:sp>
      <p:sp>
        <p:nvSpPr>
          <p:cNvPr id="7" name="Text 5"/>
          <p:cNvSpPr txBox="1"/>
          <p:nvPr/>
        </p:nvSpPr>
        <p:spPr>
          <a:xfrm>
            <a:off x="859536" y="266090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Agent reads the supplier registry at runtime</a:t>
            </a:r>
            <a:endParaRPr lang="en-US" sz="1150" dirty="0"/>
          </a:p>
        </p:txBody>
      </p:sp>
      <p:sp>
        <p:nvSpPr>
          <p:cNvPr id="8" name="Shape 6"/>
          <p:cNvSpPr/>
          <p:nvPr/>
        </p:nvSpPr>
        <p:spPr>
          <a:xfrm>
            <a:off x="3438144" y="1874520"/>
            <a:ext cx="2578608" cy="1572768"/>
          </a:xfrm>
          <a:prstGeom prst="roundRect">
            <a:avLst>
              <a:gd name="adj" fmla="val 3488"/>
            </a:avLst>
          </a:prstGeom>
          <a:solidFill>
            <a:srgbClr val="F2F5F8"/>
          </a:solidFill>
          <a:ln w="12700">
            <a:solidFill>
              <a:srgbClr val="DCE3EA"/>
            </a:solidFill>
            <a:prstDash val="solid"/>
          </a:ln>
        </p:spPr>
      </p:sp>
      <p:sp>
        <p:nvSpPr>
          <p:cNvPr id="9" name="Text 7"/>
          <p:cNvSpPr txBox="1"/>
          <p:nvPr/>
        </p:nvSpPr>
        <p:spPr>
          <a:xfrm>
            <a:off x="3657600" y="203911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3657600" y="233172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Challenge</a:t>
            </a:r>
            <a:endParaRPr lang="en-US" sz="1600" dirty="0"/>
          </a:p>
        </p:txBody>
      </p:sp>
      <p:sp>
        <p:nvSpPr>
          <p:cNvPr id="11" name="Text 9"/>
          <p:cNvSpPr txBox="1"/>
          <p:nvPr/>
        </p:nvSpPr>
        <p:spPr>
          <a:xfrm>
            <a:off x="3657600" y="266090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Supplier answers 402 with PAYMENT-REQUIRED</a:t>
            </a:r>
            <a:endParaRPr lang="en-US" sz="1150" dirty="0"/>
          </a:p>
        </p:txBody>
      </p:sp>
      <p:sp>
        <p:nvSpPr>
          <p:cNvPr id="12" name="Shape 10"/>
          <p:cNvSpPr/>
          <p:nvPr/>
        </p:nvSpPr>
        <p:spPr>
          <a:xfrm>
            <a:off x="6236208" y="1874520"/>
            <a:ext cx="2578608" cy="1572768"/>
          </a:xfrm>
          <a:prstGeom prst="roundRect">
            <a:avLst>
              <a:gd name="adj" fmla="val 3488"/>
            </a:avLst>
          </a:prstGeom>
          <a:solidFill>
            <a:srgbClr val="F2F5F8"/>
          </a:solidFill>
          <a:ln w="12700">
            <a:solidFill>
              <a:srgbClr val="DCE3EA"/>
            </a:solidFill>
            <a:prstDash val="solid"/>
          </a:ln>
        </p:spPr>
      </p:sp>
      <p:sp>
        <p:nvSpPr>
          <p:cNvPr id="13" name="Text 11"/>
          <p:cNvSpPr txBox="1"/>
          <p:nvPr/>
        </p:nvSpPr>
        <p:spPr>
          <a:xfrm>
            <a:off x="6455664" y="203911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6455664" y="233172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Decide</a:t>
            </a:r>
            <a:endParaRPr lang="en-US" sz="1600" dirty="0"/>
          </a:p>
        </p:txBody>
      </p:sp>
      <p:sp>
        <p:nvSpPr>
          <p:cNvPr id="15" name="Text 13"/>
          <p:cNvSpPr txBox="1"/>
          <p:nvPr/>
        </p:nvSpPr>
        <p:spPr>
          <a:xfrm>
            <a:off x="6455664" y="266090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Mandate re-checked: budget, allow-list, deadline</a:t>
            </a:r>
            <a:endParaRPr lang="en-US" sz="1150" dirty="0"/>
          </a:p>
        </p:txBody>
      </p:sp>
      <p:sp>
        <p:nvSpPr>
          <p:cNvPr id="16" name="Shape 14"/>
          <p:cNvSpPr/>
          <p:nvPr/>
        </p:nvSpPr>
        <p:spPr>
          <a:xfrm>
            <a:off x="9034272" y="1874520"/>
            <a:ext cx="2578608" cy="1572768"/>
          </a:xfrm>
          <a:prstGeom prst="roundRect">
            <a:avLst>
              <a:gd name="adj" fmla="val 3488"/>
            </a:avLst>
          </a:prstGeom>
          <a:solidFill>
            <a:srgbClr val="F2F5F8"/>
          </a:solidFill>
          <a:ln w="12700">
            <a:solidFill>
              <a:srgbClr val="DCE3EA"/>
            </a:solidFill>
            <a:prstDash val="solid"/>
          </a:ln>
        </p:spPr>
      </p:sp>
      <p:sp>
        <p:nvSpPr>
          <p:cNvPr id="17" name="Text 15"/>
          <p:cNvSpPr txBox="1"/>
          <p:nvPr/>
        </p:nvSpPr>
        <p:spPr>
          <a:xfrm>
            <a:off x="9253728" y="203911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04</a:t>
            </a:r>
            <a:endParaRPr lang="en-US" sz="1200" dirty="0"/>
          </a:p>
        </p:txBody>
      </p:sp>
      <p:sp>
        <p:nvSpPr>
          <p:cNvPr id="18" name="Text 16"/>
          <p:cNvSpPr txBox="1"/>
          <p:nvPr/>
        </p:nvSpPr>
        <p:spPr>
          <a:xfrm>
            <a:off x="9253728" y="233172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Sign</a:t>
            </a:r>
            <a:endParaRPr lang="en-US" sz="1600" dirty="0"/>
          </a:p>
        </p:txBody>
      </p:sp>
      <p:sp>
        <p:nvSpPr>
          <p:cNvPr id="19" name="Text 17"/>
          <p:cNvSpPr txBox="1"/>
          <p:nvPr/>
        </p:nvSpPr>
        <p:spPr>
          <a:xfrm>
            <a:off x="9253728" y="266090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Agent signs the payment intent — but does not submit</a:t>
            </a:r>
            <a:endParaRPr lang="en-US" sz="1150" dirty="0"/>
          </a:p>
        </p:txBody>
      </p:sp>
      <p:sp>
        <p:nvSpPr>
          <p:cNvPr id="20" name="Shape 18"/>
          <p:cNvSpPr/>
          <p:nvPr/>
        </p:nvSpPr>
        <p:spPr>
          <a:xfrm>
            <a:off x="640080" y="3749040"/>
            <a:ext cx="2578608" cy="1572768"/>
          </a:xfrm>
          <a:prstGeom prst="roundRect">
            <a:avLst>
              <a:gd name="adj" fmla="val 3488"/>
            </a:avLst>
          </a:prstGeom>
          <a:solidFill>
            <a:srgbClr val="F2F5F8"/>
          </a:solidFill>
          <a:ln w="12700">
            <a:solidFill>
              <a:srgbClr val="DCE3EA"/>
            </a:solidFill>
            <a:prstDash val="solid"/>
          </a:ln>
        </p:spPr>
      </p:sp>
      <p:sp>
        <p:nvSpPr>
          <p:cNvPr id="21" name="Text 19"/>
          <p:cNvSpPr txBox="1"/>
          <p:nvPr/>
        </p:nvSpPr>
        <p:spPr>
          <a:xfrm>
            <a:off x="859536" y="391363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05</a:t>
            </a:r>
            <a:endParaRPr lang="en-US" sz="1200" dirty="0"/>
          </a:p>
        </p:txBody>
      </p:sp>
      <p:sp>
        <p:nvSpPr>
          <p:cNvPr id="22" name="Text 20"/>
          <p:cNvSpPr txBox="1"/>
          <p:nvPr/>
        </p:nvSpPr>
        <p:spPr>
          <a:xfrm>
            <a:off x="859536" y="420624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Settle</a:t>
            </a:r>
            <a:endParaRPr lang="en-US" sz="1600" dirty="0"/>
          </a:p>
        </p:txBody>
      </p:sp>
      <p:sp>
        <p:nvSpPr>
          <p:cNvPr id="23" name="Text 21"/>
          <p:cNvSpPr txBox="1"/>
          <p:nvPr/>
        </p:nvSpPr>
        <p:spPr>
          <a:xfrm>
            <a:off x="859536" y="453542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Supplier submits and waits for XRPL validation</a:t>
            </a:r>
            <a:endParaRPr lang="en-US" sz="1150" dirty="0"/>
          </a:p>
        </p:txBody>
      </p:sp>
      <p:sp>
        <p:nvSpPr>
          <p:cNvPr id="24" name="Shape 22"/>
          <p:cNvSpPr/>
          <p:nvPr/>
        </p:nvSpPr>
        <p:spPr>
          <a:xfrm>
            <a:off x="3438144" y="3749040"/>
            <a:ext cx="2578608" cy="1572768"/>
          </a:xfrm>
          <a:prstGeom prst="roundRect">
            <a:avLst>
              <a:gd name="adj" fmla="val 3488"/>
            </a:avLst>
          </a:prstGeom>
          <a:solidFill>
            <a:srgbClr val="F2F5F8"/>
          </a:solidFill>
          <a:ln w="12700">
            <a:solidFill>
              <a:srgbClr val="DCE3EA"/>
            </a:solidFill>
            <a:prstDash val="solid"/>
          </a:ln>
        </p:spPr>
      </p:sp>
      <p:sp>
        <p:nvSpPr>
          <p:cNvPr id="25" name="Text 23"/>
          <p:cNvSpPr txBox="1"/>
          <p:nvPr/>
        </p:nvSpPr>
        <p:spPr>
          <a:xfrm>
            <a:off x="3657600" y="391363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06</a:t>
            </a:r>
            <a:endParaRPr lang="en-US" sz="1200" dirty="0"/>
          </a:p>
        </p:txBody>
      </p:sp>
      <p:sp>
        <p:nvSpPr>
          <p:cNvPr id="26" name="Text 24"/>
          <p:cNvSpPr txBox="1"/>
          <p:nvPr/>
        </p:nvSpPr>
        <p:spPr>
          <a:xfrm>
            <a:off x="3657600" y="420624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Verify</a:t>
            </a:r>
            <a:endParaRPr lang="en-US" sz="1600" dirty="0"/>
          </a:p>
        </p:txBody>
      </p:sp>
      <p:sp>
        <p:nvSpPr>
          <p:cNvPr id="27" name="Text 25"/>
          <p:cNvSpPr txBox="1"/>
          <p:nvPr/>
        </p:nvSpPr>
        <p:spPr>
          <a:xfrm>
            <a:off x="3657600" y="453542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Supplier re-reads the ledger independently</a:t>
            </a:r>
            <a:endParaRPr lang="en-US" sz="1150" dirty="0"/>
          </a:p>
        </p:txBody>
      </p:sp>
      <p:sp>
        <p:nvSpPr>
          <p:cNvPr id="28" name="Shape 26"/>
          <p:cNvSpPr/>
          <p:nvPr/>
        </p:nvSpPr>
        <p:spPr>
          <a:xfrm>
            <a:off x="6236208" y="3749040"/>
            <a:ext cx="2578608" cy="1572768"/>
          </a:xfrm>
          <a:prstGeom prst="roundRect">
            <a:avLst>
              <a:gd name="adj" fmla="val 3488"/>
            </a:avLst>
          </a:prstGeom>
          <a:solidFill>
            <a:srgbClr val="F2F5F8"/>
          </a:solidFill>
          <a:ln w="12700">
            <a:solidFill>
              <a:srgbClr val="DCE3EA"/>
            </a:solidFill>
            <a:prstDash val="solid"/>
          </a:ln>
        </p:spPr>
      </p:sp>
      <p:sp>
        <p:nvSpPr>
          <p:cNvPr id="29" name="Text 27"/>
          <p:cNvSpPr txBox="1"/>
          <p:nvPr/>
        </p:nvSpPr>
        <p:spPr>
          <a:xfrm>
            <a:off x="6455664" y="391363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07</a:t>
            </a:r>
            <a:endParaRPr lang="en-US" sz="1200" dirty="0"/>
          </a:p>
        </p:txBody>
      </p:sp>
      <p:sp>
        <p:nvSpPr>
          <p:cNvPr id="30" name="Text 28"/>
          <p:cNvSpPr txBox="1"/>
          <p:nvPr/>
        </p:nvSpPr>
        <p:spPr>
          <a:xfrm>
            <a:off x="6455664" y="420624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Deliver</a:t>
            </a:r>
            <a:endParaRPr lang="en-US" sz="1600" dirty="0"/>
          </a:p>
        </p:txBody>
      </p:sp>
      <p:sp>
        <p:nvSpPr>
          <p:cNvPr id="31" name="Text 29"/>
          <p:cNvSpPr txBox="1"/>
          <p:nvPr/>
        </p:nvSpPr>
        <p:spPr>
          <a:xfrm>
            <a:off x="6455664" y="453542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Reservation hold released to the agent</a:t>
            </a:r>
            <a:endParaRPr lang="en-US" sz="1150" dirty="0"/>
          </a:p>
        </p:txBody>
      </p:sp>
      <p:sp>
        <p:nvSpPr>
          <p:cNvPr id="32" name="Shape 30"/>
          <p:cNvSpPr/>
          <p:nvPr/>
        </p:nvSpPr>
        <p:spPr>
          <a:xfrm>
            <a:off x="9034272" y="3749040"/>
            <a:ext cx="2578608" cy="1572768"/>
          </a:xfrm>
          <a:prstGeom prst="roundRect">
            <a:avLst>
              <a:gd name="adj" fmla="val 3488"/>
            </a:avLst>
          </a:prstGeom>
          <a:solidFill>
            <a:srgbClr val="F2F5F8"/>
          </a:solidFill>
          <a:ln w="12700">
            <a:solidFill>
              <a:srgbClr val="DCE3EA"/>
            </a:solidFill>
            <a:prstDash val="solid"/>
          </a:ln>
        </p:spPr>
      </p:sp>
      <p:sp>
        <p:nvSpPr>
          <p:cNvPr id="33" name="Text 31"/>
          <p:cNvSpPr txBox="1"/>
          <p:nvPr/>
        </p:nvSpPr>
        <p:spPr>
          <a:xfrm>
            <a:off x="9253728" y="391363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08</a:t>
            </a:r>
            <a:endParaRPr lang="en-US" sz="1200" dirty="0"/>
          </a:p>
        </p:txBody>
      </p:sp>
      <p:sp>
        <p:nvSpPr>
          <p:cNvPr id="34" name="Text 32"/>
          <p:cNvSpPr txBox="1"/>
          <p:nvPr/>
        </p:nvSpPr>
        <p:spPr>
          <a:xfrm>
            <a:off x="9253728" y="420624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Recover</a:t>
            </a:r>
            <a:endParaRPr lang="en-US" sz="1600" dirty="0"/>
          </a:p>
        </p:txBody>
      </p:sp>
      <p:sp>
        <p:nvSpPr>
          <p:cNvPr id="35" name="Text 33"/>
          <p:cNvSpPr txBox="1"/>
          <p:nvPr/>
        </p:nvSpPr>
        <p:spPr>
          <a:xfrm>
            <a:off x="9253728" y="453542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Itinerary restored, receipt inspectable</a:t>
            </a:r>
            <a:endParaRPr lang="en-US" sz="1150" dirty="0"/>
          </a:p>
        </p:txBody>
      </p:sp>
      <p:sp>
        <p:nvSpPr>
          <p:cNvPr id="36" name="Shape 34"/>
          <p:cNvSpPr/>
          <p:nvPr/>
        </p:nvSpPr>
        <p:spPr>
          <a:xfrm>
            <a:off x="640080" y="5687568"/>
            <a:ext cx="10908792" cy="713232"/>
          </a:xfrm>
          <a:prstGeom prst="roundRect">
            <a:avLst>
              <a:gd name="adj" fmla="val 7692"/>
            </a:avLst>
          </a:prstGeom>
          <a:solidFill>
            <a:srgbClr val="0E1A2B"/>
          </a:solidFill>
          <a:ln w="12700">
            <a:solidFill>
              <a:srgbClr val="DCE3EA"/>
            </a:solidFill>
            <a:prstDash val="solid"/>
          </a:ln>
        </p:spPr>
      </p:sp>
      <p:sp>
        <p:nvSpPr>
          <p:cNvPr id="37" name="Text 35"/>
          <p:cNvSpPr txBox="1"/>
          <p:nvPr/>
        </p:nvSpPr>
        <p:spPr>
          <a:xfrm>
            <a:off x="1005840" y="5852160"/>
            <a:ext cx="101498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agent signs; the supplier settles and verifies. Delivery before payment is structurally impossible, not merely forbidden.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TRUST AND FAILURE HANDLING</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We can break it on stage — and nothing moves.</a:t>
            </a:r>
            <a:endParaRPr lang="en-US" sz="3400" dirty="0"/>
          </a:p>
        </p:txBody>
      </p:sp>
      <p:sp>
        <p:nvSpPr>
          <p:cNvPr id="4" name="Shape 2"/>
          <p:cNvSpPr/>
          <p:nvPr/>
        </p:nvSpPr>
        <p:spPr>
          <a:xfrm>
            <a:off x="640080" y="1828800"/>
            <a:ext cx="3456432" cy="2377440"/>
          </a:xfrm>
          <a:prstGeom prst="roundRect">
            <a:avLst>
              <a:gd name="adj" fmla="val 2308"/>
            </a:avLst>
          </a:prstGeom>
          <a:solidFill>
            <a:srgbClr val="F2F5F8"/>
          </a:solidFill>
          <a:ln w="12700">
            <a:solidFill>
              <a:srgbClr val="DCE3EA"/>
            </a:solidFill>
            <a:prstDash val="solid"/>
          </a:ln>
        </p:spPr>
      </p:sp>
      <p:sp>
        <p:nvSpPr>
          <p:cNvPr id="5" name="Shape 3"/>
          <p:cNvSpPr/>
          <p:nvPr/>
        </p:nvSpPr>
        <p:spPr>
          <a:xfrm>
            <a:off x="896112" y="2084832"/>
            <a:ext cx="146304" cy="146304"/>
          </a:xfrm>
          <a:prstGeom prst="ellipse">
            <a:avLst/>
          </a:prstGeom>
          <a:solidFill>
            <a:srgbClr val="D99A2B"/>
          </a:solidFill>
          <a:ln/>
        </p:spPr>
      </p:sp>
      <p:sp>
        <p:nvSpPr>
          <p:cNvPr id="6" name="Text 4"/>
          <p:cNvSpPr txBox="1"/>
          <p:nvPr/>
        </p:nvSpPr>
        <p:spPr>
          <a:xfrm>
            <a:off x="1152144" y="1993392"/>
            <a:ext cx="2743200" cy="320040"/>
          </a:xfrm>
          <a:prstGeom prst="rect">
            <a:avLst/>
          </a:prstGeom>
          <a:noFill/>
          <a:ln/>
        </p:spPr>
        <p:txBody>
          <a:bodyPr wrap="square" lIns="0" tIns="0" rIns="0" bIns="0" rtlCol="0" anchor="ctr"/>
          <a:lstStyle/>
          <a:p>
            <a:pPr indent="0" marL="0">
              <a:buNone/>
            </a:pPr>
            <a:r>
              <a:rPr lang="en-US" sz="1500" b="1" dirty="0">
                <a:solidFill>
                  <a:srgbClr val="141A1F"/>
                </a:solidFill>
                <a:latin typeface="Calibri" pitchFamily="34" charset="0"/>
                <a:ea typeface="Calibri" pitchFamily="34" charset="-122"/>
                <a:cs typeface="Calibri" pitchFamily="34" charset="-120"/>
              </a:rPr>
              <a:t>Supplier goes offline</a:t>
            </a:r>
            <a:endParaRPr lang="en-US" sz="1500" dirty="0"/>
          </a:p>
        </p:txBody>
      </p:sp>
      <p:sp>
        <p:nvSpPr>
          <p:cNvPr id="7" name="Text 5"/>
          <p:cNvSpPr txBox="1"/>
          <p:nvPr/>
        </p:nvSpPr>
        <p:spPr>
          <a:xfrm>
            <a:off x="896112" y="2450592"/>
            <a:ext cx="2944368" cy="96012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Refused at the challenge, before any payment is attempted</a:t>
            </a:r>
            <a:endParaRPr lang="en-US" sz="1300" dirty="0"/>
          </a:p>
        </p:txBody>
      </p:sp>
      <p:sp>
        <p:nvSpPr>
          <p:cNvPr id="8" name="Text 6"/>
          <p:cNvSpPr txBox="1"/>
          <p:nvPr/>
        </p:nvSpPr>
        <p:spPr>
          <a:xfrm>
            <a:off x="896112" y="3584448"/>
            <a:ext cx="2944368" cy="320040"/>
          </a:xfrm>
          <a:prstGeom prst="rect">
            <a:avLst/>
          </a:prstGeom>
          <a:noFill/>
          <a:ln/>
        </p:spPr>
        <p:txBody>
          <a:bodyPr wrap="square" lIns="0" tIns="0" rIns="0" bIns="0" rtlCol="0" anchor="ctr"/>
          <a:lstStyle/>
          <a:p>
            <a:pPr indent="0" marL="0">
              <a:buNone/>
            </a:pPr>
            <a:r>
              <a:rPr lang="en-US" sz="1400" b="1" dirty="0">
                <a:solidFill>
                  <a:srgbClr val="1E9E63"/>
                </a:solidFill>
                <a:latin typeface="Calibri" pitchFamily="34" charset="0"/>
                <a:ea typeface="Calibri" pitchFamily="34" charset="-122"/>
                <a:cs typeface="Calibri" pitchFamily="34" charset="-120"/>
              </a:rPr>
              <a:t>Budget untouched</a:t>
            </a:r>
            <a:endParaRPr lang="en-US" sz="1400" dirty="0"/>
          </a:p>
        </p:txBody>
      </p:sp>
      <p:sp>
        <p:nvSpPr>
          <p:cNvPr id="9" name="Shape 7"/>
          <p:cNvSpPr/>
          <p:nvPr/>
        </p:nvSpPr>
        <p:spPr>
          <a:xfrm>
            <a:off x="4352544" y="1828800"/>
            <a:ext cx="3456432" cy="2377440"/>
          </a:xfrm>
          <a:prstGeom prst="roundRect">
            <a:avLst>
              <a:gd name="adj" fmla="val 2308"/>
            </a:avLst>
          </a:prstGeom>
          <a:solidFill>
            <a:srgbClr val="F2F5F8"/>
          </a:solidFill>
          <a:ln w="12700">
            <a:solidFill>
              <a:srgbClr val="DCE3EA"/>
            </a:solidFill>
            <a:prstDash val="solid"/>
          </a:ln>
        </p:spPr>
      </p:sp>
      <p:sp>
        <p:nvSpPr>
          <p:cNvPr id="10" name="Shape 8"/>
          <p:cNvSpPr/>
          <p:nvPr/>
        </p:nvSpPr>
        <p:spPr>
          <a:xfrm>
            <a:off x="4608576" y="2084832"/>
            <a:ext cx="146304" cy="146304"/>
          </a:xfrm>
          <a:prstGeom prst="ellipse">
            <a:avLst/>
          </a:prstGeom>
          <a:solidFill>
            <a:srgbClr val="D14B4B"/>
          </a:solidFill>
          <a:ln/>
        </p:spPr>
      </p:sp>
      <p:sp>
        <p:nvSpPr>
          <p:cNvPr id="11" name="Text 9"/>
          <p:cNvSpPr txBox="1"/>
          <p:nvPr/>
        </p:nvSpPr>
        <p:spPr>
          <a:xfrm>
            <a:off x="4864608" y="1993392"/>
            <a:ext cx="2743200" cy="320040"/>
          </a:xfrm>
          <a:prstGeom prst="rect">
            <a:avLst/>
          </a:prstGeom>
          <a:noFill/>
          <a:ln/>
        </p:spPr>
        <p:txBody>
          <a:bodyPr wrap="square" lIns="0" tIns="0" rIns="0" bIns="0" rtlCol="0" anchor="ctr"/>
          <a:lstStyle/>
          <a:p>
            <a:pPr indent="0" marL="0">
              <a:buNone/>
            </a:pPr>
            <a:r>
              <a:rPr lang="en-US" sz="1500" b="1" dirty="0">
                <a:solidFill>
                  <a:srgbClr val="141A1F"/>
                </a:solidFill>
                <a:latin typeface="Calibri" pitchFamily="34" charset="0"/>
                <a:ea typeface="Calibri" pitchFamily="34" charset="-122"/>
                <a:cs typeface="Calibri" pitchFamily="34" charset="-120"/>
              </a:rPr>
              <a:t>Settlement rejected</a:t>
            </a:r>
            <a:endParaRPr lang="en-US" sz="1500" dirty="0"/>
          </a:p>
        </p:txBody>
      </p:sp>
      <p:sp>
        <p:nvSpPr>
          <p:cNvPr id="12" name="Text 10"/>
          <p:cNvSpPr txBox="1"/>
          <p:nvPr/>
        </p:nvSpPr>
        <p:spPr>
          <a:xfrm>
            <a:off x="4608576" y="2450592"/>
            <a:ext cx="2944368" cy="96012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Execution fails, nothing is delivered, reserved budget released</a:t>
            </a:r>
            <a:endParaRPr lang="en-US" sz="1300" dirty="0"/>
          </a:p>
        </p:txBody>
      </p:sp>
      <p:sp>
        <p:nvSpPr>
          <p:cNvPr id="13" name="Text 11"/>
          <p:cNvSpPr txBox="1"/>
          <p:nvPr/>
        </p:nvSpPr>
        <p:spPr>
          <a:xfrm>
            <a:off x="4608576" y="3584448"/>
            <a:ext cx="2944368" cy="320040"/>
          </a:xfrm>
          <a:prstGeom prst="rect">
            <a:avLst/>
          </a:prstGeom>
          <a:noFill/>
          <a:ln/>
        </p:spPr>
        <p:txBody>
          <a:bodyPr wrap="square" lIns="0" tIns="0" rIns="0" bIns="0" rtlCol="0" anchor="ctr"/>
          <a:lstStyle/>
          <a:p>
            <a:pPr indent="0" marL="0">
              <a:buNone/>
            </a:pPr>
            <a:r>
              <a:rPr lang="en-US" sz="1400" b="1" dirty="0">
                <a:solidFill>
                  <a:srgbClr val="1E9E63"/>
                </a:solidFill>
                <a:latin typeface="Calibri" pitchFamily="34" charset="0"/>
                <a:ea typeface="Calibri" pitchFamily="34" charset="-122"/>
                <a:cs typeface="Calibri" pitchFamily="34" charset="-120"/>
              </a:rPr>
              <a:t>No money stranded</a:t>
            </a:r>
            <a:endParaRPr lang="en-US" sz="1400" dirty="0"/>
          </a:p>
        </p:txBody>
      </p:sp>
      <p:sp>
        <p:nvSpPr>
          <p:cNvPr id="14" name="Shape 12"/>
          <p:cNvSpPr/>
          <p:nvPr/>
        </p:nvSpPr>
        <p:spPr>
          <a:xfrm>
            <a:off x="8065008" y="1828800"/>
            <a:ext cx="3456432" cy="2377440"/>
          </a:xfrm>
          <a:prstGeom prst="roundRect">
            <a:avLst>
              <a:gd name="adj" fmla="val 2308"/>
            </a:avLst>
          </a:prstGeom>
          <a:solidFill>
            <a:srgbClr val="F2F5F8"/>
          </a:solidFill>
          <a:ln w="12700">
            <a:solidFill>
              <a:srgbClr val="DCE3EA"/>
            </a:solidFill>
            <a:prstDash val="solid"/>
          </a:ln>
        </p:spPr>
      </p:sp>
      <p:sp>
        <p:nvSpPr>
          <p:cNvPr id="15" name="Shape 13"/>
          <p:cNvSpPr/>
          <p:nvPr/>
        </p:nvSpPr>
        <p:spPr>
          <a:xfrm>
            <a:off x="8321040" y="2084832"/>
            <a:ext cx="146304" cy="146304"/>
          </a:xfrm>
          <a:prstGeom prst="ellipse">
            <a:avLst/>
          </a:prstGeom>
          <a:solidFill>
            <a:srgbClr val="D99A2B"/>
          </a:solidFill>
          <a:ln/>
        </p:spPr>
      </p:sp>
      <p:sp>
        <p:nvSpPr>
          <p:cNvPr id="16" name="Text 14"/>
          <p:cNvSpPr txBox="1"/>
          <p:nvPr/>
        </p:nvSpPr>
        <p:spPr>
          <a:xfrm>
            <a:off x="8577072" y="1993392"/>
            <a:ext cx="2743200" cy="320040"/>
          </a:xfrm>
          <a:prstGeom prst="rect">
            <a:avLst/>
          </a:prstGeom>
          <a:noFill/>
          <a:ln/>
        </p:spPr>
        <p:txBody>
          <a:bodyPr wrap="square" lIns="0" tIns="0" rIns="0" bIns="0" rtlCol="0" anchor="ctr"/>
          <a:lstStyle/>
          <a:p>
            <a:pPr indent="0" marL="0">
              <a:buNone/>
            </a:pPr>
            <a:r>
              <a:rPr lang="en-US" sz="1500" b="1" dirty="0">
                <a:solidFill>
                  <a:srgbClr val="141A1F"/>
                </a:solidFill>
                <a:latin typeface="Calibri" pitchFamily="34" charset="0"/>
                <a:ea typeface="Calibri" pitchFamily="34" charset="-122"/>
                <a:cs typeface="Calibri" pitchFamily="34" charset="-120"/>
              </a:rPr>
              <a:t>Budget exhausted</a:t>
            </a:r>
            <a:endParaRPr lang="en-US" sz="1500" dirty="0"/>
          </a:p>
        </p:txBody>
      </p:sp>
      <p:sp>
        <p:nvSpPr>
          <p:cNvPr id="17" name="Text 15"/>
          <p:cNvSpPr txBox="1"/>
          <p:nvPr/>
        </p:nvSpPr>
        <p:spPr>
          <a:xfrm>
            <a:off x="8321040" y="2450592"/>
            <a:ext cx="2944368" cy="96012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Agent halts and returns to the traveller for re-authorisation</a:t>
            </a:r>
            <a:endParaRPr lang="en-US" sz="1300" dirty="0"/>
          </a:p>
        </p:txBody>
      </p:sp>
      <p:sp>
        <p:nvSpPr>
          <p:cNvPr id="18" name="Text 16"/>
          <p:cNvSpPr txBox="1"/>
          <p:nvPr/>
        </p:nvSpPr>
        <p:spPr>
          <a:xfrm>
            <a:off x="8321040" y="3584448"/>
            <a:ext cx="2944368" cy="320040"/>
          </a:xfrm>
          <a:prstGeom prst="rect">
            <a:avLst/>
          </a:prstGeom>
          <a:noFill/>
          <a:ln/>
        </p:spPr>
        <p:txBody>
          <a:bodyPr wrap="square" lIns="0" tIns="0" rIns="0" bIns="0" rtlCol="0" anchor="ctr"/>
          <a:lstStyle/>
          <a:p>
            <a:pPr indent="0" marL="0">
              <a:buNone/>
            </a:pPr>
            <a:r>
              <a:rPr lang="en-US" sz="1400" b="1" dirty="0">
                <a:solidFill>
                  <a:srgbClr val="1E9E63"/>
                </a:solidFill>
                <a:latin typeface="Calibri" pitchFamily="34" charset="0"/>
                <a:ea typeface="Calibri" pitchFamily="34" charset="-122"/>
                <a:cs typeface="Calibri" pitchFamily="34" charset="-120"/>
              </a:rPr>
              <a:t>No payment made</a:t>
            </a:r>
            <a:endParaRPr lang="en-US" sz="1400" dirty="0"/>
          </a:p>
        </p:txBody>
      </p:sp>
      <p:sp>
        <p:nvSpPr>
          <p:cNvPr id="19" name="Text 17"/>
          <p:cNvSpPr txBox="1"/>
          <p:nvPr/>
        </p:nvSpPr>
        <p:spPr>
          <a:xfrm>
            <a:off x="640080" y="4434840"/>
            <a:ext cx="10881360" cy="320040"/>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Seven release-blocking invariants, each covered by tests</a:t>
            </a:r>
            <a:endParaRPr lang="en-US" sz="1600" dirty="0"/>
          </a:p>
        </p:txBody>
      </p:sp>
      <p:sp>
        <p:nvSpPr>
          <p:cNvPr id="20" name="Shape 18"/>
          <p:cNvSpPr/>
          <p:nvPr/>
        </p:nvSpPr>
        <p:spPr>
          <a:xfrm>
            <a:off x="640080" y="4919472"/>
            <a:ext cx="118872" cy="118872"/>
          </a:xfrm>
          <a:prstGeom prst="ellipse">
            <a:avLst/>
          </a:prstGeom>
          <a:solidFill>
            <a:srgbClr val="1E9E63"/>
          </a:solidFill>
          <a:ln/>
        </p:spPr>
      </p:sp>
      <p:sp>
        <p:nvSpPr>
          <p:cNvPr id="21" name="Text 19"/>
          <p:cNvSpPr txBox="1"/>
          <p:nvPr/>
        </p:nvSpPr>
        <p:spPr>
          <a:xfrm>
            <a:off x="841248" y="4864608"/>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The agent cannot exceed the mandate</a:t>
            </a:r>
            <a:endParaRPr lang="en-US" sz="1150" dirty="0"/>
          </a:p>
        </p:txBody>
      </p:sp>
      <p:sp>
        <p:nvSpPr>
          <p:cNvPr id="22" name="Shape 20"/>
          <p:cNvSpPr/>
          <p:nvPr/>
        </p:nvSpPr>
        <p:spPr>
          <a:xfrm>
            <a:off x="3401568" y="4919472"/>
            <a:ext cx="118872" cy="118872"/>
          </a:xfrm>
          <a:prstGeom prst="ellipse">
            <a:avLst/>
          </a:prstGeom>
          <a:solidFill>
            <a:srgbClr val="1E9E63"/>
          </a:solidFill>
          <a:ln/>
        </p:spPr>
      </p:sp>
      <p:sp>
        <p:nvSpPr>
          <p:cNvPr id="23" name="Text 21"/>
          <p:cNvSpPr txBox="1"/>
          <p:nvPr/>
        </p:nvSpPr>
        <p:spPr>
          <a:xfrm>
            <a:off x="3602736" y="4864608"/>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No delivery before verified settlement</a:t>
            </a:r>
            <a:endParaRPr lang="en-US" sz="1150" dirty="0"/>
          </a:p>
        </p:txBody>
      </p:sp>
      <p:sp>
        <p:nvSpPr>
          <p:cNvPr id="24" name="Shape 22"/>
          <p:cNvSpPr/>
          <p:nvPr/>
        </p:nvSpPr>
        <p:spPr>
          <a:xfrm>
            <a:off x="6163056" y="4919472"/>
            <a:ext cx="118872" cy="118872"/>
          </a:xfrm>
          <a:prstGeom prst="ellipse">
            <a:avLst/>
          </a:prstGeom>
          <a:solidFill>
            <a:srgbClr val="1E9E63"/>
          </a:solidFill>
          <a:ln/>
        </p:spPr>
      </p:sp>
      <p:sp>
        <p:nvSpPr>
          <p:cNvPr id="25" name="Text 23"/>
          <p:cNvSpPr txBox="1"/>
          <p:nvPr/>
        </p:nvSpPr>
        <p:spPr>
          <a:xfrm>
            <a:off x="6364224" y="4864608"/>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Retries cannot double-spend</a:t>
            </a:r>
            <a:endParaRPr lang="en-US" sz="1150" dirty="0"/>
          </a:p>
        </p:txBody>
      </p:sp>
      <p:sp>
        <p:nvSpPr>
          <p:cNvPr id="26" name="Shape 24"/>
          <p:cNvSpPr/>
          <p:nvPr/>
        </p:nvSpPr>
        <p:spPr>
          <a:xfrm>
            <a:off x="8924544" y="4919472"/>
            <a:ext cx="118872" cy="118872"/>
          </a:xfrm>
          <a:prstGeom prst="ellipse">
            <a:avLst/>
          </a:prstGeom>
          <a:solidFill>
            <a:srgbClr val="1E9E63"/>
          </a:solidFill>
          <a:ln/>
        </p:spPr>
      </p:sp>
      <p:sp>
        <p:nvSpPr>
          <p:cNvPr id="27" name="Text 25"/>
          <p:cNvSpPr txBox="1"/>
          <p:nvPr/>
        </p:nvSpPr>
        <p:spPr>
          <a:xfrm>
            <a:off x="9125712" y="4864608"/>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Mismatched payments unlock nothing</a:t>
            </a:r>
            <a:endParaRPr lang="en-US" sz="1150" dirty="0"/>
          </a:p>
        </p:txBody>
      </p:sp>
      <p:sp>
        <p:nvSpPr>
          <p:cNvPr id="28" name="Shape 26"/>
          <p:cNvSpPr/>
          <p:nvPr/>
        </p:nvSpPr>
        <p:spPr>
          <a:xfrm>
            <a:off x="640080" y="5394960"/>
            <a:ext cx="118872" cy="118872"/>
          </a:xfrm>
          <a:prstGeom prst="ellipse">
            <a:avLst/>
          </a:prstGeom>
          <a:solidFill>
            <a:srgbClr val="1E9E63"/>
          </a:solidFill>
          <a:ln/>
        </p:spPr>
      </p:sp>
      <p:sp>
        <p:nvSpPr>
          <p:cNvPr id="29" name="Text 27"/>
          <p:cNvSpPr txBox="1"/>
          <p:nvPr/>
        </p:nvSpPr>
        <p:spPr>
          <a:xfrm>
            <a:off x="841248" y="5340096"/>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Server state beats client input</a:t>
            </a:r>
            <a:endParaRPr lang="en-US" sz="1150" dirty="0"/>
          </a:p>
        </p:txBody>
      </p:sp>
      <p:sp>
        <p:nvSpPr>
          <p:cNvPr id="30" name="Shape 28"/>
          <p:cNvSpPr/>
          <p:nvPr/>
        </p:nvSpPr>
        <p:spPr>
          <a:xfrm>
            <a:off x="3401568" y="5394960"/>
            <a:ext cx="118872" cy="118872"/>
          </a:xfrm>
          <a:prstGeom prst="ellipse">
            <a:avLst/>
          </a:prstGeom>
          <a:solidFill>
            <a:srgbClr val="1E9E63"/>
          </a:solidFill>
          <a:ln/>
        </p:spPr>
      </p:sp>
      <p:sp>
        <p:nvSpPr>
          <p:cNvPr id="31" name="Text 29"/>
          <p:cNvSpPr txBox="1"/>
          <p:nvPr/>
        </p:nvSpPr>
        <p:spPr>
          <a:xfrm>
            <a:off x="3602736" y="5340096"/>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Seeds never leave the server</a:t>
            </a:r>
            <a:endParaRPr lang="en-US" sz="1150" dirty="0"/>
          </a:p>
        </p:txBody>
      </p:sp>
      <p:sp>
        <p:nvSpPr>
          <p:cNvPr id="32" name="Shape 30"/>
          <p:cNvSpPr/>
          <p:nvPr/>
        </p:nvSpPr>
        <p:spPr>
          <a:xfrm>
            <a:off x="6163056" y="5394960"/>
            <a:ext cx="118872" cy="118872"/>
          </a:xfrm>
          <a:prstGeom prst="ellipse">
            <a:avLst/>
          </a:prstGeom>
          <a:solidFill>
            <a:srgbClr val="1E9E63"/>
          </a:solidFill>
          <a:ln/>
        </p:spPr>
      </p:sp>
      <p:sp>
        <p:nvSpPr>
          <p:cNvPr id="33" name="Text 31"/>
          <p:cNvSpPr txBox="1"/>
          <p:nvPr/>
        </p:nvSpPr>
        <p:spPr>
          <a:xfrm>
            <a:off x="6364224" y="5340096"/>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Every decision carries its reason</a:t>
            </a:r>
            <a:endParaRPr lang="en-US" sz="1150" dirty="0"/>
          </a:p>
        </p:txBody>
      </p:sp>
      <p:sp>
        <p:nvSpPr>
          <p:cNvPr id="34" name="Text 32"/>
          <p:cNvSpPr txBox="1"/>
          <p:nvPr/>
        </p:nvSpPr>
        <p:spPr>
          <a:xfrm>
            <a:off x="640080" y="5943600"/>
            <a:ext cx="10881360" cy="320040"/>
          </a:xfrm>
          <a:prstGeom prst="rect">
            <a:avLst/>
          </a:prstGeom>
          <a:noFill/>
          <a:ln/>
        </p:spPr>
        <p:txBody>
          <a:bodyPr wrap="square" lIns="0" tIns="0" rIns="0" bIns="0" rtlCol="0" anchor="ctr"/>
          <a:lstStyle/>
          <a:p>
            <a:pPr indent="0" marL="0">
              <a:buNone/>
            </a:pPr>
            <a:r>
              <a:rPr lang="en-US" sz="1300" i="1" dirty="0">
                <a:solidFill>
                  <a:srgbClr val="5D6B7C"/>
                </a:solidFill>
                <a:latin typeface="Calibri" pitchFamily="34" charset="0"/>
                <a:ea typeface="Calibri" pitchFamily="34" charset="-122"/>
                <a:cs typeface="Calibri" pitchFamily="34" charset="-120"/>
              </a:rPr>
              <a:t>93 automated tests · deterministic policy · full decision trace in the UI</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274320"/>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NOT A MOCKUP</a:t>
            </a:r>
            <a:endParaRPr lang="en-US" sz="1100" dirty="0"/>
          </a:p>
        </p:txBody>
      </p:sp>
      <p:sp>
        <p:nvSpPr>
          <p:cNvPr id="3" name="Text 1"/>
          <p:cNvSpPr txBox="1"/>
          <p:nvPr/>
        </p:nvSpPr>
        <p:spPr>
          <a:xfrm>
            <a:off x="640080" y="896112"/>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Real payments, on the real ledger.</a:t>
            </a:r>
            <a:endParaRPr lang="en-US" sz="3400" dirty="0"/>
          </a:p>
        </p:txBody>
      </p:sp>
      <p:sp>
        <p:nvSpPr>
          <p:cNvPr id="4" name="Text 2"/>
          <p:cNvSpPr txBox="1"/>
          <p:nvPr/>
        </p:nvSpPr>
        <p:spPr>
          <a:xfrm>
            <a:off x="640080" y="1828800"/>
            <a:ext cx="1463040" cy="237744"/>
          </a:xfrm>
          <a:prstGeom prst="rect">
            <a:avLst/>
          </a:prstGeom>
          <a:noFill/>
          <a:ln/>
        </p:spPr>
        <p:txBody>
          <a:bodyPr wrap="square" lIns="0" tIns="0" rIns="0" bIns="0" rtlCol="0" anchor="ctr"/>
          <a:lstStyle/>
          <a:p>
            <a:pPr indent="0" marL="0">
              <a:buNone/>
            </a:pPr>
            <a:r>
              <a:rPr lang="en-US" sz="1000" b="1" spc="100" kern="0" dirty="0">
                <a:solidFill>
                  <a:srgbClr val="5D6B7C"/>
                </a:solidFill>
                <a:latin typeface="Calibri" pitchFamily="34" charset="0"/>
                <a:ea typeface="Calibri" pitchFamily="34" charset="-122"/>
                <a:cs typeface="Calibri" pitchFamily="34" charset="-120"/>
              </a:rPr>
              <a:t>LEDGER</a:t>
            </a:r>
            <a:endParaRPr lang="en-US" sz="1000" dirty="0"/>
          </a:p>
        </p:txBody>
      </p:sp>
      <p:sp>
        <p:nvSpPr>
          <p:cNvPr id="5" name="Text 3"/>
          <p:cNvSpPr txBox="1"/>
          <p:nvPr/>
        </p:nvSpPr>
        <p:spPr>
          <a:xfrm>
            <a:off x="2194560" y="1828800"/>
            <a:ext cx="2377440" cy="237744"/>
          </a:xfrm>
          <a:prstGeom prst="rect">
            <a:avLst/>
          </a:prstGeom>
          <a:noFill/>
          <a:ln/>
        </p:spPr>
        <p:txBody>
          <a:bodyPr wrap="square" lIns="0" tIns="0" rIns="0" bIns="0" rtlCol="0" anchor="ctr"/>
          <a:lstStyle/>
          <a:p>
            <a:pPr indent="0" marL="0">
              <a:buNone/>
            </a:pPr>
            <a:r>
              <a:rPr lang="en-US" sz="1000" b="1" spc="100" kern="0" dirty="0">
                <a:solidFill>
                  <a:srgbClr val="5D6B7C"/>
                </a:solidFill>
                <a:latin typeface="Calibri" pitchFamily="34" charset="0"/>
                <a:ea typeface="Calibri" pitchFamily="34" charset="-122"/>
                <a:cs typeface="Calibri" pitchFamily="34" charset="-120"/>
              </a:rPr>
              <a:t>TRANSACTION</a:t>
            </a:r>
            <a:endParaRPr lang="en-US" sz="1000" dirty="0"/>
          </a:p>
        </p:txBody>
      </p:sp>
      <p:sp>
        <p:nvSpPr>
          <p:cNvPr id="6" name="Text 4"/>
          <p:cNvSpPr txBox="1"/>
          <p:nvPr/>
        </p:nvSpPr>
        <p:spPr>
          <a:xfrm>
            <a:off x="4846320" y="1828800"/>
            <a:ext cx="1828800" cy="237744"/>
          </a:xfrm>
          <a:prstGeom prst="rect">
            <a:avLst/>
          </a:prstGeom>
          <a:noFill/>
          <a:ln/>
        </p:spPr>
        <p:txBody>
          <a:bodyPr wrap="square" lIns="0" tIns="0" rIns="0" bIns="0" rtlCol="0" anchor="ctr"/>
          <a:lstStyle/>
          <a:p>
            <a:pPr indent="0" marL="0">
              <a:buNone/>
            </a:pPr>
            <a:r>
              <a:rPr lang="en-US" sz="1000" b="1" spc="100" kern="0" dirty="0">
                <a:solidFill>
                  <a:srgbClr val="5D6B7C"/>
                </a:solidFill>
                <a:latin typeface="Calibri" pitchFamily="34" charset="0"/>
                <a:ea typeface="Calibri" pitchFamily="34" charset="-122"/>
                <a:cs typeface="Calibri" pitchFamily="34" charset="-120"/>
              </a:rPr>
              <a:t>AMOUNT</a:t>
            </a:r>
            <a:endParaRPr lang="en-US" sz="1000" dirty="0"/>
          </a:p>
        </p:txBody>
      </p:sp>
      <p:sp>
        <p:nvSpPr>
          <p:cNvPr id="7" name="Text 5"/>
          <p:cNvSpPr txBox="1"/>
          <p:nvPr/>
        </p:nvSpPr>
        <p:spPr>
          <a:xfrm>
            <a:off x="6949440" y="1828800"/>
            <a:ext cx="4114800" cy="237744"/>
          </a:xfrm>
          <a:prstGeom prst="rect">
            <a:avLst/>
          </a:prstGeom>
          <a:noFill/>
          <a:ln/>
        </p:spPr>
        <p:txBody>
          <a:bodyPr wrap="square" lIns="0" tIns="0" rIns="0" bIns="0" rtlCol="0" anchor="ctr"/>
          <a:lstStyle/>
          <a:p>
            <a:pPr indent="0" marL="0">
              <a:buNone/>
            </a:pPr>
            <a:r>
              <a:rPr lang="en-US" sz="1000" b="1" spc="100" kern="0" dirty="0">
                <a:solidFill>
                  <a:srgbClr val="5D6B7C"/>
                </a:solidFill>
                <a:latin typeface="Calibri" pitchFamily="34" charset="0"/>
                <a:ea typeface="Calibri" pitchFamily="34" charset="-122"/>
                <a:cs typeface="Calibri" pitchFamily="34" charset="-120"/>
              </a:rPr>
              <a:t>RUN</a:t>
            </a:r>
            <a:endParaRPr lang="en-US" sz="1000" dirty="0"/>
          </a:p>
        </p:txBody>
      </p:sp>
      <p:sp>
        <p:nvSpPr>
          <p:cNvPr id="8" name="Shape 6"/>
          <p:cNvSpPr/>
          <p:nvPr/>
        </p:nvSpPr>
        <p:spPr>
          <a:xfrm>
            <a:off x="640080" y="2139696"/>
            <a:ext cx="10881360" cy="0"/>
          </a:xfrm>
          <a:prstGeom prst="line">
            <a:avLst/>
          </a:prstGeom>
          <a:noFill/>
          <a:ln w="12700">
            <a:solidFill>
              <a:srgbClr val="2A3A52"/>
            </a:solidFill>
            <a:prstDash val="solid"/>
          </a:ln>
        </p:spPr>
      </p:sp>
      <p:sp>
        <p:nvSpPr>
          <p:cNvPr id="9" name="Text 7"/>
          <p:cNvSpPr txBox="1"/>
          <p:nvPr/>
        </p:nvSpPr>
        <p:spPr>
          <a:xfrm>
            <a:off x="640080" y="2212848"/>
            <a:ext cx="1463040" cy="292608"/>
          </a:xfrm>
          <a:prstGeom prst="rect">
            <a:avLst/>
          </a:prstGeom>
          <a:noFill/>
          <a:ln/>
        </p:spPr>
        <p:txBody>
          <a:bodyPr wrap="square" lIns="0" tIns="0" rIns="0" bIns="0" rtlCol="0" anchor="ctr"/>
          <a:lstStyle/>
          <a:p>
            <a:pPr indent="0" marL="0">
              <a:buNone/>
            </a:pPr>
            <a:r>
              <a:rPr lang="en-US" sz="1300" dirty="0">
                <a:solidFill>
                  <a:srgbClr val="C6D4E6"/>
                </a:solidFill>
                <a:latin typeface="Courier New" pitchFamily="34" charset="0"/>
                <a:ea typeface="Courier New" pitchFamily="34" charset="-122"/>
                <a:cs typeface="Courier New" pitchFamily="34" charset="-120"/>
              </a:rPr>
              <a:t>20482189</a:t>
            </a:r>
            <a:endParaRPr lang="en-US" sz="1300" dirty="0"/>
          </a:p>
        </p:txBody>
      </p:sp>
      <p:sp>
        <p:nvSpPr>
          <p:cNvPr id="10" name="Text 8"/>
          <p:cNvSpPr txBox="1"/>
          <p:nvPr/>
        </p:nvSpPr>
        <p:spPr>
          <a:xfrm>
            <a:off x="2194560" y="2212848"/>
            <a:ext cx="2560320" cy="29260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6BA53E5B…31D5</a:t>
            </a:r>
            <a:endParaRPr lang="en-US" sz="1300" dirty="0"/>
          </a:p>
        </p:txBody>
      </p:sp>
      <p:sp>
        <p:nvSpPr>
          <p:cNvPr id="11" name="Text 9"/>
          <p:cNvSpPr txBox="1"/>
          <p:nvPr/>
        </p:nvSpPr>
        <p:spPr>
          <a:xfrm>
            <a:off x="4846320" y="2212848"/>
            <a:ext cx="2011680" cy="292608"/>
          </a:xfrm>
          <a:prstGeom prst="rect">
            <a:avLst/>
          </a:prstGeom>
          <a:noFill/>
          <a:ln/>
        </p:spPr>
        <p:txBody>
          <a:bodyPr wrap="square" lIns="0" tIns="0" rIns="0" bIns="0" rtlCol="0" anchor="ctr"/>
          <a:lstStyle/>
          <a:p>
            <a:pPr indent="0" marL="0">
              <a:buNone/>
            </a:pPr>
            <a:r>
              <a:rPr lang="en-US" sz="1300" dirty="0">
                <a:solidFill>
                  <a:srgbClr val="1E9E63"/>
                </a:solidFill>
                <a:latin typeface="Courier New" pitchFamily="34" charset="0"/>
                <a:ea typeface="Courier New" pitchFamily="34" charset="-122"/>
                <a:cs typeface="Courier New" pitchFamily="34" charset="-120"/>
              </a:rPr>
              <a:t>48000 drops</a:t>
            </a:r>
            <a:endParaRPr lang="en-US" sz="1300" dirty="0"/>
          </a:p>
        </p:txBody>
      </p:sp>
      <p:sp>
        <p:nvSpPr>
          <p:cNvPr id="12" name="Text 10"/>
          <p:cNvSpPr txBox="1"/>
          <p:nvPr/>
        </p:nvSpPr>
        <p:spPr>
          <a:xfrm>
            <a:off x="6949440" y="2212848"/>
            <a:ext cx="4572000" cy="292608"/>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leisure priority</a:t>
            </a:r>
            <a:endParaRPr lang="en-US" sz="1300" dirty="0"/>
          </a:p>
        </p:txBody>
      </p:sp>
      <p:sp>
        <p:nvSpPr>
          <p:cNvPr id="13" name="Shape 11"/>
          <p:cNvSpPr/>
          <p:nvPr/>
        </p:nvSpPr>
        <p:spPr>
          <a:xfrm>
            <a:off x="640080" y="2615184"/>
            <a:ext cx="10881360" cy="0"/>
          </a:xfrm>
          <a:prstGeom prst="line">
            <a:avLst/>
          </a:prstGeom>
          <a:noFill/>
          <a:ln w="12700">
            <a:solidFill>
              <a:srgbClr val="2A3A52"/>
            </a:solidFill>
            <a:prstDash val="solid"/>
          </a:ln>
        </p:spPr>
      </p:sp>
      <p:sp>
        <p:nvSpPr>
          <p:cNvPr id="14" name="Text 12"/>
          <p:cNvSpPr txBox="1"/>
          <p:nvPr/>
        </p:nvSpPr>
        <p:spPr>
          <a:xfrm>
            <a:off x="640080" y="2688336"/>
            <a:ext cx="1463040" cy="292608"/>
          </a:xfrm>
          <a:prstGeom prst="rect">
            <a:avLst/>
          </a:prstGeom>
          <a:noFill/>
          <a:ln/>
        </p:spPr>
        <p:txBody>
          <a:bodyPr wrap="square" lIns="0" tIns="0" rIns="0" bIns="0" rtlCol="0" anchor="ctr"/>
          <a:lstStyle/>
          <a:p>
            <a:pPr indent="0" marL="0">
              <a:buNone/>
            </a:pPr>
            <a:r>
              <a:rPr lang="en-US" sz="1300" dirty="0">
                <a:solidFill>
                  <a:srgbClr val="C6D4E6"/>
                </a:solidFill>
                <a:latin typeface="Courier New" pitchFamily="34" charset="0"/>
                <a:ea typeface="Courier New" pitchFamily="34" charset="-122"/>
                <a:cs typeface="Courier New" pitchFamily="34" charset="-120"/>
              </a:rPr>
              <a:t>20482546</a:t>
            </a:r>
            <a:endParaRPr lang="en-US" sz="1300" dirty="0"/>
          </a:p>
        </p:txBody>
      </p:sp>
      <p:sp>
        <p:nvSpPr>
          <p:cNvPr id="15" name="Text 13"/>
          <p:cNvSpPr txBox="1"/>
          <p:nvPr/>
        </p:nvSpPr>
        <p:spPr>
          <a:xfrm>
            <a:off x="2194560" y="2688336"/>
            <a:ext cx="2560320" cy="29260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F91CE25D…3971</a:t>
            </a:r>
            <a:endParaRPr lang="en-US" sz="1300" dirty="0"/>
          </a:p>
        </p:txBody>
      </p:sp>
      <p:sp>
        <p:nvSpPr>
          <p:cNvPr id="16" name="Text 14"/>
          <p:cNvSpPr txBox="1"/>
          <p:nvPr/>
        </p:nvSpPr>
        <p:spPr>
          <a:xfrm>
            <a:off x="4846320" y="2688336"/>
            <a:ext cx="2011680" cy="292608"/>
          </a:xfrm>
          <a:prstGeom prst="rect">
            <a:avLst/>
          </a:prstGeom>
          <a:noFill/>
          <a:ln/>
        </p:spPr>
        <p:txBody>
          <a:bodyPr wrap="square" lIns="0" tIns="0" rIns="0" bIns="0" rtlCol="0" anchor="ctr"/>
          <a:lstStyle/>
          <a:p>
            <a:pPr indent="0" marL="0">
              <a:buNone/>
            </a:pPr>
            <a:r>
              <a:rPr lang="en-US" sz="1300" dirty="0">
                <a:solidFill>
                  <a:srgbClr val="1E9E63"/>
                </a:solidFill>
                <a:latin typeface="Courier New" pitchFamily="34" charset="0"/>
                <a:ea typeface="Courier New" pitchFamily="34" charset="-122"/>
                <a:cs typeface="Courier New" pitchFamily="34" charset="-120"/>
              </a:rPr>
              <a:t>48000 drops</a:t>
            </a:r>
            <a:endParaRPr lang="en-US" sz="1300" dirty="0"/>
          </a:p>
        </p:txBody>
      </p:sp>
      <p:sp>
        <p:nvSpPr>
          <p:cNvPr id="17" name="Text 15"/>
          <p:cNvSpPr txBox="1"/>
          <p:nvPr/>
        </p:nvSpPr>
        <p:spPr>
          <a:xfrm>
            <a:off x="6949440" y="2688336"/>
            <a:ext cx="4572000" cy="292608"/>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leisure priority</a:t>
            </a:r>
            <a:endParaRPr lang="en-US" sz="1300" dirty="0"/>
          </a:p>
        </p:txBody>
      </p:sp>
      <p:sp>
        <p:nvSpPr>
          <p:cNvPr id="18" name="Shape 16"/>
          <p:cNvSpPr/>
          <p:nvPr/>
        </p:nvSpPr>
        <p:spPr>
          <a:xfrm>
            <a:off x="640080" y="3090672"/>
            <a:ext cx="10881360" cy="0"/>
          </a:xfrm>
          <a:prstGeom prst="line">
            <a:avLst/>
          </a:prstGeom>
          <a:noFill/>
          <a:ln w="12700">
            <a:solidFill>
              <a:srgbClr val="2A3A52"/>
            </a:solidFill>
            <a:prstDash val="solid"/>
          </a:ln>
        </p:spPr>
      </p:sp>
      <p:sp>
        <p:nvSpPr>
          <p:cNvPr id="19" name="Text 17"/>
          <p:cNvSpPr txBox="1"/>
          <p:nvPr/>
        </p:nvSpPr>
        <p:spPr>
          <a:xfrm>
            <a:off x="640080" y="3163824"/>
            <a:ext cx="1463040" cy="292608"/>
          </a:xfrm>
          <a:prstGeom prst="rect">
            <a:avLst/>
          </a:prstGeom>
          <a:noFill/>
          <a:ln/>
        </p:spPr>
        <p:txBody>
          <a:bodyPr wrap="square" lIns="0" tIns="0" rIns="0" bIns="0" rtlCol="0" anchor="ctr"/>
          <a:lstStyle/>
          <a:p>
            <a:pPr indent="0" marL="0">
              <a:buNone/>
            </a:pPr>
            <a:r>
              <a:rPr lang="en-US" sz="1300" dirty="0">
                <a:solidFill>
                  <a:srgbClr val="C6D4E6"/>
                </a:solidFill>
                <a:latin typeface="Courier New" pitchFamily="34" charset="0"/>
                <a:ea typeface="Courier New" pitchFamily="34" charset="-122"/>
                <a:cs typeface="Courier New" pitchFamily="34" charset="-120"/>
              </a:rPr>
              <a:t>20483474</a:t>
            </a:r>
            <a:endParaRPr lang="en-US" sz="1300" dirty="0"/>
          </a:p>
        </p:txBody>
      </p:sp>
      <p:sp>
        <p:nvSpPr>
          <p:cNvPr id="20" name="Text 18"/>
          <p:cNvSpPr txBox="1"/>
          <p:nvPr/>
        </p:nvSpPr>
        <p:spPr>
          <a:xfrm>
            <a:off x="2194560" y="3163824"/>
            <a:ext cx="2560320" cy="29260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D399B05B…5D88</a:t>
            </a:r>
            <a:endParaRPr lang="en-US" sz="1300" dirty="0"/>
          </a:p>
        </p:txBody>
      </p:sp>
      <p:sp>
        <p:nvSpPr>
          <p:cNvPr id="21" name="Text 19"/>
          <p:cNvSpPr txBox="1"/>
          <p:nvPr/>
        </p:nvSpPr>
        <p:spPr>
          <a:xfrm>
            <a:off x="4846320" y="3163824"/>
            <a:ext cx="2011680" cy="292608"/>
          </a:xfrm>
          <a:prstGeom prst="rect">
            <a:avLst/>
          </a:prstGeom>
          <a:noFill/>
          <a:ln/>
        </p:spPr>
        <p:txBody>
          <a:bodyPr wrap="square" lIns="0" tIns="0" rIns="0" bIns="0" rtlCol="0" anchor="ctr"/>
          <a:lstStyle/>
          <a:p>
            <a:pPr indent="0" marL="0">
              <a:buNone/>
            </a:pPr>
            <a:r>
              <a:rPr lang="en-US" sz="1300" dirty="0">
                <a:solidFill>
                  <a:srgbClr val="1E9E63"/>
                </a:solidFill>
                <a:latin typeface="Courier New" pitchFamily="34" charset="0"/>
                <a:ea typeface="Courier New" pitchFamily="34" charset="-122"/>
                <a:cs typeface="Courier New" pitchFamily="34" charset="-120"/>
              </a:rPr>
              <a:t>61000 drops</a:t>
            </a:r>
            <a:endParaRPr lang="en-US" sz="1300" dirty="0"/>
          </a:p>
        </p:txBody>
      </p:sp>
      <p:sp>
        <p:nvSpPr>
          <p:cNvPr id="22" name="Text 20"/>
          <p:cNvSpPr txBox="1"/>
          <p:nvPr/>
        </p:nvSpPr>
        <p:spPr>
          <a:xfrm>
            <a:off x="6949440" y="3163824"/>
            <a:ext cx="4572000" cy="292608"/>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business priority — different supplier</a:t>
            </a:r>
            <a:endParaRPr lang="en-US" sz="1300" dirty="0"/>
          </a:p>
        </p:txBody>
      </p:sp>
      <p:sp>
        <p:nvSpPr>
          <p:cNvPr id="23" name="Text 21"/>
          <p:cNvSpPr txBox="1"/>
          <p:nvPr/>
        </p:nvSpPr>
        <p:spPr>
          <a:xfrm>
            <a:off x="640080" y="3794760"/>
            <a:ext cx="10881360" cy="320040"/>
          </a:xfrm>
          <a:prstGeom prst="rect">
            <a:avLst/>
          </a:prstGeom>
          <a:noFill/>
          <a:ln/>
        </p:spPr>
        <p:txBody>
          <a:bodyPr wrap="square" lIns="0" tIns="0" rIns="0" bIns="0" rtlCol="0" anchor="ctr"/>
          <a:lstStyle/>
          <a:p>
            <a:pPr indent="0" marL="0">
              <a:buNone/>
            </a:pPr>
            <a:r>
              <a:rPr lang="en-US" sz="1300" i="1" dirty="0">
                <a:solidFill>
                  <a:srgbClr val="5D6B7C"/>
                </a:solidFill>
                <a:latin typeface="Calibri" pitchFamily="34" charset="0"/>
                <a:ea typeface="Calibri" pitchFamily="34" charset="-122"/>
                <a:cs typeface="Calibri" pitchFamily="34" charset="-120"/>
              </a:rPr>
              <a:t>All validated on XRPL Testnet · tesSUCCESS · SourceTag 20260530 · verifiable in the explorer</a:t>
            </a:r>
            <a:endParaRPr lang="en-US" sz="1300" dirty="0"/>
          </a:p>
        </p:txBody>
      </p:sp>
      <p:sp>
        <p:nvSpPr>
          <p:cNvPr id="24" name="Text 22"/>
          <p:cNvSpPr txBox="1"/>
          <p:nvPr/>
        </p:nvSpPr>
        <p:spPr>
          <a:xfrm>
            <a:off x="640080" y="4526280"/>
            <a:ext cx="3456432" cy="7772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93</a:t>
            </a:r>
            <a:endParaRPr lang="en-US" sz="6000" dirty="0"/>
          </a:p>
        </p:txBody>
      </p:sp>
      <p:sp>
        <p:nvSpPr>
          <p:cNvPr id="25" name="Text 23"/>
          <p:cNvSpPr txBox="1"/>
          <p:nvPr/>
        </p:nvSpPr>
        <p:spPr>
          <a:xfrm>
            <a:off x="640080" y="5349240"/>
            <a:ext cx="3456432" cy="3200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automated tests</a:t>
            </a:r>
            <a:endParaRPr lang="en-US" sz="1400" dirty="0"/>
          </a:p>
        </p:txBody>
      </p:sp>
      <p:sp>
        <p:nvSpPr>
          <p:cNvPr id="26" name="Text 24"/>
          <p:cNvSpPr txBox="1"/>
          <p:nvPr/>
        </p:nvSpPr>
        <p:spPr>
          <a:xfrm>
            <a:off x="4352544" y="4526280"/>
            <a:ext cx="3456432" cy="7772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3</a:t>
            </a:r>
            <a:endParaRPr lang="en-US" sz="6000" dirty="0"/>
          </a:p>
        </p:txBody>
      </p:sp>
      <p:sp>
        <p:nvSpPr>
          <p:cNvPr id="27" name="Text 25"/>
          <p:cNvSpPr txBox="1"/>
          <p:nvPr/>
        </p:nvSpPr>
        <p:spPr>
          <a:xfrm>
            <a:off x="4352544" y="5349240"/>
            <a:ext cx="3456432" cy="3200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failure modes, live</a:t>
            </a:r>
            <a:endParaRPr lang="en-US" sz="1400" dirty="0"/>
          </a:p>
        </p:txBody>
      </p:sp>
      <p:sp>
        <p:nvSpPr>
          <p:cNvPr id="28" name="Text 26"/>
          <p:cNvSpPr txBox="1"/>
          <p:nvPr/>
        </p:nvSpPr>
        <p:spPr>
          <a:xfrm>
            <a:off x="8065008" y="4526280"/>
            <a:ext cx="3456432" cy="7772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0</a:t>
            </a:r>
            <a:endParaRPr lang="en-US" sz="6000" dirty="0"/>
          </a:p>
        </p:txBody>
      </p:sp>
      <p:sp>
        <p:nvSpPr>
          <p:cNvPr id="29" name="Text 27"/>
          <p:cNvSpPr txBox="1"/>
          <p:nvPr/>
        </p:nvSpPr>
        <p:spPr>
          <a:xfrm>
            <a:off x="8065008" y="5349240"/>
            <a:ext cx="3456432" cy="3200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seeds in the browser</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THE BUSINESS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The people who lose most when a trip breaks are not only the traveller.</a:t>
            </a:r>
            <a:endParaRPr lang="en-US" sz="3400" dirty="0"/>
          </a:p>
        </p:txBody>
      </p:sp>
      <p:sp>
        <p:nvSpPr>
          <p:cNvPr id="4" name="Shape 2"/>
          <p:cNvSpPr/>
          <p:nvPr/>
        </p:nvSpPr>
        <p:spPr>
          <a:xfrm>
            <a:off x="640080" y="1828800"/>
            <a:ext cx="3456432" cy="3063240"/>
          </a:xfrm>
          <a:prstGeom prst="roundRect">
            <a:avLst>
              <a:gd name="adj" fmla="val 1791"/>
            </a:avLst>
          </a:prstGeom>
          <a:solidFill>
            <a:srgbClr val="F2F5F8"/>
          </a:solidFill>
          <a:ln w="12700">
            <a:solidFill>
              <a:srgbClr val="DCE3EA"/>
            </a:solidFill>
            <a:prstDash val="solid"/>
          </a:ln>
        </p:spPr>
      </p:sp>
      <p:sp>
        <p:nvSpPr>
          <p:cNvPr id="5" name="Text 3"/>
          <p:cNvSpPr txBox="1"/>
          <p:nvPr/>
        </p:nvSpPr>
        <p:spPr>
          <a:xfrm>
            <a:off x="896112" y="2029968"/>
            <a:ext cx="2944368" cy="320040"/>
          </a:xfrm>
          <a:prstGeom prst="rect">
            <a:avLst/>
          </a:prstGeom>
          <a:noFill/>
          <a:ln/>
        </p:spPr>
        <p:txBody>
          <a:bodyPr wrap="square" lIns="0" tIns="0" rIns="0" bIns="0" rtlCol="0" anchor="ctr"/>
          <a:lstStyle/>
          <a:p>
            <a:pPr indent="0" marL="0">
              <a:buNone/>
            </a:pPr>
            <a:r>
              <a:rPr lang="en-US" sz="1800" b="1" dirty="0">
                <a:solidFill>
                  <a:srgbClr val="141A1F"/>
                </a:solidFill>
                <a:latin typeface="Calibri" pitchFamily="34" charset="0"/>
                <a:ea typeface="Calibri" pitchFamily="34" charset="-122"/>
                <a:cs typeface="Calibri" pitchFamily="34" charset="-120"/>
              </a:rPr>
              <a:t>Trip Guardian</a:t>
            </a:r>
            <a:endParaRPr lang="en-US" sz="1800" dirty="0"/>
          </a:p>
        </p:txBody>
      </p:sp>
      <p:sp>
        <p:nvSpPr>
          <p:cNvPr id="6" name="Text 4"/>
          <p:cNvSpPr txBox="1"/>
          <p:nvPr/>
        </p:nvSpPr>
        <p:spPr>
          <a:xfrm>
            <a:off x="896112" y="2395728"/>
            <a:ext cx="2944368" cy="365760"/>
          </a:xfrm>
          <a:prstGeom prst="rect">
            <a:avLst/>
          </a:prstGeom>
          <a:noFill/>
          <a:ln/>
        </p:spPr>
        <p:txBody>
          <a:bodyPr wrap="square" lIns="0" tIns="0" rIns="0" bIns="0" rtlCol="0" anchor="ctr"/>
          <a:lstStyle/>
          <a:p>
            <a:pPr indent="0" marL="0">
              <a:buNone/>
            </a:pPr>
            <a:r>
              <a:rPr lang="en-US" sz="2100" b="1" dirty="0">
                <a:solidFill>
                  <a:srgbClr val="5D6B7C"/>
                </a:solidFill>
                <a:latin typeface="Cambria" pitchFamily="34" charset="0"/>
                <a:ea typeface="Cambria" pitchFamily="34" charset="-122"/>
                <a:cs typeface="Cambria" pitchFamily="34" charset="-120"/>
              </a:rPr>
              <a:t>Free</a:t>
            </a:r>
            <a:endParaRPr lang="en-US" sz="2100" dirty="0"/>
          </a:p>
        </p:txBody>
      </p:sp>
      <p:sp>
        <p:nvSpPr>
          <p:cNvPr id="7" name="Text 5"/>
          <p:cNvSpPr txBox="1"/>
          <p:nvPr/>
        </p:nvSpPr>
        <p:spPr>
          <a:xfrm>
            <a:off x="896112" y="2871216"/>
            <a:ext cx="2944368" cy="10058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Import bookings, dependency graph, disruption alerts.</a:t>
            </a:r>
            <a:endParaRPr lang="en-US" sz="1300" dirty="0"/>
          </a:p>
        </p:txBody>
      </p:sp>
      <p:sp>
        <p:nvSpPr>
          <p:cNvPr id="8" name="Text 6"/>
          <p:cNvSpPr txBox="1"/>
          <p:nvPr/>
        </p:nvSpPr>
        <p:spPr>
          <a:xfrm>
            <a:off x="896112" y="4005072"/>
            <a:ext cx="2944368" cy="731520"/>
          </a:xfrm>
          <a:prstGeom prst="rect">
            <a:avLst/>
          </a:prstGeom>
          <a:noFill/>
          <a:ln/>
        </p:spPr>
        <p:txBody>
          <a:bodyPr wrap="square" lIns="0" tIns="0" rIns="0" bIns="0" rtlCol="0" anchor="ctr"/>
          <a:lstStyle/>
          <a:p>
            <a:pPr indent="0" marL="0">
              <a:buNone/>
            </a:pPr>
            <a:r>
              <a:rPr lang="en-US" sz="1250" b="1" i="1" dirty="0">
                <a:solidFill>
                  <a:srgbClr val="141A1F"/>
                </a:solidFill>
                <a:latin typeface="Calibri" pitchFamily="34" charset="0"/>
                <a:ea typeface="Calibri" pitchFamily="34" charset="-122"/>
                <a:cs typeface="Calibri" pitchFamily="34" charset="-120"/>
              </a:rPr>
              <a:t>Acquisition and the trip graph itself.</a:t>
            </a:r>
            <a:endParaRPr lang="en-US" sz="1250" dirty="0"/>
          </a:p>
        </p:txBody>
      </p:sp>
      <p:sp>
        <p:nvSpPr>
          <p:cNvPr id="9" name="Shape 7"/>
          <p:cNvSpPr/>
          <p:nvPr/>
        </p:nvSpPr>
        <p:spPr>
          <a:xfrm>
            <a:off x="4352544" y="1828800"/>
            <a:ext cx="3456432" cy="3063240"/>
          </a:xfrm>
          <a:prstGeom prst="roundRect">
            <a:avLst>
              <a:gd name="adj" fmla="val 1791"/>
            </a:avLst>
          </a:prstGeom>
          <a:solidFill>
            <a:srgbClr val="0E1A2B"/>
          </a:solidFill>
          <a:ln w="12700">
            <a:solidFill>
              <a:srgbClr val="DCE3EA"/>
            </a:solidFill>
            <a:prstDash val="solid"/>
          </a:ln>
        </p:spPr>
      </p:sp>
      <p:sp>
        <p:nvSpPr>
          <p:cNvPr id="10" name="Text 8"/>
          <p:cNvSpPr txBox="1"/>
          <p:nvPr/>
        </p:nvSpPr>
        <p:spPr>
          <a:xfrm>
            <a:off x="4608576" y="2029968"/>
            <a:ext cx="2944368"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Rescue Pass</a:t>
            </a:r>
            <a:endParaRPr lang="en-US" sz="1800" dirty="0"/>
          </a:p>
        </p:txBody>
      </p:sp>
      <p:sp>
        <p:nvSpPr>
          <p:cNvPr id="11" name="Text 9"/>
          <p:cNvSpPr txBox="1"/>
          <p:nvPr/>
        </p:nvSpPr>
        <p:spPr>
          <a:xfrm>
            <a:off x="4608576" y="2395728"/>
            <a:ext cx="2944368" cy="365760"/>
          </a:xfrm>
          <a:prstGeom prst="rect">
            <a:avLst/>
          </a:prstGeom>
          <a:noFill/>
          <a:ln/>
        </p:spPr>
        <p:txBody>
          <a:bodyPr wrap="square" lIns="0" tIns="0" rIns="0" bIns="0" rtlCol="0" anchor="ctr"/>
          <a:lstStyle/>
          <a:p>
            <a:pPr indent="0" marL="0">
              <a:buNone/>
            </a:pPr>
            <a:r>
              <a:rPr lang="en-US" sz="2100" b="1" dirty="0">
                <a:solidFill>
                  <a:srgbClr val="6FA8FF"/>
                </a:solidFill>
                <a:latin typeface="Cambria" pitchFamily="34" charset="0"/>
                <a:ea typeface="Cambria" pitchFamily="34" charset="-122"/>
                <a:cs typeface="Cambria" pitchFamily="34" charset="-120"/>
              </a:rPr>
              <a:t>S$10-20 per trip</a:t>
            </a:r>
            <a:endParaRPr lang="en-US" sz="2100" dirty="0"/>
          </a:p>
        </p:txBody>
      </p:sp>
      <p:sp>
        <p:nvSpPr>
          <p:cNvPr id="12" name="Text 10"/>
          <p:cNvSpPr txBox="1"/>
          <p:nvPr/>
        </p:nvSpPr>
        <p:spPr>
          <a:xfrm>
            <a:off x="4608576" y="2871216"/>
            <a:ext cx="2944368" cy="1005840"/>
          </a:xfrm>
          <a:prstGeom prst="rect">
            <a:avLst/>
          </a:prstGeom>
          <a:noFill/>
          <a:ln/>
        </p:spPr>
        <p:txBody>
          <a:bodyPr wrap="square" lIns="0" tIns="0" rIns="0" bIns="0" rtlCol="0" anchor="ctr"/>
          <a:lstStyle/>
          <a:p>
            <a:pPr indent="0" marL="0">
              <a:buNone/>
            </a:pPr>
            <a:r>
              <a:rPr lang="en-US" sz="1300" dirty="0">
                <a:solidFill>
                  <a:srgbClr val="C6D4E6"/>
                </a:solidFill>
                <a:latin typeface="Calibri" pitchFamily="34" charset="0"/>
                <a:ea typeface="Calibri" pitchFamily="34" charset="-122"/>
                <a:cs typeface="Calibri" pitchFamily="34" charset="-120"/>
              </a:rPr>
              <a:t>Whole-trip recovery, three strategies, bounded autonomous execution.</a:t>
            </a:r>
            <a:endParaRPr lang="en-US" sz="1300" dirty="0"/>
          </a:p>
        </p:txBody>
      </p:sp>
      <p:sp>
        <p:nvSpPr>
          <p:cNvPr id="13" name="Text 11"/>
          <p:cNvSpPr txBox="1"/>
          <p:nvPr/>
        </p:nvSpPr>
        <p:spPr>
          <a:xfrm>
            <a:off x="4608576" y="4005072"/>
            <a:ext cx="2944368" cy="731520"/>
          </a:xfrm>
          <a:prstGeom prst="rect">
            <a:avLst/>
          </a:prstGeom>
          <a:noFill/>
          <a:ln/>
        </p:spPr>
        <p:txBody>
          <a:bodyPr wrap="square" lIns="0" tIns="0" rIns="0" bIns="0" rtlCol="0" anchor="ctr"/>
          <a:lstStyle/>
          <a:p>
            <a:pPr indent="0" marL="0">
              <a:buNone/>
            </a:pPr>
            <a:r>
              <a:rPr lang="en-US" sz="1250" b="1" i="1" dirty="0">
                <a:solidFill>
                  <a:srgbClr val="FFFFFF"/>
                </a:solidFill>
                <a:latin typeface="Calibri" pitchFamily="34" charset="0"/>
                <a:ea typeface="Calibri" pitchFamily="34" charset="-122"/>
                <a:cs typeface="Calibri" pitchFamily="34" charset="-120"/>
              </a:rPr>
              <a:t>Bought at the moment of booking a complex trip.</a:t>
            </a:r>
            <a:endParaRPr lang="en-US" sz="1250" dirty="0"/>
          </a:p>
        </p:txBody>
      </p:sp>
      <p:sp>
        <p:nvSpPr>
          <p:cNvPr id="14" name="Shape 12"/>
          <p:cNvSpPr/>
          <p:nvPr/>
        </p:nvSpPr>
        <p:spPr>
          <a:xfrm>
            <a:off x="8065008" y="1828800"/>
            <a:ext cx="3456432" cy="3063240"/>
          </a:xfrm>
          <a:prstGeom prst="roundRect">
            <a:avLst>
              <a:gd name="adj" fmla="val 1791"/>
            </a:avLst>
          </a:prstGeom>
          <a:solidFill>
            <a:srgbClr val="F2F5F8"/>
          </a:solidFill>
          <a:ln w="12700">
            <a:solidFill>
              <a:srgbClr val="DCE3EA"/>
            </a:solidFill>
            <a:prstDash val="solid"/>
          </a:ln>
        </p:spPr>
      </p:sp>
      <p:sp>
        <p:nvSpPr>
          <p:cNvPr id="15" name="Text 13"/>
          <p:cNvSpPr txBox="1"/>
          <p:nvPr/>
        </p:nvSpPr>
        <p:spPr>
          <a:xfrm>
            <a:off x="8321040" y="2029968"/>
            <a:ext cx="2944368" cy="320040"/>
          </a:xfrm>
          <a:prstGeom prst="rect">
            <a:avLst/>
          </a:prstGeom>
          <a:noFill/>
          <a:ln/>
        </p:spPr>
        <p:txBody>
          <a:bodyPr wrap="square" lIns="0" tIns="0" rIns="0" bIns="0" rtlCol="0" anchor="ctr"/>
          <a:lstStyle/>
          <a:p>
            <a:pPr indent="0" marL="0">
              <a:buNone/>
            </a:pPr>
            <a:r>
              <a:rPr lang="en-US" sz="1800" b="1" dirty="0">
                <a:solidFill>
                  <a:srgbClr val="141A1F"/>
                </a:solidFill>
                <a:latin typeface="Calibri" pitchFamily="34" charset="0"/>
                <a:ea typeface="Calibri" pitchFamily="34" charset="-122"/>
                <a:cs typeface="Calibri" pitchFamily="34" charset="-120"/>
              </a:rPr>
              <a:t>Distribution</a:t>
            </a:r>
            <a:endParaRPr lang="en-US" sz="1800" dirty="0"/>
          </a:p>
        </p:txBody>
      </p:sp>
      <p:sp>
        <p:nvSpPr>
          <p:cNvPr id="16" name="Text 14"/>
          <p:cNvSpPr txBox="1"/>
          <p:nvPr/>
        </p:nvSpPr>
        <p:spPr>
          <a:xfrm>
            <a:off x="8321040" y="2395728"/>
            <a:ext cx="2944368" cy="365760"/>
          </a:xfrm>
          <a:prstGeom prst="rect">
            <a:avLst/>
          </a:prstGeom>
          <a:noFill/>
          <a:ln/>
        </p:spPr>
        <p:txBody>
          <a:bodyPr wrap="square" lIns="0" tIns="0" rIns="0" bIns="0" rtlCol="0" anchor="ctr"/>
          <a:lstStyle/>
          <a:p>
            <a:pPr indent="0" marL="0">
              <a:buNone/>
            </a:pPr>
            <a:r>
              <a:rPr lang="en-US" sz="2100" b="1" dirty="0">
                <a:solidFill>
                  <a:srgbClr val="1E9E63"/>
                </a:solidFill>
                <a:latin typeface="Cambria" pitchFamily="34" charset="0"/>
                <a:ea typeface="Cambria" pitchFamily="34" charset="-122"/>
                <a:cs typeface="Cambria" pitchFamily="34" charset="-120"/>
              </a:rPr>
              <a:t>B2B2C</a:t>
            </a:r>
            <a:endParaRPr lang="en-US" sz="2100" dirty="0"/>
          </a:p>
        </p:txBody>
      </p:sp>
      <p:sp>
        <p:nvSpPr>
          <p:cNvPr id="17" name="Text 15"/>
          <p:cNvSpPr txBox="1"/>
          <p:nvPr/>
        </p:nvSpPr>
        <p:spPr>
          <a:xfrm>
            <a:off x="8321040" y="2871216"/>
            <a:ext cx="2944368" cy="10058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Insurers, card issuers, OTAs and corporate travel embed Trip Rescue.</a:t>
            </a:r>
            <a:endParaRPr lang="en-US" sz="1300" dirty="0"/>
          </a:p>
        </p:txBody>
      </p:sp>
      <p:sp>
        <p:nvSpPr>
          <p:cNvPr id="18" name="Text 16"/>
          <p:cNvSpPr txBox="1"/>
          <p:nvPr/>
        </p:nvSpPr>
        <p:spPr>
          <a:xfrm>
            <a:off x="8321040" y="4005072"/>
            <a:ext cx="2944368" cy="731520"/>
          </a:xfrm>
          <a:prstGeom prst="rect">
            <a:avLst/>
          </a:prstGeom>
          <a:noFill/>
          <a:ln/>
        </p:spPr>
        <p:txBody>
          <a:bodyPr wrap="square" lIns="0" tIns="0" rIns="0" bIns="0" rtlCol="0" anchor="ctr"/>
          <a:lstStyle/>
          <a:p>
            <a:pPr indent="0" marL="0">
              <a:buNone/>
            </a:pPr>
            <a:r>
              <a:rPr lang="en-US" sz="1250" b="1" i="1" dirty="0">
                <a:solidFill>
                  <a:srgbClr val="141A1F"/>
                </a:solidFill>
                <a:latin typeface="Calibri" pitchFamily="34" charset="0"/>
                <a:ea typeface="Calibri" pitchFamily="34" charset="-122"/>
                <a:cs typeface="Calibri" pitchFamily="34" charset="-120"/>
              </a:rPr>
              <a:t>They already pay for disruption — in claims and in churn.</a:t>
            </a:r>
            <a:endParaRPr lang="en-US" sz="1250" dirty="0"/>
          </a:p>
        </p:txBody>
      </p:sp>
      <p:sp>
        <p:nvSpPr>
          <p:cNvPr id="19" name="Shape 17"/>
          <p:cNvSpPr/>
          <p:nvPr/>
        </p:nvSpPr>
        <p:spPr>
          <a:xfrm>
            <a:off x="640080" y="5138928"/>
            <a:ext cx="10908792" cy="1143000"/>
          </a:xfrm>
          <a:prstGeom prst="roundRect">
            <a:avLst>
              <a:gd name="adj" fmla="val 4800"/>
            </a:avLst>
          </a:prstGeom>
          <a:solidFill>
            <a:srgbClr val="F2F5F8"/>
          </a:solidFill>
          <a:ln w="12700">
            <a:solidFill>
              <a:srgbClr val="DCE3EA"/>
            </a:solidFill>
            <a:prstDash val="solid"/>
          </a:ln>
        </p:spPr>
      </p:sp>
      <p:sp>
        <p:nvSpPr>
          <p:cNvPr id="20" name="Text 18"/>
          <p:cNvSpPr txBox="1"/>
          <p:nvPr/>
        </p:nvSpPr>
        <p:spPr>
          <a:xfrm>
            <a:off x="1005840" y="5303520"/>
            <a:ext cx="3657600" cy="292608"/>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Why an insurer cares</a:t>
            </a:r>
            <a:endParaRPr lang="en-US" sz="1400" dirty="0"/>
          </a:p>
        </p:txBody>
      </p:sp>
      <p:sp>
        <p:nvSpPr>
          <p:cNvPr id="21" name="Text 19"/>
          <p:cNvSpPr txBox="1"/>
          <p:nvPr/>
        </p:nvSpPr>
        <p:spPr>
          <a:xfrm>
            <a:off x="1005840" y="5596128"/>
            <a:ext cx="10149840" cy="548640"/>
          </a:xfrm>
          <a:prstGeom prst="rect">
            <a:avLst/>
          </a:prstGeom>
          <a:noFill/>
          <a:ln/>
        </p:spPr>
        <p:txBody>
          <a:bodyPr wrap="square" lIns="0" tIns="0" rIns="0" bIns="0" rtlCol="0" anchor="ctr"/>
          <a:lstStyle/>
          <a:p>
            <a:pPr indent="0" marL="0">
              <a:buNone/>
            </a:pPr>
            <a:r>
              <a:rPr lang="en-US" sz="1350" dirty="0">
                <a:solidFill>
                  <a:srgbClr val="5D6B7C"/>
                </a:solidFill>
                <a:latin typeface="Calibri" pitchFamily="34" charset="0"/>
                <a:ea typeface="Calibri" pitchFamily="34" charset="-122"/>
                <a:cs typeface="Calibri" pitchFamily="34" charset="-120"/>
              </a:rPr>
              <a:t>A claim reimburses a loss after the trip is ruined. Trip Rescue spends a fraction of that to stop the loss happening — and the traveller keeps the holiday they paid for.</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640080" y="1371600"/>
            <a:ext cx="182880" cy="182880"/>
          </a:xfrm>
          <a:prstGeom prst="ellipse">
            <a:avLst/>
          </a:prstGeom>
          <a:solidFill>
            <a:srgbClr val="1E9E63"/>
          </a:solidFill>
          <a:ln/>
        </p:spPr>
      </p:sp>
      <p:sp>
        <p:nvSpPr>
          <p:cNvPr id="3" name="Shape 1"/>
          <p:cNvSpPr/>
          <p:nvPr/>
        </p:nvSpPr>
        <p:spPr>
          <a:xfrm>
            <a:off x="822960" y="1463040"/>
            <a:ext cx="237744" cy="0"/>
          </a:xfrm>
          <a:prstGeom prst="line">
            <a:avLst/>
          </a:prstGeom>
          <a:noFill/>
          <a:ln w="19050">
            <a:solidFill>
              <a:srgbClr val="2A6B4C"/>
            </a:solidFill>
            <a:prstDash val="solid"/>
          </a:ln>
        </p:spPr>
      </p:sp>
      <p:sp>
        <p:nvSpPr>
          <p:cNvPr id="4" name="Shape 2"/>
          <p:cNvSpPr/>
          <p:nvPr/>
        </p:nvSpPr>
        <p:spPr>
          <a:xfrm>
            <a:off x="1060704" y="1371600"/>
            <a:ext cx="182880" cy="182880"/>
          </a:xfrm>
          <a:prstGeom prst="ellipse">
            <a:avLst/>
          </a:prstGeom>
          <a:solidFill>
            <a:srgbClr val="1E9E63"/>
          </a:solidFill>
          <a:ln/>
        </p:spPr>
      </p:sp>
      <p:sp>
        <p:nvSpPr>
          <p:cNvPr id="5" name="Shape 3"/>
          <p:cNvSpPr/>
          <p:nvPr/>
        </p:nvSpPr>
        <p:spPr>
          <a:xfrm>
            <a:off x="1243584" y="1463040"/>
            <a:ext cx="237744" cy="0"/>
          </a:xfrm>
          <a:prstGeom prst="line">
            <a:avLst/>
          </a:prstGeom>
          <a:noFill/>
          <a:ln w="19050">
            <a:solidFill>
              <a:srgbClr val="2A6B4C"/>
            </a:solidFill>
            <a:prstDash val="solid"/>
          </a:ln>
        </p:spPr>
      </p:sp>
      <p:sp>
        <p:nvSpPr>
          <p:cNvPr id="6" name="Shape 4"/>
          <p:cNvSpPr/>
          <p:nvPr/>
        </p:nvSpPr>
        <p:spPr>
          <a:xfrm>
            <a:off x="1481328" y="1371600"/>
            <a:ext cx="182880" cy="182880"/>
          </a:xfrm>
          <a:prstGeom prst="ellipse">
            <a:avLst/>
          </a:prstGeom>
          <a:solidFill>
            <a:srgbClr val="1E9E63"/>
          </a:solidFill>
          <a:ln/>
        </p:spPr>
      </p:sp>
      <p:sp>
        <p:nvSpPr>
          <p:cNvPr id="7" name="Shape 5"/>
          <p:cNvSpPr/>
          <p:nvPr/>
        </p:nvSpPr>
        <p:spPr>
          <a:xfrm>
            <a:off x="1664208" y="1463040"/>
            <a:ext cx="237744" cy="0"/>
          </a:xfrm>
          <a:prstGeom prst="line">
            <a:avLst/>
          </a:prstGeom>
          <a:noFill/>
          <a:ln w="19050">
            <a:solidFill>
              <a:srgbClr val="2A6B4C"/>
            </a:solidFill>
            <a:prstDash val="solid"/>
          </a:ln>
        </p:spPr>
      </p:sp>
      <p:sp>
        <p:nvSpPr>
          <p:cNvPr id="8" name="Shape 6"/>
          <p:cNvSpPr/>
          <p:nvPr/>
        </p:nvSpPr>
        <p:spPr>
          <a:xfrm>
            <a:off x="1901952" y="1371600"/>
            <a:ext cx="182880" cy="182880"/>
          </a:xfrm>
          <a:prstGeom prst="ellipse">
            <a:avLst/>
          </a:prstGeom>
          <a:solidFill>
            <a:srgbClr val="1E9E63"/>
          </a:solidFill>
          <a:ln/>
        </p:spPr>
      </p:sp>
      <p:sp>
        <p:nvSpPr>
          <p:cNvPr id="9" name="Shape 7"/>
          <p:cNvSpPr/>
          <p:nvPr/>
        </p:nvSpPr>
        <p:spPr>
          <a:xfrm>
            <a:off x="2084832" y="1463040"/>
            <a:ext cx="237744" cy="0"/>
          </a:xfrm>
          <a:prstGeom prst="line">
            <a:avLst/>
          </a:prstGeom>
          <a:noFill/>
          <a:ln w="19050">
            <a:solidFill>
              <a:srgbClr val="2A6B4C"/>
            </a:solidFill>
            <a:prstDash val="solid"/>
          </a:ln>
        </p:spPr>
      </p:sp>
      <p:sp>
        <p:nvSpPr>
          <p:cNvPr id="10" name="Shape 8"/>
          <p:cNvSpPr/>
          <p:nvPr/>
        </p:nvSpPr>
        <p:spPr>
          <a:xfrm>
            <a:off x="2322576" y="1371600"/>
            <a:ext cx="182880" cy="182880"/>
          </a:xfrm>
          <a:prstGeom prst="ellipse">
            <a:avLst/>
          </a:prstGeom>
          <a:solidFill>
            <a:srgbClr val="1E9E63"/>
          </a:solidFill>
          <a:ln/>
        </p:spPr>
      </p:sp>
      <p:sp>
        <p:nvSpPr>
          <p:cNvPr id="11" name="Text 9"/>
          <p:cNvSpPr txBox="1"/>
          <p:nvPr/>
        </p:nvSpPr>
        <p:spPr>
          <a:xfrm>
            <a:off x="2926080" y="1298448"/>
            <a:ext cx="2743200" cy="320040"/>
          </a:xfrm>
          <a:prstGeom prst="rect">
            <a:avLst/>
          </a:prstGeom>
          <a:noFill/>
          <a:ln/>
        </p:spPr>
        <p:txBody>
          <a:bodyPr wrap="square" lIns="0" tIns="0" rIns="0" bIns="0" rtlCol="0" anchor="ctr"/>
          <a:lstStyle/>
          <a:p>
            <a:pPr indent="0" marL="0">
              <a:buNone/>
            </a:pPr>
            <a:r>
              <a:rPr lang="en-US" sz="1300" i="1" dirty="0">
                <a:solidFill>
                  <a:srgbClr val="1E9E63"/>
                </a:solidFill>
                <a:latin typeface="Calibri" pitchFamily="34" charset="0"/>
                <a:ea typeface="Calibri" pitchFamily="34" charset="-122"/>
                <a:cs typeface="Calibri" pitchFamily="34" charset="-120"/>
              </a:rPr>
              <a:t>trip recovered</a:t>
            </a:r>
            <a:endParaRPr lang="en-US" sz="1300" dirty="0"/>
          </a:p>
        </p:txBody>
      </p:sp>
      <p:sp>
        <p:nvSpPr>
          <p:cNvPr id="12" name="Text 10"/>
          <p:cNvSpPr txBox="1"/>
          <p:nvPr/>
        </p:nvSpPr>
        <p:spPr>
          <a:xfrm>
            <a:off x="640080" y="2011680"/>
            <a:ext cx="10515600" cy="13716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"Don't just make an agent that can pay.</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Build a business because agents can pay."</a:t>
            </a:r>
            <a:endParaRPr lang="en-US" sz="3000" dirty="0"/>
          </a:p>
        </p:txBody>
      </p:sp>
      <p:sp>
        <p:nvSpPr>
          <p:cNvPr id="13" name="Text 11"/>
          <p:cNvSpPr txBox="1"/>
          <p:nvPr/>
        </p:nvSpPr>
        <p:spPr>
          <a:xfrm>
            <a:off x="640080" y="3364992"/>
            <a:ext cx="5486400" cy="3200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 the challenge north star</a:t>
            </a:r>
            <a:endParaRPr lang="en-US" sz="1300" dirty="0"/>
          </a:p>
        </p:txBody>
      </p:sp>
      <p:sp>
        <p:nvSpPr>
          <p:cNvPr id="14" name="Text 12"/>
          <p:cNvSpPr txBox="1"/>
          <p:nvPr/>
        </p:nvSpPr>
        <p:spPr>
          <a:xfrm>
            <a:off x="640080" y="3977640"/>
            <a:ext cx="10058400" cy="777240"/>
          </a:xfrm>
          <a:prstGeom prst="rect">
            <a:avLst/>
          </a:prstGeom>
          <a:noFill/>
          <a:ln/>
        </p:spPr>
        <p:txBody>
          <a:bodyPr wrap="square" lIns="0" tIns="0" rIns="0" bIns="0" rtlCol="0" anchor="ctr"/>
          <a:lstStyle/>
          <a:p>
            <a:pPr indent="0" marL="0">
              <a:buNone/>
            </a:pPr>
            <a:r>
              <a:rPr lang="en-US" sz="1700" dirty="0">
                <a:solidFill>
                  <a:srgbClr val="C6D4E6"/>
                </a:solidFill>
                <a:latin typeface="Calibri" pitchFamily="34" charset="0"/>
                <a:ea typeface="Calibri" pitchFamily="34" charset="-122"/>
                <a:cs typeface="Calibri" pitchFamily="34" charset="-120"/>
              </a:rPr>
              <a:t>Remove the agent and the traveller is back to coordinating five providers alone. Remove autonomous payment and every recovery stops at a checkout page.</a:t>
            </a:r>
            <a:endParaRPr lang="en-US" sz="1700" dirty="0"/>
          </a:p>
        </p:txBody>
      </p:sp>
      <p:sp>
        <p:nvSpPr>
          <p:cNvPr id="15" name="Shape 13"/>
          <p:cNvSpPr/>
          <p:nvPr/>
        </p:nvSpPr>
        <p:spPr>
          <a:xfrm>
            <a:off x="640080" y="5120640"/>
            <a:ext cx="10908792" cy="0"/>
          </a:xfrm>
          <a:prstGeom prst="line">
            <a:avLst/>
          </a:prstGeom>
          <a:noFill/>
          <a:ln w="12700">
            <a:solidFill>
              <a:srgbClr val="2A3A52"/>
            </a:solidFill>
            <a:prstDash val="solid"/>
          </a:ln>
        </p:spPr>
      </p:sp>
      <p:sp>
        <p:nvSpPr>
          <p:cNvPr id="16" name="Text 14"/>
          <p:cNvSpPr txBox="1"/>
          <p:nvPr/>
        </p:nvSpPr>
        <p:spPr>
          <a:xfrm>
            <a:off x="640080" y="5321808"/>
            <a:ext cx="45720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Trip Rescue</a:t>
            </a:r>
            <a:endParaRPr lang="en-US" sz="2400" dirty="0"/>
          </a:p>
        </p:txBody>
      </p:sp>
      <p:sp>
        <p:nvSpPr>
          <p:cNvPr id="17" name="Text 15"/>
          <p:cNvSpPr txBox="1"/>
          <p:nvPr/>
        </p:nvSpPr>
        <p:spPr>
          <a:xfrm>
            <a:off x="640080" y="5760720"/>
            <a:ext cx="5943600" cy="320040"/>
          </a:xfrm>
          <a:prstGeom prst="rect">
            <a:avLst/>
          </a:prstGeom>
          <a:noFill/>
          <a:ln/>
        </p:spPr>
        <p:txBody>
          <a:bodyPr wrap="square" lIns="0" tIns="0" rIns="0" bIns="0" rtlCol="0" anchor="ctr"/>
          <a:lstStyle/>
          <a:p>
            <a:pPr indent="0" marL="0">
              <a:buNone/>
            </a:pPr>
            <a:r>
              <a:rPr lang="en-US" sz="1400" dirty="0">
                <a:solidFill>
                  <a:srgbClr val="C6D4E6"/>
                </a:solidFill>
                <a:latin typeface="Calibri" pitchFamily="34" charset="0"/>
                <a:ea typeface="Calibri" pitchFamily="34" charset="-122"/>
                <a:cs typeface="Calibri" pitchFamily="34" charset="-120"/>
              </a:rPr>
              <a:t>When one booking breaks, fix the whole trip.</a:t>
            </a:r>
            <a:endParaRPr lang="en-US" sz="1400" dirty="0"/>
          </a:p>
        </p:txBody>
      </p:sp>
      <p:sp>
        <p:nvSpPr>
          <p:cNvPr id="18" name="Text 16"/>
          <p:cNvSpPr txBox="1"/>
          <p:nvPr/>
        </p:nvSpPr>
        <p:spPr>
          <a:xfrm>
            <a:off x="6949440" y="5394960"/>
            <a:ext cx="4599432" cy="320040"/>
          </a:xfrm>
          <a:prstGeom prst="rect">
            <a:avLst/>
          </a:prstGeom>
          <a:noFill/>
          <a:ln/>
        </p:spPr>
        <p:txBody>
          <a:bodyPr wrap="square" lIns="0" tIns="0" rIns="0" bIns="0" rtlCol="0" anchor="ctr"/>
          <a:lstStyle/>
          <a:p>
            <a:pPr algn="r" indent="0" marL="0">
              <a:buNone/>
            </a:pPr>
            <a:r>
              <a:rPr lang="en-US" sz="1400" dirty="0">
                <a:solidFill>
                  <a:srgbClr val="0067E5"/>
                </a:solidFill>
                <a:latin typeface="Courier New" pitchFamily="34" charset="0"/>
                <a:ea typeface="Courier New" pitchFamily="34" charset="-122"/>
                <a:cs typeface="Courier New" pitchFamily="34" charset="-120"/>
              </a:rPr>
              <a:t>github.com/javerinetan/TripRescue</a:t>
            </a:r>
            <a:endParaRPr lang="en-US" sz="1400" dirty="0"/>
          </a:p>
        </p:txBody>
      </p:sp>
      <p:sp>
        <p:nvSpPr>
          <p:cNvPr id="19" name="Text 17"/>
          <p:cNvSpPr txBox="1"/>
          <p:nvPr/>
        </p:nvSpPr>
        <p:spPr>
          <a:xfrm>
            <a:off x="6949440" y="5760720"/>
            <a:ext cx="4599432" cy="320040"/>
          </a:xfrm>
          <a:prstGeom prst="rect">
            <a:avLst/>
          </a:prstGeom>
          <a:noFill/>
          <a:ln/>
        </p:spPr>
        <p:txBody>
          <a:bodyPr wrap="square" lIns="0" tIns="0" rIns="0" bIns="0" rtlCol="0" anchor="ctr"/>
          <a:lstStyle/>
          <a:p>
            <a:pPr algn="r" indent="0" marL="0">
              <a:buNone/>
            </a:pPr>
            <a:r>
              <a:rPr lang="en-US" sz="1300" dirty="0">
                <a:solidFill>
                  <a:srgbClr val="5D6B7C"/>
                </a:solidFill>
                <a:latin typeface="Calibri" pitchFamily="34" charset="0"/>
                <a:ea typeface="Calibri" pitchFamily="34" charset="-122"/>
                <a:cs typeface="Calibri" pitchFamily="34" charset="-120"/>
              </a:rPr>
              <a:t>Team Peanutss · Javerine Tan · Min Xie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 Rescue</dc:title>
  <dc:subject>PptxGenJS Presentation</dc:subject>
  <dc:creator>Team Peanutss</dc:creator>
  <cp:lastModifiedBy>Team Peanutss</cp:lastModifiedBy>
  <cp:revision>1</cp:revision>
  <dcterms:created xsi:type="dcterms:W3CDTF">2026-09-05T08:04:43Z</dcterms:created>
  <dcterms:modified xsi:type="dcterms:W3CDTF">2026-09-05T08:04:44Z</dcterms:modified>
</cp:coreProperties>
</file>